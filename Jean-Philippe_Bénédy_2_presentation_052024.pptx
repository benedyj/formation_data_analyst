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6.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7.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2"/>
  </p:notesMasterIdLst>
  <p:sldIdLst>
    <p:sldId id="256" r:id="rId2"/>
    <p:sldId id="257" r:id="rId3"/>
    <p:sldId id="264" r:id="rId4"/>
    <p:sldId id="258" r:id="rId5"/>
    <p:sldId id="259" r:id="rId6"/>
    <p:sldId id="260" r:id="rId7"/>
    <p:sldId id="261" r:id="rId8"/>
    <p:sldId id="262" r:id="rId9"/>
    <p:sldId id="263" r:id="rId10"/>
    <p:sldId id="265" r:id="rId11"/>
  </p:sldIdLst>
  <p:sldSz cx="9144000" cy="5143500" type="screen16x9"/>
  <p:notesSz cx="6858000" cy="9144000"/>
  <p:embeddedFontLst>
    <p:embeddedFont>
      <p:font typeface="Calibri" panose="020F0502020204030204" pitchFamily="34" charset="0"/>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77">
          <p15:clr>
            <a:srgbClr val="A4A3A4"/>
          </p15:clr>
        </p15:guide>
        <p15:guide id="2" pos="2721">
          <p15:clr>
            <a:srgbClr val="A4A3A4"/>
          </p15:clr>
        </p15:guide>
        <p15:guide id="3" pos="2438">
          <p15:clr>
            <a:srgbClr val="9AA0A6"/>
          </p15:clr>
        </p15:guide>
        <p15:guide id="4" pos="416">
          <p15:clr>
            <a:srgbClr val="9AA0A6"/>
          </p15:clr>
        </p15:guide>
        <p15:guide id="5" pos="1191">
          <p15:clr>
            <a:srgbClr val="9AA0A6"/>
          </p15:clr>
        </p15:guide>
        <p15:guide id="6" pos="638">
          <p15:clr>
            <a:srgbClr val="9AA0A6"/>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9" roundtripDataSignature="AMtx7mgrzrqtyc6NFMljW0vJjHtN/3s2l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8B276D6-7DA8-486D-9897-4FA2B4CCD1D1}">
  <a:tblStyle styleId="{D8B276D6-7DA8-486D-9897-4FA2B4CCD1D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35"/>
    <p:restoredTop sz="94830"/>
  </p:normalViewPr>
  <p:slideViewPr>
    <p:cSldViewPr snapToGrid="0">
      <p:cViewPr varScale="1">
        <p:scale>
          <a:sx n="148" d="100"/>
          <a:sy n="148" d="100"/>
        </p:scale>
        <p:origin x="920" y="184"/>
      </p:cViewPr>
      <p:guideLst>
        <p:guide orient="horz" pos="1077"/>
        <p:guide pos="2721"/>
        <p:guide pos="2438"/>
        <p:guide pos="416"/>
        <p:guide pos="1191"/>
        <p:guide pos="638"/>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ableStyles" Target="tableStyles.xml"/><Relationship Id="rId10" Type="http://schemas.openxmlformats.org/officeDocument/2006/relationships/slide" Target="slides/slide9.xml"/><Relationship Id="rId19"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Users/ben/Desktop/Data/OC/Projet%202/Projet%20livrable/Livrable/V2-P2.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ben/Desktop/Data/OC/Projet%202/Projet%20livrable/Livrable/V2-P2.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Users/ben/Desktop/Data/OC/Projet%202/Projet%20livrable/Livrable/V2-P2.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Users/ben/Desktop/Data/OC/Projet%202/Projet%20livrable/Livrable/Jean-Philippe_Be&#769;ne&#769;dy_1_tableur_052024.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Users/ben/Desktop/Data/OC/Projet%202/Projet%20livrable/Livrable/V2-P2.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pivotSource>
    <c:name>[V2-P2.xlsx]Graphique_Expédition!Graphique 1</c:name>
    <c:fmtId val="19"/>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dirty="0"/>
              <a:t>Evolution</a:t>
            </a:r>
            <a:r>
              <a:rPr lang="fr-FR" baseline="0" dirty="0"/>
              <a:t> du stock (UVC)</a:t>
            </a:r>
            <a:endParaRPr lang="fr-FR"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dLbl>
          <c:idx val="0"/>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
        <c:dLbl>
          <c:idx val="0"/>
          <c:showLegendKey val="0"/>
          <c:showVal val="0"/>
          <c:showCatName val="0"/>
          <c:showSerName val="0"/>
          <c:showPercent val="0"/>
          <c:showBubbleSize val="0"/>
          <c:extLst>
            <c:ext xmlns:c15="http://schemas.microsoft.com/office/drawing/2012/chart" uri="{CE6537A1-D6FC-4f65-9D91-7224C49458BB}"/>
          </c:extLst>
        </c:dLbl>
      </c:pivotFmt>
      <c:pivotFmt>
        <c:idx val="5"/>
        <c:dLbl>
          <c:idx val="0"/>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10"/>
        <c:dLbl>
          <c:idx val="0"/>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9.6939274872637704E-2"/>
          <c:y val="0.11998083204478018"/>
          <c:w val="0.72351146462124472"/>
          <c:h val="0.74379475666034922"/>
        </c:manualLayout>
      </c:layout>
      <c:barChart>
        <c:barDir val="col"/>
        <c:grouping val="clustered"/>
        <c:varyColors val="0"/>
        <c:ser>
          <c:idx val="0"/>
          <c:order val="0"/>
          <c:tx>
            <c:strRef>
              <c:f>Graphique_Expédition!$B$3:$B$4</c:f>
              <c:strCache>
                <c:ptCount val="1"/>
                <c:pt idx="0">
                  <c:v>BOULANGERIE</c:v>
                </c:pt>
              </c:strCache>
            </c:strRef>
          </c:tx>
          <c:spPr>
            <a:solidFill>
              <a:schemeClr val="accent1"/>
            </a:solidFill>
            <a:ln>
              <a:noFill/>
            </a:ln>
            <a:effectLst/>
          </c:spPr>
          <c:invertIfNegative val="0"/>
          <c:cat>
            <c:strRef>
              <c:f>Graphique_Expédition!$A$5:$A$14</c:f>
              <c:strCache>
                <c:ptCount val="9"/>
                <c:pt idx="0">
                  <c:v>202205</c:v>
                </c:pt>
                <c:pt idx="1">
                  <c:v>202206</c:v>
                </c:pt>
                <c:pt idx="2">
                  <c:v>202207</c:v>
                </c:pt>
                <c:pt idx="3">
                  <c:v>202208</c:v>
                </c:pt>
                <c:pt idx="4">
                  <c:v>202209</c:v>
                </c:pt>
                <c:pt idx="5">
                  <c:v>202210</c:v>
                </c:pt>
                <c:pt idx="6">
                  <c:v>202211</c:v>
                </c:pt>
                <c:pt idx="7">
                  <c:v>202212</c:v>
                </c:pt>
                <c:pt idx="8">
                  <c:v>202301</c:v>
                </c:pt>
              </c:strCache>
            </c:strRef>
          </c:cat>
          <c:val>
            <c:numRef>
              <c:f>Graphique_Expédition!$B$5:$B$14</c:f>
              <c:numCache>
                <c:formatCode>General</c:formatCode>
                <c:ptCount val="9"/>
                <c:pt idx="0">
                  <c:v>10200</c:v>
                </c:pt>
                <c:pt idx="1">
                  <c:v>33814</c:v>
                </c:pt>
                <c:pt idx="2">
                  <c:v>19386</c:v>
                </c:pt>
                <c:pt idx="3">
                  <c:v>32000</c:v>
                </c:pt>
                <c:pt idx="4">
                  <c:v>40725</c:v>
                </c:pt>
                <c:pt idx="5">
                  <c:v>57990</c:v>
                </c:pt>
                <c:pt idx="6">
                  <c:v>77934</c:v>
                </c:pt>
                <c:pt idx="7">
                  <c:v>80717</c:v>
                </c:pt>
                <c:pt idx="8">
                  <c:v>112484</c:v>
                </c:pt>
              </c:numCache>
            </c:numRef>
          </c:val>
          <c:extLst>
            <c:ext xmlns:c16="http://schemas.microsoft.com/office/drawing/2014/chart" uri="{C3380CC4-5D6E-409C-BE32-E72D297353CC}">
              <c16:uniqueId val="{00000000-39FC-774F-9466-5952B9B35C73}"/>
            </c:ext>
          </c:extLst>
        </c:ser>
        <c:ser>
          <c:idx val="1"/>
          <c:order val="1"/>
          <c:tx>
            <c:strRef>
              <c:f>Graphique_Expédition!$C$3:$C$4</c:f>
              <c:strCache>
                <c:ptCount val="1"/>
                <c:pt idx="0">
                  <c:v>CREMERIE</c:v>
                </c:pt>
              </c:strCache>
            </c:strRef>
          </c:tx>
          <c:spPr>
            <a:solidFill>
              <a:schemeClr val="accent2"/>
            </a:solidFill>
            <a:ln>
              <a:noFill/>
            </a:ln>
            <a:effectLst/>
          </c:spPr>
          <c:invertIfNegative val="0"/>
          <c:cat>
            <c:strRef>
              <c:f>Graphique_Expédition!$A$5:$A$14</c:f>
              <c:strCache>
                <c:ptCount val="9"/>
                <c:pt idx="0">
                  <c:v>202205</c:v>
                </c:pt>
                <c:pt idx="1">
                  <c:v>202206</c:v>
                </c:pt>
                <c:pt idx="2">
                  <c:v>202207</c:v>
                </c:pt>
                <c:pt idx="3">
                  <c:v>202208</c:v>
                </c:pt>
                <c:pt idx="4">
                  <c:v>202209</c:v>
                </c:pt>
                <c:pt idx="5">
                  <c:v>202210</c:v>
                </c:pt>
                <c:pt idx="6">
                  <c:v>202211</c:v>
                </c:pt>
                <c:pt idx="7">
                  <c:v>202212</c:v>
                </c:pt>
                <c:pt idx="8">
                  <c:v>202301</c:v>
                </c:pt>
              </c:strCache>
            </c:strRef>
          </c:cat>
          <c:val>
            <c:numRef>
              <c:f>Graphique_Expédition!$C$5:$C$14</c:f>
              <c:numCache>
                <c:formatCode>General</c:formatCode>
                <c:ptCount val="9"/>
                <c:pt idx="0">
                  <c:v>22508</c:v>
                </c:pt>
                <c:pt idx="1">
                  <c:v>24700</c:v>
                </c:pt>
                <c:pt idx="2">
                  <c:v>18537</c:v>
                </c:pt>
                <c:pt idx="3">
                  <c:v>25112</c:v>
                </c:pt>
                <c:pt idx="4">
                  <c:v>27558</c:v>
                </c:pt>
                <c:pt idx="5">
                  <c:v>39661</c:v>
                </c:pt>
                <c:pt idx="6">
                  <c:v>37794</c:v>
                </c:pt>
                <c:pt idx="7">
                  <c:v>25570</c:v>
                </c:pt>
                <c:pt idx="8">
                  <c:v>40564</c:v>
                </c:pt>
              </c:numCache>
            </c:numRef>
          </c:val>
          <c:extLst>
            <c:ext xmlns:c16="http://schemas.microsoft.com/office/drawing/2014/chart" uri="{C3380CC4-5D6E-409C-BE32-E72D297353CC}">
              <c16:uniqueId val="{00000001-39FC-774F-9466-5952B9B35C73}"/>
            </c:ext>
          </c:extLst>
        </c:ser>
        <c:ser>
          <c:idx val="2"/>
          <c:order val="2"/>
          <c:tx>
            <c:strRef>
              <c:f>Graphique_Expédition!$D$3:$D$4</c:f>
              <c:strCache>
                <c:ptCount val="1"/>
                <c:pt idx="0">
                  <c:v>EMBALLAGES</c:v>
                </c:pt>
              </c:strCache>
            </c:strRef>
          </c:tx>
          <c:spPr>
            <a:solidFill>
              <a:schemeClr val="accent3"/>
            </a:solidFill>
            <a:ln>
              <a:noFill/>
            </a:ln>
            <a:effectLst/>
          </c:spPr>
          <c:invertIfNegative val="0"/>
          <c:cat>
            <c:strRef>
              <c:f>Graphique_Expédition!$A$5:$A$14</c:f>
              <c:strCache>
                <c:ptCount val="9"/>
                <c:pt idx="0">
                  <c:v>202205</c:v>
                </c:pt>
                <c:pt idx="1">
                  <c:v>202206</c:v>
                </c:pt>
                <c:pt idx="2">
                  <c:v>202207</c:v>
                </c:pt>
                <c:pt idx="3">
                  <c:v>202208</c:v>
                </c:pt>
                <c:pt idx="4">
                  <c:v>202209</c:v>
                </c:pt>
                <c:pt idx="5">
                  <c:v>202210</c:v>
                </c:pt>
                <c:pt idx="6">
                  <c:v>202211</c:v>
                </c:pt>
                <c:pt idx="7">
                  <c:v>202212</c:v>
                </c:pt>
                <c:pt idx="8">
                  <c:v>202301</c:v>
                </c:pt>
              </c:strCache>
            </c:strRef>
          </c:cat>
          <c:val>
            <c:numRef>
              <c:f>Graphique_Expédition!$D$5:$D$14</c:f>
              <c:numCache>
                <c:formatCode>General</c:formatCode>
                <c:ptCount val="9"/>
                <c:pt idx="0">
                  <c:v>3029</c:v>
                </c:pt>
                <c:pt idx="1">
                  <c:v>6102</c:v>
                </c:pt>
                <c:pt idx="2">
                  <c:v>5057</c:v>
                </c:pt>
                <c:pt idx="3">
                  <c:v>4106</c:v>
                </c:pt>
                <c:pt idx="4">
                  <c:v>7943</c:v>
                </c:pt>
                <c:pt idx="5">
                  <c:v>6468</c:v>
                </c:pt>
                <c:pt idx="6">
                  <c:v>5938</c:v>
                </c:pt>
                <c:pt idx="7">
                  <c:v>7702</c:v>
                </c:pt>
                <c:pt idx="8">
                  <c:v>7897</c:v>
                </c:pt>
              </c:numCache>
            </c:numRef>
          </c:val>
          <c:extLst>
            <c:ext xmlns:c16="http://schemas.microsoft.com/office/drawing/2014/chart" uri="{C3380CC4-5D6E-409C-BE32-E72D297353CC}">
              <c16:uniqueId val="{00000002-39FC-774F-9466-5952B9B35C73}"/>
            </c:ext>
          </c:extLst>
        </c:ser>
        <c:ser>
          <c:idx val="3"/>
          <c:order val="3"/>
          <c:tx>
            <c:strRef>
              <c:f>Graphique_Expédition!$E$3:$E$4</c:f>
              <c:strCache>
                <c:ptCount val="1"/>
                <c:pt idx="0">
                  <c:v>MIX LEGUMES</c:v>
                </c:pt>
              </c:strCache>
            </c:strRef>
          </c:tx>
          <c:spPr>
            <a:solidFill>
              <a:schemeClr val="accent4"/>
            </a:solidFill>
            <a:ln>
              <a:noFill/>
            </a:ln>
            <a:effectLst/>
          </c:spPr>
          <c:invertIfNegative val="0"/>
          <c:cat>
            <c:strRef>
              <c:f>Graphique_Expédition!$A$5:$A$14</c:f>
              <c:strCache>
                <c:ptCount val="9"/>
                <c:pt idx="0">
                  <c:v>202205</c:v>
                </c:pt>
                <c:pt idx="1">
                  <c:v>202206</c:v>
                </c:pt>
                <c:pt idx="2">
                  <c:v>202207</c:v>
                </c:pt>
                <c:pt idx="3">
                  <c:v>202208</c:v>
                </c:pt>
                <c:pt idx="4">
                  <c:v>202209</c:v>
                </c:pt>
                <c:pt idx="5">
                  <c:v>202210</c:v>
                </c:pt>
                <c:pt idx="6">
                  <c:v>202211</c:v>
                </c:pt>
                <c:pt idx="7">
                  <c:v>202212</c:v>
                </c:pt>
                <c:pt idx="8">
                  <c:v>202301</c:v>
                </c:pt>
              </c:strCache>
            </c:strRef>
          </c:cat>
          <c:val>
            <c:numRef>
              <c:f>Graphique_Expédition!$E$5:$E$14</c:f>
              <c:numCache>
                <c:formatCode>General</c:formatCode>
                <c:ptCount val="9"/>
                <c:pt idx="0">
                  <c:v>97637</c:v>
                </c:pt>
                <c:pt idx="1">
                  <c:v>175992</c:v>
                </c:pt>
                <c:pt idx="2">
                  <c:v>128605</c:v>
                </c:pt>
                <c:pt idx="3">
                  <c:v>84384</c:v>
                </c:pt>
                <c:pt idx="4">
                  <c:v>85499</c:v>
                </c:pt>
                <c:pt idx="5">
                  <c:v>76507</c:v>
                </c:pt>
                <c:pt idx="6">
                  <c:v>94020</c:v>
                </c:pt>
                <c:pt idx="7">
                  <c:v>93722</c:v>
                </c:pt>
                <c:pt idx="8">
                  <c:v>112450</c:v>
                </c:pt>
              </c:numCache>
            </c:numRef>
          </c:val>
          <c:extLst>
            <c:ext xmlns:c16="http://schemas.microsoft.com/office/drawing/2014/chart" uri="{C3380CC4-5D6E-409C-BE32-E72D297353CC}">
              <c16:uniqueId val="{00000003-39FC-774F-9466-5952B9B35C73}"/>
            </c:ext>
          </c:extLst>
        </c:ser>
        <c:ser>
          <c:idx val="4"/>
          <c:order val="4"/>
          <c:tx>
            <c:strRef>
              <c:f>Graphique_Expédition!$F$3:$F$4</c:f>
              <c:strCache>
                <c:ptCount val="1"/>
                <c:pt idx="0">
                  <c:v>VOLAILLE</c:v>
                </c:pt>
              </c:strCache>
            </c:strRef>
          </c:tx>
          <c:spPr>
            <a:solidFill>
              <a:schemeClr val="accent5"/>
            </a:solidFill>
            <a:ln>
              <a:noFill/>
            </a:ln>
            <a:effectLst/>
          </c:spPr>
          <c:invertIfNegative val="0"/>
          <c:cat>
            <c:strRef>
              <c:f>Graphique_Expédition!$A$5:$A$14</c:f>
              <c:strCache>
                <c:ptCount val="9"/>
                <c:pt idx="0">
                  <c:v>202205</c:v>
                </c:pt>
                <c:pt idx="1">
                  <c:v>202206</c:v>
                </c:pt>
                <c:pt idx="2">
                  <c:v>202207</c:v>
                </c:pt>
                <c:pt idx="3">
                  <c:v>202208</c:v>
                </c:pt>
                <c:pt idx="4">
                  <c:v>202209</c:v>
                </c:pt>
                <c:pt idx="5">
                  <c:v>202210</c:v>
                </c:pt>
                <c:pt idx="6">
                  <c:v>202211</c:v>
                </c:pt>
                <c:pt idx="7">
                  <c:v>202212</c:v>
                </c:pt>
                <c:pt idx="8">
                  <c:v>202301</c:v>
                </c:pt>
              </c:strCache>
            </c:strRef>
          </c:cat>
          <c:val>
            <c:numRef>
              <c:f>Graphique_Expédition!$F$5:$F$14</c:f>
              <c:numCache>
                <c:formatCode>General</c:formatCode>
                <c:ptCount val="9"/>
                <c:pt idx="0">
                  <c:v>73990</c:v>
                </c:pt>
                <c:pt idx="1">
                  <c:v>110913</c:v>
                </c:pt>
                <c:pt idx="2">
                  <c:v>112836</c:v>
                </c:pt>
                <c:pt idx="3">
                  <c:v>134970</c:v>
                </c:pt>
                <c:pt idx="4">
                  <c:v>85126</c:v>
                </c:pt>
                <c:pt idx="5">
                  <c:v>64534</c:v>
                </c:pt>
                <c:pt idx="6">
                  <c:v>185361</c:v>
                </c:pt>
                <c:pt idx="7">
                  <c:v>199341</c:v>
                </c:pt>
                <c:pt idx="8">
                  <c:v>72083</c:v>
                </c:pt>
              </c:numCache>
            </c:numRef>
          </c:val>
          <c:extLst>
            <c:ext xmlns:c16="http://schemas.microsoft.com/office/drawing/2014/chart" uri="{C3380CC4-5D6E-409C-BE32-E72D297353CC}">
              <c16:uniqueId val="{00000004-39FC-774F-9466-5952B9B35C73}"/>
            </c:ext>
          </c:extLst>
        </c:ser>
        <c:dLbls>
          <c:showLegendKey val="0"/>
          <c:showVal val="0"/>
          <c:showCatName val="0"/>
          <c:showSerName val="0"/>
          <c:showPercent val="0"/>
          <c:showBubbleSize val="0"/>
        </c:dLbls>
        <c:gapWidth val="219"/>
        <c:overlap val="-27"/>
        <c:axId val="2012103888"/>
        <c:axId val="2012105968"/>
      </c:barChart>
      <c:catAx>
        <c:axId val="201210388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a:t>Date</a:t>
                </a:r>
              </a:p>
            </c:rich>
          </c:tx>
          <c:layout>
            <c:manualLayout>
              <c:xMode val="edge"/>
              <c:yMode val="edge"/>
              <c:x val="0.45217680864230075"/>
              <c:y val="0.94069245635463039"/>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2012105968"/>
        <c:crosses val="autoZero"/>
        <c:auto val="1"/>
        <c:lblAlgn val="ctr"/>
        <c:lblOffset val="100"/>
        <c:noMultiLvlLbl val="0"/>
      </c:catAx>
      <c:valAx>
        <c:axId val="201210596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a:t>Quantités</a:t>
                </a:r>
              </a:p>
            </c:rich>
          </c:tx>
          <c:layout>
            <c:manualLayout>
              <c:xMode val="edge"/>
              <c:yMode val="edge"/>
              <c:x val="9.1983028686333217E-3"/>
              <c:y val="0.41572430312619107"/>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2012103888"/>
        <c:crosses val="autoZero"/>
        <c:crossBetween val="between"/>
      </c:valAx>
      <c:spPr>
        <a:noFill/>
        <a:ln>
          <a:noFill/>
        </a:ln>
        <a:effectLst/>
      </c:spPr>
    </c:plotArea>
    <c:legend>
      <c:legendPos val="r"/>
      <c:layout>
        <c:manualLayout>
          <c:xMode val="edge"/>
          <c:yMode val="edge"/>
          <c:x val="0.84865269574079816"/>
          <c:y val="0.38888152256305608"/>
          <c:w val="0.12309904060920281"/>
          <c:h val="0.3365674273035027"/>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pivotSource>
    <c:name>[V2-P2.xlsx]Prix_Moyen_Toutes_Références!Tableau croisé dynamique2</c:name>
    <c:fmtId val="7"/>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Prix</a:t>
            </a:r>
            <a:r>
              <a:rPr lang="en-US" baseline="0"/>
              <a:t> mensuel moyen toutes références confondues </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ivotFmts>
      <c:pivotFmt>
        <c:idx val="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Prix_Moyen_Toutes_Références!$H$4</c:f>
              <c:strCache>
                <c:ptCount val="1"/>
                <c:pt idx="0">
                  <c:v>Total</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Prix_Moyen_Toutes_Références!$G$5:$G$14</c:f>
              <c:strCache>
                <c:ptCount val="9"/>
                <c:pt idx="0">
                  <c:v>202205</c:v>
                </c:pt>
                <c:pt idx="1">
                  <c:v>202206</c:v>
                </c:pt>
                <c:pt idx="2">
                  <c:v>202207</c:v>
                </c:pt>
                <c:pt idx="3">
                  <c:v>202208</c:v>
                </c:pt>
                <c:pt idx="4">
                  <c:v>202209</c:v>
                </c:pt>
                <c:pt idx="5">
                  <c:v>202210</c:v>
                </c:pt>
                <c:pt idx="6">
                  <c:v>202211</c:v>
                </c:pt>
                <c:pt idx="7">
                  <c:v>202212</c:v>
                </c:pt>
                <c:pt idx="8">
                  <c:v>202301</c:v>
                </c:pt>
              </c:strCache>
            </c:strRef>
          </c:cat>
          <c:val>
            <c:numRef>
              <c:f>Prix_Moyen_Toutes_Références!$H$5:$H$14</c:f>
              <c:numCache>
                <c:formatCode>0.00</c:formatCode>
                <c:ptCount val="9"/>
                <c:pt idx="0">
                  <c:v>30.180062490780902</c:v>
                </c:pt>
                <c:pt idx="1">
                  <c:v>29.435906942591377</c:v>
                </c:pt>
                <c:pt idx="2">
                  <c:v>30.109033907209284</c:v>
                </c:pt>
                <c:pt idx="3">
                  <c:v>25.077206167744201</c:v>
                </c:pt>
                <c:pt idx="4">
                  <c:v>25.42556865822516</c:v>
                </c:pt>
                <c:pt idx="5">
                  <c:v>24.940123602283979</c:v>
                </c:pt>
                <c:pt idx="6">
                  <c:v>26.219492579549527</c:v>
                </c:pt>
                <c:pt idx="7">
                  <c:v>26.658604488125064</c:v>
                </c:pt>
                <c:pt idx="8">
                  <c:v>27.331815022011927</c:v>
                </c:pt>
              </c:numCache>
            </c:numRef>
          </c:val>
          <c:smooth val="0"/>
          <c:extLst>
            <c:ext xmlns:c16="http://schemas.microsoft.com/office/drawing/2014/chart" uri="{C3380CC4-5D6E-409C-BE32-E72D297353CC}">
              <c16:uniqueId val="{00000000-BE5C-4B4B-83A7-84447A64CDF2}"/>
            </c:ext>
          </c:extLst>
        </c:ser>
        <c:dLbls>
          <c:showLegendKey val="0"/>
          <c:showVal val="0"/>
          <c:showCatName val="0"/>
          <c:showSerName val="0"/>
          <c:showPercent val="0"/>
          <c:showBubbleSize val="0"/>
        </c:dLbls>
        <c:marker val="1"/>
        <c:smooth val="0"/>
        <c:axId val="916697343"/>
        <c:axId val="917245295"/>
      </c:lineChart>
      <c:catAx>
        <c:axId val="916697343"/>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a:t>Mois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917245295"/>
        <c:crosses val="autoZero"/>
        <c:auto val="1"/>
        <c:lblAlgn val="ctr"/>
        <c:lblOffset val="100"/>
        <c:noMultiLvlLbl val="0"/>
      </c:catAx>
      <c:valAx>
        <c:axId val="917245295"/>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a:t>Moyenne</a:t>
                </a:r>
                <a:r>
                  <a:rPr lang="fr-FR" baseline="0"/>
                  <a:t> prix moyen</a:t>
                </a:r>
                <a:endParaRPr lang="fr-F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91669734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pivotSource>
    <c:name>[V2-P2.xlsx]Nombre_De_Produits_Stockés!Tableau croisé dynamique22</c:name>
    <c:fmtId val="2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a:t>Evolution</a:t>
            </a:r>
            <a:r>
              <a:rPr lang="fr-FR" baseline="0"/>
              <a:t> moyenne du nombre de référence de produits stockés</a:t>
            </a:r>
            <a:endParaRPr lang="fr-F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009270692413224"/>
          <c:y val="0.14577469514942099"/>
          <c:w val="0.70701889703584464"/>
          <c:h val="0.66865939160771481"/>
        </c:manualLayout>
      </c:layout>
      <c:lineChart>
        <c:grouping val="standard"/>
        <c:varyColors val="0"/>
        <c:ser>
          <c:idx val="0"/>
          <c:order val="0"/>
          <c:tx>
            <c:strRef>
              <c:f>Nombre_De_Produits_Stockés!$B$3</c:f>
              <c:strCache>
                <c:ptCount val="1"/>
                <c:pt idx="0">
                  <c:v>Moyenne de BOULANGERIE</c:v>
                </c:pt>
              </c:strCache>
            </c:strRef>
          </c:tx>
          <c:spPr>
            <a:ln w="28575" cap="rnd">
              <a:solidFill>
                <a:schemeClr val="accent1"/>
              </a:solidFill>
              <a:round/>
            </a:ln>
            <a:effectLst/>
          </c:spPr>
          <c:marker>
            <c:symbol val="none"/>
          </c:marker>
          <c:cat>
            <c:strRef>
              <c:f>Nombre_De_Produits_Stockés!$A$4:$A$13</c:f>
              <c:strCache>
                <c:ptCount val="9"/>
                <c:pt idx="0">
                  <c:v>202205</c:v>
                </c:pt>
                <c:pt idx="1">
                  <c:v>202206</c:v>
                </c:pt>
                <c:pt idx="2">
                  <c:v>202207</c:v>
                </c:pt>
                <c:pt idx="3">
                  <c:v>202208</c:v>
                </c:pt>
                <c:pt idx="4">
                  <c:v>202209</c:v>
                </c:pt>
                <c:pt idx="5">
                  <c:v>202210</c:v>
                </c:pt>
                <c:pt idx="6">
                  <c:v>202211</c:v>
                </c:pt>
                <c:pt idx="7">
                  <c:v>202212</c:v>
                </c:pt>
                <c:pt idx="8">
                  <c:v>202301</c:v>
                </c:pt>
              </c:strCache>
            </c:strRef>
          </c:cat>
          <c:val>
            <c:numRef>
              <c:f>Nombre_De_Produits_Stockés!$B$4:$B$13</c:f>
              <c:numCache>
                <c:formatCode>0.00</c:formatCode>
                <c:ptCount val="9"/>
                <c:pt idx="0">
                  <c:v>13</c:v>
                </c:pt>
                <c:pt idx="1">
                  <c:v>15</c:v>
                </c:pt>
                <c:pt idx="2">
                  <c:v>15</c:v>
                </c:pt>
                <c:pt idx="3">
                  <c:v>16</c:v>
                </c:pt>
                <c:pt idx="4">
                  <c:v>14</c:v>
                </c:pt>
                <c:pt idx="5">
                  <c:v>16</c:v>
                </c:pt>
                <c:pt idx="6">
                  <c:v>17</c:v>
                </c:pt>
                <c:pt idx="7">
                  <c:v>16</c:v>
                </c:pt>
                <c:pt idx="8">
                  <c:v>17</c:v>
                </c:pt>
              </c:numCache>
            </c:numRef>
          </c:val>
          <c:smooth val="0"/>
          <c:extLst>
            <c:ext xmlns:c16="http://schemas.microsoft.com/office/drawing/2014/chart" uri="{C3380CC4-5D6E-409C-BE32-E72D297353CC}">
              <c16:uniqueId val="{00000000-0A81-3846-AE13-7756189B4A2F}"/>
            </c:ext>
          </c:extLst>
        </c:ser>
        <c:ser>
          <c:idx val="1"/>
          <c:order val="1"/>
          <c:tx>
            <c:strRef>
              <c:f>Nombre_De_Produits_Stockés!$C$3</c:f>
              <c:strCache>
                <c:ptCount val="1"/>
                <c:pt idx="0">
                  <c:v>Moyenne de CREMERIE</c:v>
                </c:pt>
              </c:strCache>
            </c:strRef>
          </c:tx>
          <c:spPr>
            <a:ln w="28575" cap="rnd">
              <a:solidFill>
                <a:schemeClr val="accent2"/>
              </a:solidFill>
              <a:round/>
            </a:ln>
            <a:effectLst/>
          </c:spPr>
          <c:marker>
            <c:symbol val="none"/>
          </c:marker>
          <c:cat>
            <c:strRef>
              <c:f>Nombre_De_Produits_Stockés!$A$4:$A$13</c:f>
              <c:strCache>
                <c:ptCount val="9"/>
                <c:pt idx="0">
                  <c:v>202205</c:v>
                </c:pt>
                <c:pt idx="1">
                  <c:v>202206</c:v>
                </c:pt>
                <c:pt idx="2">
                  <c:v>202207</c:v>
                </c:pt>
                <c:pt idx="3">
                  <c:v>202208</c:v>
                </c:pt>
                <c:pt idx="4">
                  <c:v>202209</c:v>
                </c:pt>
                <c:pt idx="5">
                  <c:v>202210</c:v>
                </c:pt>
                <c:pt idx="6">
                  <c:v>202211</c:v>
                </c:pt>
                <c:pt idx="7">
                  <c:v>202212</c:v>
                </c:pt>
                <c:pt idx="8">
                  <c:v>202301</c:v>
                </c:pt>
              </c:strCache>
            </c:strRef>
          </c:cat>
          <c:val>
            <c:numRef>
              <c:f>Nombre_De_Produits_Stockés!$C$4:$C$13</c:f>
              <c:numCache>
                <c:formatCode>0.00</c:formatCode>
                <c:ptCount val="9"/>
                <c:pt idx="0">
                  <c:v>21</c:v>
                </c:pt>
                <c:pt idx="1">
                  <c:v>24</c:v>
                </c:pt>
                <c:pt idx="2">
                  <c:v>22</c:v>
                </c:pt>
                <c:pt idx="3">
                  <c:v>23</c:v>
                </c:pt>
                <c:pt idx="4">
                  <c:v>22</c:v>
                </c:pt>
                <c:pt idx="5">
                  <c:v>25</c:v>
                </c:pt>
                <c:pt idx="6">
                  <c:v>25</c:v>
                </c:pt>
                <c:pt idx="7">
                  <c:v>27</c:v>
                </c:pt>
                <c:pt idx="8">
                  <c:v>25</c:v>
                </c:pt>
              </c:numCache>
            </c:numRef>
          </c:val>
          <c:smooth val="0"/>
          <c:extLst>
            <c:ext xmlns:c16="http://schemas.microsoft.com/office/drawing/2014/chart" uri="{C3380CC4-5D6E-409C-BE32-E72D297353CC}">
              <c16:uniqueId val="{00000001-0A81-3846-AE13-7756189B4A2F}"/>
            </c:ext>
          </c:extLst>
        </c:ser>
        <c:ser>
          <c:idx val="2"/>
          <c:order val="2"/>
          <c:tx>
            <c:strRef>
              <c:f>Nombre_De_Produits_Stockés!$D$3</c:f>
              <c:strCache>
                <c:ptCount val="1"/>
                <c:pt idx="0">
                  <c:v>Moyenne de EMBALLAGES</c:v>
                </c:pt>
              </c:strCache>
            </c:strRef>
          </c:tx>
          <c:spPr>
            <a:ln w="28575" cap="rnd">
              <a:solidFill>
                <a:schemeClr val="accent3"/>
              </a:solidFill>
              <a:round/>
            </a:ln>
            <a:effectLst/>
          </c:spPr>
          <c:marker>
            <c:symbol val="none"/>
          </c:marker>
          <c:cat>
            <c:strRef>
              <c:f>Nombre_De_Produits_Stockés!$A$4:$A$13</c:f>
              <c:strCache>
                <c:ptCount val="9"/>
                <c:pt idx="0">
                  <c:v>202205</c:v>
                </c:pt>
                <c:pt idx="1">
                  <c:v>202206</c:v>
                </c:pt>
                <c:pt idx="2">
                  <c:v>202207</c:v>
                </c:pt>
                <c:pt idx="3">
                  <c:v>202208</c:v>
                </c:pt>
                <c:pt idx="4">
                  <c:v>202209</c:v>
                </c:pt>
                <c:pt idx="5">
                  <c:v>202210</c:v>
                </c:pt>
                <c:pt idx="6">
                  <c:v>202211</c:v>
                </c:pt>
                <c:pt idx="7">
                  <c:v>202212</c:v>
                </c:pt>
                <c:pt idx="8">
                  <c:v>202301</c:v>
                </c:pt>
              </c:strCache>
            </c:strRef>
          </c:cat>
          <c:val>
            <c:numRef>
              <c:f>Nombre_De_Produits_Stockés!$D$4:$D$13</c:f>
              <c:numCache>
                <c:formatCode>0.00</c:formatCode>
                <c:ptCount val="9"/>
                <c:pt idx="0">
                  <c:v>12</c:v>
                </c:pt>
                <c:pt idx="1">
                  <c:v>16</c:v>
                </c:pt>
                <c:pt idx="2">
                  <c:v>15</c:v>
                </c:pt>
                <c:pt idx="3">
                  <c:v>14</c:v>
                </c:pt>
                <c:pt idx="4">
                  <c:v>15</c:v>
                </c:pt>
                <c:pt idx="5">
                  <c:v>15</c:v>
                </c:pt>
                <c:pt idx="6">
                  <c:v>17</c:v>
                </c:pt>
                <c:pt idx="7">
                  <c:v>16</c:v>
                </c:pt>
                <c:pt idx="8">
                  <c:v>15</c:v>
                </c:pt>
              </c:numCache>
            </c:numRef>
          </c:val>
          <c:smooth val="0"/>
          <c:extLst>
            <c:ext xmlns:c16="http://schemas.microsoft.com/office/drawing/2014/chart" uri="{C3380CC4-5D6E-409C-BE32-E72D297353CC}">
              <c16:uniqueId val="{00000002-0A81-3846-AE13-7756189B4A2F}"/>
            </c:ext>
          </c:extLst>
        </c:ser>
        <c:ser>
          <c:idx val="3"/>
          <c:order val="3"/>
          <c:tx>
            <c:strRef>
              <c:f>Nombre_De_Produits_Stockés!$E$3</c:f>
              <c:strCache>
                <c:ptCount val="1"/>
                <c:pt idx="0">
                  <c:v>Moyenne de MIX LEGUMES</c:v>
                </c:pt>
              </c:strCache>
            </c:strRef>
          </c:tx>
          <c:spPr>
            <a:ln w="28575" cap="rnd">
              <a:solidFill>
                <a:schemeClr val="accent4"/>
              </a:solidFill>
              <a:round/>
            </a:ln>
            <a:effectLst/>
          </c:spPr>
          <c:marker>
            <c:symbol val="none"/>
          </c:marker>
          <c:cat>
            <c:strRef>
              <c:f>Nombre_De_Produits_Stockés!$A$4:$A$13</c:f>
              <c:strCache>
                <c:ptCount val="9"/>
                <c:pt idx="0">
                  <c:v>202205</c:v>
                </c:pt>
                <c:pt idx="1">
                  <c:v>202206</c:v>
                </c:pt>
                <c:pt idx="2">
                  <c:v>202207</c:v>
                </c:pt>
                <c:pt idx="3">
                  <c:v>202208</c:v>
                </c:pt>
                <c:pt idx="4">
                  <c:v>202209</c:v>
                </c:pt>
                <c:pt idx="5">
                  <c:v>202210</c:v>
                </c:pt>
                <c:pt idx="6">
                  <c:v>202211</c:v>
                </c:pt>
                <c:pt idx="7">
                  <c:v>202212</c:v>
                </c:pt>
                <c:pt idx="8">
                  <c:v>202301</c:v>
                </c:pt>
              </c:strCache>
            </c:strRef>
          </c:cat>
          <c:val>
            <c:numRef>
              <c:f>Nombre_De_Produits_Stockés!$E$4:$E$13</c:f>
              <c:numCache>
                <c:formatCode>0.00</c:formatCode>
                <c:ptCount val="9"/>
                <c:pt idx="0">
                  <c:v>32</c:v>
                </c:pt>
                <c:pt idx="1">
                  <c:v>35</c:v>
                </c:pt>
                <c:pt idx="2">
                  <c:v>34</c:v>
                </c:pt>
                <c:pt idx="3">
                  <c:v>31</c:v>
                </c:pt>
                <c:pt idx="4">
                  <c:v>32</c:v>
                </c:pt>
                <c:pt idx="5">
                  <c:v>32</c:v>
                </c:pt>
                <c:pt idx="6">
                  <c:v>30</c:v>
                </c:pt>
                <c:pt idx="7">
                  <c:v>31</c:v>
                </c:pt>
                <c:pt idx="8">
                  <c:v>30</c:v>
                </c:pt>
              </c:numCache>
            </c:numRef>
          </c:val>
          <c:smooth val="0"/>
          <c:extLst>
            <c:ext xmlns:c16="http://schemas.microsoft.com/office/drawing/2014/chart" uri="{C3380CC4-5D6E-409C-BE32-E72D297353CC}">
              <c16:uniqueId val="{00000003-0A81-3846-AE13-7756189B4A2F}"/>
            </c:ext>
          </c:extLst>
        </c:ser>
        <c:ser>
          <c:idx val="4"/>
          <c:order val="4"/>
          <c:tx>
            <c:strRef>
              <c:f>Nombre_De_Produits_Stockés!$F$3</c:f>
              <c:strCache>
                <c:ptCount val="1"/>
                <c:pt idx="0">
                  <c:v>Moyenne de VOLAILLE</c:v>
                </c:pt>
              </c:strCache>
            </c:strRef>
          </c:tx>
          <c:spPr>
            <a:ln w="28575" cap="rnd">
              <a:solidFill>
                <a:schemeClr val="accent5"/>
              </a:solidFill>
              <a:round/>
            </a:ln>
            <a:effectLst/>
          </c:spPr>
          <c:marker>
            <c:symbol val="none"/>
          </c:marker>
          <c:cat>
            <c:strRef>
              <c:f>Nombre_De_Produits_Stockés!$A$4:$A$13</c:f>
              <c:strCache>
                <c:ptCount val="9"/>
                <c:pt idx="0">
                  <c:v>202205</c:v>
                </c:pt>
                <c:pt idx="1">
                  <c:v>202206</c:v>
                </c:pt>
                <c:pt idx="2">
                  <c:v>202207</c:v>
                </c:pt>
                <c:pt idx="3">
                  <c:v>202208</c:v>
                </c:pt>
                <c:pt idx="4">
                  <c:v>202209</c:v>
                </c:pt>
                <c:pt idx="5">
                  <c:v>202210</c:v>
                </c:pt>
                <c:pt idx="6">
                  <c:v>202211</c:v>
                </c:pt>
                <c:pt idx="7">
                  <c:v>202212</c:v>
                </c:pt>
                <c:pt idx="8">
                  <c:v>202301</c:v>
                </c:pt>
              </c:strCache>
            </c:strRef>
          </c:cat>
          <c:val>
            <c:numRef>
              <c:f>Nombre_De_Produits_Stockés!$F$4:$F$13</c:f>
              <c:numCache>
                <c:formatCode>0.00</c:formatCode>
                <c:ptCount val="9"/>
                <c:pt idx="0">
                  <c:v>10</c:v>
                </c:pt>
                <c:pt idx="1">
                  <c:v>9</c:v>
                </c:pt>
                <c:pt idx="2">
                  <c:v>10</c:v>
                </c:pt>
                <c:pt idx="3">
                  <c:v>8</c:v>
                </c:pt>
                <c:pt idx="4">
                  <c:v>8</c:v>
                </c:pt>
                <c:pt idx="5">
                  <c:v>7</c:v>
                </c:pt>
                <c:pt idx="6">
                  <c:v>8</c:v>
                </c:pt>
                <c:pt idx="7">
                  <c:v>9</c:v>
                </c:pt>
                <c:pt idx="8">
                  <c:v>8</c:v>
                </c:pt>
              </c:numCache>
            </c:numRef>
          </c:val>
          <c:smooth val="0"/>
          <c:extLst>
            <c:ext xmlns:c16="http://schemas.microsoft.com/office/drawing/2014/chart" uri="{C3380CC4-5D6E-409C-BE32-E72D297353CC}">
              <c16:uniqueId val="{00000004-0A81-3846-AE13-7756189B4A2F}"/>
            </c:ext>
          </c:extLst>
        </c:ser>
        <c:dLbls>
          <c:showLegendKey val="0"/>
          <c:showVal val="0"/>
          <c:showCatName val="0"/>
          <c:showSerName val="0"/>
          <c:showPercent val="0"/>
          <c:showBubbleSize val="0"/>
        </c:dLbls>
        <c:smooth val="0"/>
        <c:axId val="1728414816"/>
        <c:axId val="1728236944"/>
      </c:lineChart>
      <c:catAx>
        <c:axId val="172841481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a:t>Mois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728236944"/>
        <c:crosses val="autoZero"/>
        <c:auto val="1"/>
        <c:lblAlgn val="ctr"/>
        <c:lblOffset val="100"/>
        <c:noMultiLvlLbl val="0"/>
      </c:catAx>
      <c:valAx>
        <c:axId val="172823694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dirty="0"/>
                  <a:t>Nombre moyen</a:t>
                </a:r>
                <a:r>
                  <a:rPr lang="fr-FR" baseline="0" dirty="0"/>
                  <a:t> de produits stockés </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728414816"/>
        <c:crosses val="autoZero"/>
        <c:crossBetween val="between"/>
      </c:valAx>
      <c:spPr>
        <a:noFill/>
        <a:ln>
          <a:noFill/>
        </a:ln>
        <a:effectLst/>
      </c:spPr>
    </c:plotArea>
    <c:legend>
      <c:legendPos val="r"/>
      <c:layout>
        <c:manualLayout>
          <c:xMode val="edge"/>
          <c:yMode val="edge"/>
          <c:x val="0.82697168407983757"/>
          <c:y val="0.21174893223041946"/>
          <c:w val="0.16049679774402087"/>
          <c:h val="0.71809548246054755"/>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rgbClr val="000000">
                    <a:lumMod val="65000"/>
                    <a:lumOff val="35000"/>
                  </a:srgbClr>
                </a:solidFill>
                <a:latin typeface="+mn-lt"/>
                <a:ea typeface="+mn-ea"/>
                <a:cs typeface="+mn-cs"/>
              </a:defRPr>
            </a:pPr>
            <a:r>
              <a:rPr lang="fr-FR" sz="1400" b="0" i="0" u="none" strike="noStrike" kern="1200" spc="0" baseline="0" dirty="0">
                <a:solidFill>
                  <a:srgbClr val="000000">
                    <a:lumMod val="65000"/>
                    <a:lumOff val="35000"/>
                  </a:srgbClr>
                </a:solidFill>
              </a:rPr>
              <a:t>Evolution des quantités expédiées et réceptionnées</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rgbClr val="000000">
                  <a:lumMod val="65000"/>
                  <a:lumOff val="35000"/>
                </a:srgbClr>
              </a:solidFill>
              <a:latin typeface="+mn-lt"/>
              <a:ea typeface="+mn-ea"/>
              <a:cs typeface="+mn-cs"/>
            </a:defRPr>
          </a:pPr>
          <a:endParaRPr lang="fr-FR"/>
        </a:p>
      </c:txPr>
    </c:title>
    <c:autoTitleDeleted val="0"/>
    <c:plotArea>
      <c:layout/>
      <c:barChart>
        <c:barDir val="col"/>
        <c:grouping val="clustered"/>
        <c:varyColors val="0"/>
        <c:ser>
          <c:idx val="0"/>
          <c:order val="0"/>
          <c:tx>
            <c:strRef>
              <c:f>Réception_Expédition!$K$2</c:f>
              <c:strCache>
                <c:ptCount val="1"/>
                <c:pt idx="0">
                  <c:v>Expéditions</c:v>
                </c:pt>
              </c:strCache>
            </c:strRef>
          </c:tx>
          <c:spPr>
            <a:solidFill>
              <a:schemeClr val="accent1"/>
            </a:solidFill>
            <a:ln>
              <a:noFill/>
            </a:ln>
            <a:effectLst/>
          </c:spPr>
          <c:invertIfNegative val="0"/>
          <c:cat>
            <c:strRef>
              <c:f>Réception_Expédition!$J$3:$J$47</c:f>
              <c:strCache>
                <c:ptCount val="40"/>
                <c:pt idx="0">
                  <c:v>202205BOULANGERIE</c:v>
                </c:pt>
                <c:pt idx="1">
                  <c:v>202205CREMERIE</c:v>
                </c:pt>
                <c:pt idx="2">
                  <c:v>202205EMBALLAGES</c:v>
                </c:pt>
                <c:pt idx="3">
                  <c:v>202205MIX LEGUMES</c:v>
                </c:pt>
                <c:pt idx="4">
                  <c:v>202205VOLAILLE</c:v>
                </c:pt>
                <c:pt idx="5">
                  <c:v>202206BOULANGERIE</c:v>
                </c:pt>
                <c:pt idx="6">
                  <c:v>202206CREMERIE</c:v>
                </c:pt>
                <c:pt idx="7">
                  <c:v>202206EMBALLAGES</c:v>
                </c:pt>
                <c:pt idx="8">
                  <c:v>202206MIX LEGUMES</c:v>
                </c:pt>
                <c:pt idx="9">
                  <c:v>202206VOLAILLE</c:v>
                </c:pt>
                <c:pt idx="10">
                  <c:v>202207BOULANGERIE</c:v>
                </c:pt>
                <c:pt idx="11">
                  <c:v>202207CREMERIE</c:v>
                </c:pt>
                <c:pt idx="12">
                  <c:v>202207EMBALLAGES</c:v>
                </c:pt>
                <c:pt idx="13">
                  <c:v>202207MIX LEGUMES</c:v>
                </c:pt>
                <c:pt idx="14">
                  <c:v>202207VOLAILLE</c:v>
                </c:pt>
                <c:pt idx="15">
                  <c:v>202208BOULANGERIE</c:v>
                </c:pt>
                <c:pt idx="16">
                  <c:v>202208CREMERIE</c:v>
                </c:pt>
                <c:pt idx="17">
                  <c:v>202208EMBALLAGES</c:v>
                </c:pt>
                <c:pt idx="18">
                  <c:v>202208MIX LEGUMES</c:v>
                </c:pt>
                <c:pt idx="19">
                  <c:v>202208VOLAILLE</c:v>
                </c:pt>
                <c:pt idx="20">
                  <c:v>202209BOULANGERIE</c:v>
                </c:pt>
                <c:pt idx="21">
                  <c:v>202209CREMERIE</c:v>
                </c:pt>
                <c:pt idx="22">
                  <c:v>202209EMBALLAGES</c:v>
                </c:pt>
                <c:pt idx="23">
                  <c:v>202209MIX LEGUMES</c:v>
                </c:pt>
                <c:pt idx="24">
                  <c:v>202209VOLAILLE</c:v>
                </c:pt>
                <c:pt idx="25">
                  <c:v>202210BOULANGERIE</c:v>
                </c:pt>
                <c:pt idx="26">
                  <c:v>202210CREMERIE</c:v>
                </c:pt>
                <c:pt idx="27">
                  <c:v>202210EMBALLAGES</c:v>
                </c:pt>
                <c:pt idx="28">
                  <c:v>202210MIX LEGUMES</c:v>
                </c:pt>
                <c:pt idx="29">
                  <c:v>202210VOLAILLE</c:v>
                </c:pt>
                <c:pt idx="30">
                  <c:v>202211BOULANGERIE</c:v>
                </c:pt>
                <c:pt idx="31">
                  <c:v>202211CREMERIE</c:v>
                </c:pt>
                <c:pt idx="32">
                  <c:v>202211EMBALLAGES</c:v>
                </c:pt>
                <c:pt idx="33">
                  <c:v>202211MIX LEGUMES</c:v>
                </c:pt>
                <c:pt idx="34">
                  <c:v>202211VOLAILLE</c:v>
                </c:pt>
                <c:pt idx="35">
                  <c:v>202212BOULANGERIE</c:v>
                </c:pt>
                <c:pt idx="36">
                  <c:v>202212CREMERIE</c:v>
                </c:pt>
                <c:pt idx="37">
                  <c:v>202212EMBALLAGES</c:v>
                </c:pt>
                <c:pt idx="38">
                  <c:v>202212MIX LEGUMES</c:v>
                </c:pt>
                <c:pt idx="39">
                  <c:v>202212VOLAILLE</c:v>
                </c:pt>
              </c:strCache>
            </c:strRef>
          </c:cat>
          <c:val>
            <c:numRef>
              <c:f>Réception_Expédition!$K$3:$K$47</c:f>
              <c:numCache>
                <c:formatCode>General</c:formatCode>
                <c:ptCount val="45"/>
                <c:pt idx="0">
                  <c:v>75248</c:v>
                </c:pt>
                <c:pt idx="1">
                  <c:v>211586</c:v>
                </c:pt>
                <c:pt idx="2">
                  <c:v>2468</c:v>
                </c:pt>
                <c:pt idx="3">
                  <c:v>180339</c:v>
                </c:pt>
                <c:pt idx="4">
                  <c:v>160852</c:v>
                </c:pt>
                <c:pt idx="5">
                  <c:v>97167</c:v>
                </c:pt>
                <c:pt idx="6">
                  <c:v>326406</c:v>
                </c:pt>
                <c:pt idx="7">
                  <c:v>2861</c:v>
                </c:pt>
                <c:pt idx="8">
                  <c:v>217138</c:v>
                </c:pt>
                <c:pt idx="9">
                  <c:v>223921</c:v>
                </c:pt>
                <c:pt idx="10">
                  <c:v>18409</c:v>
                </c:pt>
                <c:pt idx="11">
                  <c:v>156011</c:v>
                </c:pt>
                <c:pt idx="12">
                  <c:v>1139</c:v>
                </c:pt>
                <c:pt idx="13">
                  <c:v>102008</c:v>
                </c:pt>
                <c:pt idx="14">
                  <c:v>99869</c:v>
                </c:pt>
                <c:pt idx="15">
                  <c:v>21848</c:v>
                </c:pt>
                <c:pt idx="16">
                  <c:v>203142</c:v>
                </c:pt>
                <c:pt idx="17">
                  <c:v>1458</c:v>
                </c:pt>
                <c:pt idx="18">
                  <c:v>124671</c:v>
                </c:pt>
                <c:pt idx="19">
                  <c:v>152330</c:v>
                </c:pt>
                <c:pt idx="20">
                  <c:v>82400</c:v>
                </c:pt>
                <c:pt idx="21">
                  <c:v>282669</c:v>
                </c:pt>
                <c:pt idx="22">
                  <c:v>3079</c:v>
                </c:pt>
                <c:pt idx="23">
                  <c:v>145067</c:v>
                </c:pt>
                <c:pt idx="24">
                  <c:v>198320</c:v>
                </c:pt>
                <c:pt idx="25">
                  <c:v>81479</c:v>
                </c:pt>
                <c:pt idx="26">
                  <c:v>306738</c:v>
                </c:pt>
                <c:pt idx="27">
                  <c:v>3217</c:v>
                </c:pt>
                <c:pt idx="28">
                  <c:v>169908</c:v>
                </c:pt>
                <c:pt idx="29">
                  <c:v>250822</c:v>
                </c:pt>
                <c:pt idx="30">
                  <c:v>86456</c:v>
                </c:pt>
                <c:pt idx="31">
                  <c:v>321679</c:v>
                </c:pt>
                <c:pt idx="32">
                  <c:v>3819</c:v>
                </c:pt>
                <c:pt idx="33">
                  <c:v>160318</c:v>
                </c:pt>
                <c:pt idx="34">
                  <c:v>224523</c:v>
                </c:pt>
                <c:pt idx="35">
                  <c:v>85156</c:v>
                </c:pt>
                <c:pt idx="36">
                  <c:v>323654</c:v>
                </c:pt>
                <c:pt idx="37">
                  <c:v>2802</c:v>
                </c:pt>
                <c:pt idx="38">
                  <c:v>165754</c:v>
                </c:pt>
                <c:pt idx="39">
                  <c:v>224096</c:v>
                </c:pt>
              </c:numCache>
            </c:numRef>
          </c:val>
          <c:extLst>
            <c:ext xmlns:c16="http://schemas.microsoft.com/office/drawing/2014/chart" uri="{C3380CC4-5D6E-409C-BE32-E72D297353CC}">
              <c16:uniqueId val="{00000000-4E7F-5740-B52C-5A5D388F3C6E}"/>
            </c:ext>
          </c:extLst>
        </c:ser>
        <c:dLbls>
          <c:showLegendKey val="0"/>
          <c:showVal val="0"/>
          <c:showCatName val="0"/>
          <c:showSerName val="0"/>
          <c:showPercent val="0"/>
          <c:showBubbleSize val="0"/>
        </c:dLbls>
        <c:gapWidth val="150"/>
        <c:axId val="826577695"/>
        <c:axId val="834644895"/>
      </c:barChart>
      <c:lineChart>
        <c:grouping val="standard"/>
        <c:varyColors val="0"/>
        <c:ser>
          <c:idx val="1"/>
          <c:order val="1"/>
          <c:tx>
            <c:strRef>
              <c:f>Réception_Expédition!$L$2</c:f>
              <c:strCache>
                <c:ptCount val="1"/>
                <c:pt idx="0">
                  <c:v>Réceptions</c:v>
                </c:pt>
              </c:strCache>
            </c:strRef>
          </c:tx>
          <c:spPr>
            <a:ln w="28575" cap="rnd">
              <a:solidFill>
                <a:schemeClr val="accent2"/>
              </a:solidFill>
              <a:round/>
            </a:ln>
            <a:effectLst/>
          </c:spPr>
          <c:marker>
            <c:symbol val="none"/>
          </c:marker>
          <c:cat>
            <c:strRef>
              <c:f>Réception_Expédition!$J$3:$J$47</c:f>
              <c:strCache>
                <c:ptCount val="40"/>
                <c:pt idx="0">
                  <c:v>202205BOULANGERIE</c:v>
                </c:pt>
                <c:pt idx="1">
                  <c:v>202205CREMERIE</c:v>
                </c:pt>
                <c:pt idx="2">
                  <c:v>202205EMBALLAGES</c:v>
                </c:pt>
                <c:pt idx="3">
                  <c:v>202205MIX LEGUMES</c:v>
                </c:pt>
                <c:pt idx="4">
                  <c:v>202205VOLAILLE</c:v>
                </c:pt>
                <c:pt idx="5">
                  <c:v>202206BOULANGERIE</c:v>
                </c:pt>
                <c:pt idx="6">
                  <c:v>202206CREMERIE</c:v>
                </c:pt>
                <c:pt idx="7">
                  <c:v>202206EMBALLAGES</c:v>
                </c:pt>
                <c:pt idx="8">
                  <c:v>202206MIX LEGUMES</c:v>
                </c:pt>
                <c:pt idx="9">
                  <c:v>202206VOLAILLE</c:v>
                </c:pt>
                <c:pt idx="10">
                  <c:v>202207BOULANGERIE</c:v>
                </c:pt>
                <c:pt idx="11">
                  <c:v>202207CREMERIE</c:v>
                </c:pt>
                <c:pt idx="12">
                  <c:v>202207EMBALLAGES</c:v>
                </c:pt>
                <c:pt idx="13">
                  <c:v>202207MIX LEGUMES</c:v>
                </c:pt>
                <c:pt idx="14">
                  <c:v>202207VOLAILLE</c:v>
                </c:pt>
                <c:pt idx="15">
                  <c:v>202208BOULANGERIE</c:v>
                </c:pt>
                <c:pt idx="16">
                  <c:v>202208CREMERIE</c:v>
                </c:pt>
                <c:pt idx="17">
                  <c:v>202208EMBALLAGES</c:v>
                </c:pt>
                <c:pt idx="18">
                  <c:v>202208MIX LEGUMES</c:v>
                </c:pt>
                <c:pt idx="19">
                  <c:v>202208VOLAILLE</c:v>
                </c:pt>
                <c:pt idx="20">
                  <c:v>202209BOULANGERIE</c:v>
                </c:pt>
                <c:pt idx="21">
                  <c:v>202209CREMERIE</c:v>
                </c:pt>
                <c:pt idx="22">
                  <c:v>202209EMBALLAGES</c:v>
                </c:pt>
                <c:pt idx="23">
                  <c:v>202209MIX LEGUMES</c:v>
                </c:pt>
                <c:pt idx="24">
                  <c:v>202209VOLAILLE</c:v>
                </c:pt>
                <c:pt idx="25">
                  <c:v>202210BOULANGERIE</c:v>
                </c:pt>
                <c:pt idx="26">
                  <c:v>202210CREMERIE</c:v>
                </c:pt>
                <c:pt idx="27">
                  <c:v>202210EMBALLAGES</c:v>
                </c:pt>
                <c:pt idx="28">
                  <c:v>202210MIX LEGUMES</c:v>
                </c:pt>
                <c:pt idx="29">
                  <c:v>202210VOLAILLE</c:v>
                </c:pt>
                <c:pt idx="30">
                  <c:v>202211BOULANGERIE</c:v>
                </c:pt>
                <c:pt idx="31">
                  <c:v>202211CREMERIE</c:v>
                </c:pt>
                <c:pt idx="32">
                  <c:v>202211EMBALLAGES</c:v>
                </c:pt>
                <c:pt idx="33">
                  <c:v>202211MIX LEGUMES</c:v>
                </c:pt>
                <c:pt idx="34">
                  <c:v>202211VOLAILLE</c:v>
                </c:pt>
                <c:pt idx="35">
                  <c:v>202212BOULANGERIE</c:v>
                </c:pt>
                <c:pt idx="36">
                  <c:v>202212CREMERIE</c:v>
                </c:pt>
                <c:pt idx="37">
                  <c:v>202212EMBALLAGES</c:v>
                </c:pt>
                <c:pt idx="38">
                  <c:v>202212MIX LEGUMES</c:v>
                </c:pt>
                <c:pt idx="39">
                  <c:v>202212VOLAILLE</c:v>
                </c:pt>
              </c:strCache>
            </c:strRef>
          </c:cat>
          <c:val>
            <c:numRef>
              <c:f>Réception_Expédition!$L$3:$L$47</c:f>
              <c:numCache>
                <c:formatCode>General</c:formatCode>
                <c:ptCount val="45"/>
                <c:pt idx="0">
                  <c:v>129404</c:v>
                </c:pt>
                <c:pt idx="1">
                  <c:v>227258</c:v>
                </c:pt>
                <c:pt idx="2">
                  <c:v>2423</c:v>
                </c:pt>
                <c:pt idx="3">
                  <c:v>284992</c:v>
                </c:pt>
                <c:pt idx="4">
                  <c:v>38325</c:v>
                </c:pt>
                <c:pt idx="5">
                  <c:v>49322</c:v>
                </c:pt>
                <c:pt idx="6">
                  <c:v>309197</c:v>
                </c:pt>
                <c:pt idx="7">
                  <c:v>1821</c:v>
                </c:pt>
                <c:pt idx="8">
                  <c:v>167665</c:v>
                </c:pt>
                <c:pt idx="9">
                  <c:v>114681</c:v>
                </c:pt>
                <c:pt idx="10">
                  <c:v>38328</c:v>
                </c:pt>
                <c:pt idx="11">
                  <c:v>160735</c:v>
                </c:pt>
                <c:pt idx="12">
                  <c:v>223</c:v>
                </c:pt>
                <c:pt idx="13">
                  <c:v>138418</c:v>
                </c:pt>
                <c:pt idx="14">
                  <c:v>36191</c:v>
                </c:pt>
                <c:pt idx="15">
                  <c:v>35499</c:v>
                </c:pt>
                <c:pt idx="16">
                  <c:v>263869</c:v>
                </c:pt>
                <c:pt idx="17">
                  <c:v>5286</c:v>
                </c:pt>
                <c:pt idx="18">
                  <c:v>168996</c:v>
                </c:pt>
                <c:pt idx="19">
                  <c:v>34449</c:v>
                </c:pt>
                <c:pt idx="20">
                  <c:v>93907</c:v>
                </c:pt>
                <c:pt idx="21">
                  <c:v>261388</c:v>
                </c:pt>
                <c:pt idx="22">
                  <c:v>1683</c:v>
                </c:pt>
                <c:pt idx="23">
                  <c:v>266025</c:v>
                </c:pt>
                <c:pt idx="24">
                  <c:v>62725</c:v>
                </c:pt>
                <c:pt idx="25">
                  <c:v>107127</c:v>
                </c:pt>
                <c:pt idx="26">
                  <c:v>344165</c:v>
                </c:pt>
                <c:pt idx="27">
                  <c:v>2740</c:v>
                </c:pt>
                <c:pt idx="28">
                  <c:v>322744</c:v>
                </c:pt>
                <c:pt idx="29">
                  <c:v>122199</c:v>
                </c:pt>
                <c:pt idx="30">
                  <c:v>86813</c:v>
                </c:pt>
                <c:pt idx="31">
                  <c:v>301152</c:v>
                </c:pt>
                <c:pt idx="32">
                  <c:v>5869</c:v>
                </c:pt>
                <c:pt idx="33">
                  <c:v>285198</c:v>
                </c:pt>
                <c:pt idx="34">
                  <c:v>109601</c:v>
                </c:pt>
                <c:pt idx="35">
                  <c:v>120105</c:v>
                </c:pt>
                <c:pt idx="36">
                  <c:v>359044</c:v>
                </c:pt>
                <c:pt idx="37">
                  <c:v>2693</c:v>
                </c:pt>
                <c:pt idx="38">
                  <c:v>279783</c:v>
                </c:pt>
                <c:pt idx="39">
                  <c:v>57991</c:v>
                </c:pt>
                <c:pt idx="44">
                  <c:v>0</c:v>
                </c:pt>
              </c:numCache>
            </c:numRef>
          </c:val>
          <c:smooth val="0"/>
          <c:extLst>
            <c:ext xmlns:c16="http://schemas.microsoft.com/office/drawing/2014/chart" uri="{C3380CC4-5D6E-409C-BE32-E72D297353CC}">
              <c16:uniqueId val="{00000001-4E7F-5740-B52C-5A5D388F3C6E}"/>
            </c:ext>
          </c:extLst>
        </c:ser>
        <c:dLbls>
          <c:showLegendKey val="0"/>
          <c:showVal val="0"/>
          <c:showCatName val="0"/>
          <c:showSerName val="0"/>
          <c:showPercent val="0"/>
          <c:showBubbleSize val="0"/>
        </c:dLbls>
        <c:marker val="1"/>
        <c:smooth val="0"/>
        <c:axId val="826577695"/>
        <c:axId val="834644895"/>
      </c:lineChart>
      <c:catAx>
        <c:axId val="826577695"/>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a:t>Dates-familles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834644895"/>
        <c:crosses val="autoZero"/>
        <c:auto val="1"/>
        <c:lblAlgn val="ctr"/>
        <c:lblOffset val="100"/>
        <c:noMultiLvlLbl val="0"/>
      </c:catAx>
      <c:valAx>
        <c:axId val="834644895"/>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a:t>Quantités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82657769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pivotSource>
    <c:name>[V2-P2.xlsx]Nb_Commandes_Réceptionnées!Tableau croisé dynamique33</c:name>
    <c:fmtId val="2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a:t>Nombre</a:t>
            </a:r>
            <a:r>
              <a:rPr lang="fr-FR" baseline="0"/>
              <a:t> de commandes réceptionnées</a:t>
            </a:r>
            <a:endParaRPr lang="fr-F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extLst>
        </c:dLbl>
      </c:pivotFmt>
      <c:pivotFmt>
        <c:idx val="1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extLst>
        </c:dLbl>
      </c:pivotFmt>
      <c:pivotFmt>
        <c:idx val="14"/>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extLst>
        </c:dLbl>
      </c:pivotFmt>
      <c:pivotFmt>
        <c:idx val="16"/>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7"/>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extLst>
        </c:dLbl>
      </c:pivotFmt>
      <c:pivotFmt>
        <c:idx val="18"/>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extLst>
        </c:dLbl>
      </c:pivotFmt>
      <c:pivotFmt>
        <c:idx val="19"/>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extLst>
        </c:dLbl>
      </c:pivotFmt>
      <c:pivotFmt>
        <c:idx val="2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extLst>
        </c:dLbl>
      </c:pivotFmt>
      <c:pivotFmt>
        <c:idx val="2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extLst>
        </c:dLbl>
      </c:pivotFmt>
      <c:pivotFmt>
        <c:idx val="2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extLst>
        </c:dLbl>
      </c:pivotFmt>
      <c:pivotFmt>
        <c:idx val="24"/>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Nb_Commandes_Réceptionnées!$B$3:$B$4</c:f>
              <c:strCache>
                <c:ptCount val="1"/>
                <c:pt idx="0">
                  <c:v>BOULANGERIE</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Nb_Commandes_Réceptionnées!$A$5:$A$14</c:f>
              <c:strCache>
                <c:ptCount val="9"/>
                <c:pt idx="0">
                  <c:v>202205</c:v>
                </c:pt>
                <c:pt idx="1">
                  <c:v>202206</c:v>
                </c:pt>
                <c:pt idx="2">
                  <c:v>202207</c:v>
                </c:pt>
                <c:pt idx="3">
                  <c:v>202208</c:v>
                </c:pt>
                <c:pt idx="4">
                  <c:v>202209</c:v>
                </c:pt>
                <c:pt idx="5">
                  <c:v>202210</c:v>
                </c:pt>
                <c:pt idx="6">
                  <c:v>202211</c:v>
                </c:pt>
                <c:pt idx="7">
                  <c:v>202212</c:v>
                </c:pt>
                <c:pt idx="8">
                  <c:v>202301</c:v>
                </c:pt>
              </c:strCache>
            </c:strRef>
          </c:cat>
          <c:val>
            <c:numRef>
              <c:f>Nb_Commandes_Réceptionnées!$B$5:$B$14</c:f>
              <c:numCache>
                <c:formatCode>General</c:formatCode>
                <c:ptCount val="9"/>
                <c:pt idx="0">
                  <c:v>33</c:v>
                </c:pt>
                <c:pt idx="1">
                  <c:v>19</c:v>
                </c:pt>
                <c:pt idx="2">
                  <c:v>18</c:v>
                </c:pt>
                <c:pt idx="3">
                  <c:v>18</c:v>
                </c:pt>
                <c:pt idx="4">
                  <c:v>44</c:v>
                </c:pt>
                <c:pt idx="5">
                  <c:v>41</c:v>
                </c:pt>
                <c:pt idx="6">
                  <c:v>33</c:v>
                </c:pt>
                <c:pt idx="7">
                  <c:v>39</c:v>
                </c:pt>
                <c:pt idx="8">
                  <c:v>36</c:v>
                </c:pt>
              </c:numCache>
            </c:numRef>
          </c:val>
          <c:extLst>
            <c:ext xmlns:c16="http://schemas.microsoft.com/office/drawing/2014/chart" uri="{C3380CC4-5D6E-409C-BE32-E72D297353CC}">
              <c16:uniqueId val="{00000000-8C31-9D46-950F-0C24C212A831}"/>
            </c:ext>
          </c:extLst>
        </c:ser>
        <c:ser>
          <c:idx val="1"/>
          <c:order val="1"/>
          <c:tx>
            <c:strRef>
              <c:f>Nb_Commandes_Réceptionnées!$C$3:$C$4</c:f>
              <c:strCache>
                <c:ptCount val="1"/>
                <c:pt idx="0">
                  <c:v>CREMERIE</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Nb_Commandes_Réceptionnées!$A$5:$A$14</c:f>
              <c:strCache>
                <c:ptCount val="9"/>
                <c:pt idx="0">
                  <c:v>202205</c:v>
                </c:pt>
                <c:pt idx="1">
                  <c:v>202206</c:v>
                </c:pt>
                <c:pt idx="2">
                  <c:v>202207</c:v>
                </c:pt>
                <c:pt idx="3">
                  <c:v>202208</c:v>
                </c:pt>
                <c:pt idx="4">
                  <c:v>202209</c:v>
                </c:pt>
                <c:pt idx="5">
                  <c:v>202210</c:v>
                </c:pt>
                <c:pt idx="6">
                  <c:v>202211</c:v>
                </c:pt>
                <c:pt idx="7">
                  <c:v>202212</c:v>
                </c:pt>
                <c:pt idx="8">
                  <c:v>202301</c:v>
                </c:pt>
              </c:strCache>
            </c:strRef>
          </c:cat>
          <c:val>
            <c:numRef>
              <c:f>Nb_Commandes_Réceptionnées!$C$5:$C$14</c:f>
              <c:numCache>
                <c:formatCode>General</c:formatCode>
                <c:ptCount val="9"/>
                <c:pt idx="0">
                  <c:v>139</c:v>
                </c:pt>
                <c:pt idx="1">
                  <c:v>147</c:v>
                </c:pt>
                <c:pt idx="2">
                  <c:v>135</c:v>
                </c:pt>
                <c:pt idx="3">
                  <c:v>171</c:v>
                </c:pt>
                <c:pt idx="4">
                  <c:v>147</c:v>
                </c:pt>
                <c:pt idx="5">
                  <c:v>164</c:v>
                </c:pt>
                <c:pt idx="6">
                  <c:v>151</c:v>
                </c:pt>
                <c:pt idx="7">
                  <c:v>167</c:v>
                </c:pt>
                <c:pt idx="8">
                  <c:v>122</c:v>
                </c:pt>
              </c:numCache>
            </c:numRef>
          </c:val>
          <c:extLst>
            <c:ext xmlns:c16="http://schemas.microsoft.com/office/drawing/2014/chart" uri="{C3380CC4-5D6E-409C-BE32-E72D297353CC}">
              <c16:uniqueId val="{00000001-8C31-9D46-950F-0C24C212A831}"/>
            </c:ext>
          </c:extLst>
        </c:ser>
        <c:ser>
          <c:idx val="2"/>
          <c:order val="2"/>
          <c:tx>
            <c:strRef>
              <c:f>Nb_Commandes_Réceptionnées!$D$3:$D$4</c:f>
              <c:strCache>
                <c:ptCount val="1"/>
                <c:pt idx="0">
                  <c:v>EMBALLAGES</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Nb_Commandes_Réceptionnées!$A$5:$A$14</c:f>
              <c:strCache>
                <c:ptCount val="9"/>
                <c:pt idx="0">
                  <c:v>202205</c:v>
                </c:pt>
                <c:pt idx="1">
                  <c:v>202206</c:v>
                </c:pt>
                <c:pt idx="2">
                  <c:v>202207</c:v>
                </c:pt>
                <c:pt idx="3">
                  <c:v>202208</c:v>
                </c:pt>
                <c:pt idx="4">
                  <c:v>202209</c:v>
                </c:pt>
                <c:pt idx="5">
                  <c:v>202210</c:v>
                </c:pt>
                <c:pt idx="6">
                  <c:v>202211</c:v>
                </c:pt>
                <c:pt idx="7">
                  <c:v>202212</c:v>
                </c:pt>
                <c:pt idx="8">
                  <c:v>202301</c:v>
                </c:pt>
              </c:strCache>
            </c:strRef>
          </c:cat>
          <c:val>
            <c:numRef>
              <c:f>Nb_Commandes_Réceptionnées!$D$5:$D$14</c:f>
              <c:numCache>
                <c:formatCode>General</c:formatCode>
                <c:ptCount val="9"/>
                <c:pt idx="0">
                  <c:v>5</c:v>
                </c:pt>
                <c:pt idx="1">
                  <c:v>8</c:v>
                </c:pt>
                <c:pt idx="2">
                  <c:v>1</c:v>
                </c:pt>
                <c:pt idx="3">
                  <c:v>5</c:v>
                </c:pt>
                <c:pt idx="4">
                  <c:v>3</c:v>
                </c:pt>
                <c:pt idx="5">
                  <c:v>6</c:v>
                </c:pt>
                <c:pt idx="6">
                  <c:v>8</c:v>
                </c:pt>
                <c:pt idx="7">
                  <c:v>4</c:v>
                </c:pt>
                <c:pt idx="8">
                  <c:v>1</c:v>
                </c:pt>
              </c:numCache>
            </c:numRef>
          </c:val>
          <c:extLst>
            <c:ext xmlns:c16="http://schemas.microsoft.com/office/drawing/2014/chart" uri="{C3380CC4-5D6E-409C-BE32-E72D297353CC}">
              <c16:uniqueId val="{00000002-8C31-9D46-950F-0C24C212A831}"/>
            </c:ext>
          </c:extLst>
        </c:ser>
        <c:ser>
          <c:idx val="3"/>
          <c:order val="3"/>
          <c:tx>
            <c:strRef>
              <c:f>Nb_Commandes_Réceptionnées!$E$3:$E$4</c:f>
              <c:strCache>
                <c:ptCount val="1"/>
                <c:pt idx="0">
                  <c:v>MIX LEGUMES</c:v>
                </c:pt>
              </c:strCache>
            </c:strRef>
          </c:tx>
          <c:spPr>
            <a:solidFill>
              <a:schemeClr val="accent6">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Nb_Commandes_Réceptionnées!$A$5:$A$14</c:f>
              <c:strCache>
                <c:ptCount val="9"/>
                <c:pt idx="0">
                  <c:v>202205</c:v>
                </c:pt>
                <c:pt idx="1">
                  <c:v>202206</c:v>
                </c:pt>
                <c:pt idx="2">
                  <c:v>202207</c:v>
                </c:pt>
                <c:pt idx="3">
                  <c:v>202208</c:v>
                </c:pt>
                <c:pt idx="4">
                  <c:v>202209</c:v>
                </c:pt>
                <c:pt idx="5">
                  <c:v>202210</c:v>
                </c:pt>
                <c:pt idx="6">
                  <c:v>202211</c:v>
                </c:pt>
                <c:pt idx="7">
                  <c:v>202212</c:v>
                </c:pt>
                <c:pt idx="8">
                  <c:v>202301</c:v>
                </c:pt>
              </c:strCache>
            </c:strRef>
          </c:cat>
          <c:val>
            <c:numRef>
              <c:f>Nb_Commandes_Réceptionnées!$E$5:$E$14</c:f>
              <c:numCache>
                <c:formatCode>General</c:formatCode>
                <c:ptCount val="9"/>
                <c:pt idx="0">
                  <c:v>54</c:v>
                </c:pt>
                <c:pt idx="1">
                  <c:v>39</c:v>
                </c:pt>
                <c:pt idx="2">
                  <c:v>24</c:v>
                </c:pt>
                <c:pt idx="3">
                  <c:v>36</c:v>
                </c:pt>
                <c:pt idx="4">
                  <c:v>46</c:v>
                </c:pt>
                <c:pt idx="5">
                  <c:v>55</c:v>
                </c:pt>
                <c:pt idx="6">
                  <c:v>37</c:v>
                </c:pt>
                <c:pt idx="7">
                  <c:v>45</c:v>
                </c:pt>
                <c:pt idx="8">
                  <c:v>36</c:v>
                </c:pt>
              </c:numCache>
            </c:numRef>
          </c:val>
          <c:extLst>
            <c:ext xmlns:c16="http://schemas.microsoft.com/office/drawing/2014/chart" uri="{C3380CC4-5D6E-409C-BE32-E72D297353CC}">
              <c16:uniqueId val="{00000003-8C31-9D46-950F-0C24C212A831}"/>
            </c:ext>
          </c:extLst>
        </c:ser>
        <c:ser>
          <c:idx val="4"/>
          <c:order val="4"/>
          <c:tx>
            <c:strRef>
              <c:f>Nb_Commandes_Réceptionnées!$F$3:$F$4</c:f>
              <c:strCache>
                <c:ptCount val="1"/>
                <c:pt idx="0">
                  <c:v>VOLAILLE</c:v>
                </c:pt>
              </c:strCache>
            </c:strRef>
          </c:tx>
          <c:spPr>
            <a:solidFill>
              <a:schemeClr val="accent5">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Nb_Commandes_Réceptionnées!$A$5:$A$14</c:f>
              <c:strCache>
                <c:ptCount val="9"/>
                <c:pt idx="0">
                  <c:v>202205</c:v>
                </c:pt>
                <c:pt idx="1">
                  <c:v>202206</c:v>
                </c:pt>
                <c:pt idx="2">
                  <c:v>202207</c:v>
                </c:pt>
                <c:pt idx="3">
                  <c:v>202208</c:v>
                </c:pt>
                <c:pt idx="4">
                  <c:v>202209</c:v>
                </c:pt>
                <c:pt idx="5">
                  <c:v>202210</c:v>
                </c:pt>
                <c:pt idx="6">
                  <c:v>202211</c:v>
                </c:pt>
                <c:pt idx="7">
                  <c:v>202212</c:v>
                </c:pt>
                <c:pt idx="8">
                  <c:v>202301</c:v>
                </c:pt>
              </c:strCache>
            </c:strRef>
          </c:cat>
          <c:val>
            <c:numRef>
              <c:f>Nb_Commandes_Réceptionnées!$F$5:$F$14</c:f>
              <c:numCache>
                <c:formatCode>General</c:formatCode>
                <c:ptCount val="9"/>
                <c:pt idx="0">
                  <c:v>10</c:v>
                </c:pt>
                <c:pt idx="1">
                  <c:v>22</c:v>
                </c:pt>
                <c:pt idx="2">
                  <c:v>7</c:v>
                </c:pt>
                <c:pt idx="3">
                  <c:v>12</c:v>
                </c:pt>
                <c:pt idx="4">
                  <c:v>16</c:v>
                </c:pt>
                <c:pt idx="5">
                  <c:v>24</c:v>
                </c:pt>
                <c:pt idx="6">
                  <c:v>9</c:v>
                </c:pt>
                <c:pt idx="7">
                  <c:v>10</c:v>
                </c:pt>
                <c:pt idx="8">
                  <c:v>11</c:v>
                </c:pt>
              </c:numCache>
            </c:numRef>
          </c:val>
          <c:extLst>
            <c:ext xmlns:c16="http://schemas.microsoft.com/office/drawing/2014/chart" uri="{C3380CC4-5D6E-409C-BE32-E72D297353CC}">
              <c16:uniqueId val="{00000004-8C31-9D46-950F-0C24C212A831}"/>
            </c:ext>
          </c:extLst>
        </c:ser>
        <c:dLbls>
          <c:showLegendKey val="0"/>
          <c:showVal val="0"/>
          <c:showCatName val="0"/>
          <c:showSerName val="0"/>
          <c:showPercent val="0"/>
          <c:showBubbleSize val="0"/>
        </c:dLbls>
        <c:gapWidth val="219"/>
        <c:overlap val="100"/>
        <c:axId val="900568703"/>
        <c:axId val="624046175"/>
      </c:barChart>
      <c:catAx>
        <c:axId val="900568703"/>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a:t>Mois</a:t>
                </a:r>
                <a:r>
                  <a:rPr lang="fr-FR" baseline="0"/>
                  <a:t> de réception</a:t>
                </a:r>
                <a:endParaRPr lang="fr-F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624046175"/>
        <c:crosses val="autoZero"/>
        <c:auto val="1"/>
        <c:lblAlgn val="ctr"/>
        <c:lblOffset val="100"/>
        <c:noMultiLvlLbl val="0"/>
      </c:catAx>
      <c:valAx>
        <c:axId val="624046175"/>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a:t>Nombre</a:t>
                </a:r>
                <a:r>
                  <a:rPr lang="fr-FR" baseline="0"/>
                  <a:t> de commandes</a:t>
                </a:r>
                <a:endParaRPr lang="fr-F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90056870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Introduction-sommaire</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Les 3 familles ayant les évolutions les plus fortes sont : Boulangerie, crèmerie et mix légumes. De plus, on observe une hausse 138k en UVC en moyenne et de 66,6% du stock sur la période de mai et janvier</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8537902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 name="Google Shape;68;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solidFill>
                  <a:schemeClr val="tx1"/>
                </a:solidFill>
                <a:latin typeface="Arial" panose="020B0604020202020204" pitchFamily="34" charset="0"/>
                <a:ea typeface="Montserrat"/>
                <a:cs typeface="Arial" panose="020B0604020202020204" pitchFamily="34" charset="0"/>
                <a:sym typeface="Montserrat"/>
              </a:rPr>
              <a:t>On peut observer une baisse du prix moyen -9,4% et de -2,85</a:t>
            </a:r>
            <a:r>
              <a:rPr lang="fr-FR" baseline="30000" dirty="0">
                <a:solidFill>
                  <a:schemeClr val="tx1"/>
                </a:solidFill>
                <a:latin typeface="Arial" panose="020B0604020202020204" pitchFamily="34" charset="0"/>
                <a:ea typeface="Montserrat"/>
                <a:cs typeface="Arial" panose="020B0604020202020204" pitchFamily="34" charset="0"/>
                <a:sym typeface="Montserrat"/>
              </a:rPr>
              <a:t>e</a:t>
            </a:r>
            <a:r>
              <a:rPr lang="fr-FR" dirty="0">
                <a:solidFill>
                  <a:schemeClr val="tx1"/>
                </a:solidFill>
                <a:latin typeface="Arial" panose="020B0604020202020204" pitchFamily="34" charset="0"/>
                <a:ea typeface="Montserrat"/>
                <a:cs typeface="Arial" panose="020B0604020202020204" pitchFamily="34" charset="0"/>
                <a:sym typeface="Montserrat"/>
              </a:rPr>
              <a:t>. D’après les 3 familles cité juste avant (Boulangerie -4,6%, Crèmerie +44% et Mix légumes +23% </a:t>
            </a:r>
            <a:r>
              <a:rPr lang="fr-FR" dirty="0" err="1">
                <a:solidFill>
                  <a:schemeClr val="tx1"/>
                </a:solidFill>
                <a:latin typeface="Arial" panose="020B0604020202020204" pitchFamily="34" charset="0"/>
                <a:ea typeface="Montserrat"/>
                <a:cs typeface="Arial" panose="020B0604020202020204" pitchFamily="34" charset="0"/>
                <a:sym typeface="Montserrat"/>
              </a:rPr>
              <a:t>cf</a:t>
            </a:r>
            <a:r>
              <a:rPr lang="fr-FR" dirty="0">
                <a:solidFill>
                  <a:schemeClr val="tx1"/>
                </a:solidFill>
                <a:latin typeface="Arial" panose="020B0604020202020204" pitchFamily="34" charset="0"/>
                <a:ea typeface="Montserrat"/>
                <a:cs typeface="Arial" panose="020B0604020202020204" pitchFamily="34" charset="0"/>
                <a:sym typeface="Montserrat"/>
              </a:rPr>
              <a:t> tableau à la fin) Hausse de la valeur du prix moyen pondéré n’est pas lié à la hausse des prix mais à la hausse des quantités. </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 name="Google Shape;77;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solidFill>
                  <a:schemeClr val="tx1"/>
                </a:solidFill>
                <a:latin typeface="Arial" panose="020B0604020202020204" pitchFamily="34" charset="0"/>
                <a:ea typeface="Montserrat"/>
                <a:cs typeface="Arial" panose="020B0604020202020204" pitchFamily="34" charset="0"/>
                <a:sym typeface="Montserrat"/>
              </a:rPr>
              <a:t>On peut voir sur la période que les familles emballages, crèmerie et boulangerie sont en hausse. A l’inverse, les familles mix légumes et volaille sont en baisse. + de 7 références de plus en janvier vs mai.</a:t>
            </a:r>
            <a:r>
              <a:rPr lang="fr-FR" sz="1800" dirty="0">
                <a:effectLst/>
                <a:latin typeface="Calibri" panose="020F0502020204030204" pitchFamily="34" charset="0"/>
                <a:ea typeface="Calibri" panose="020F0502020204030204" pitchFamily="34" charset="0"/>
                <a:cs typeface="Times New Roman" panose="02020603050405020304" pitchFamily="18" charset="0"/>
              </a:rPr>
              <a:t> Sur les 3 familles identifiées 2 ont a elles celles +8 en nombre de réf (Boulangerie et Crèmerie)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fr-FR" dirty="0">
              <a:solidFill>
                <a:schemeClr val="tx1"/>
              </a:solidFill>
              <a:latin typeface="Arial" panose="020B0604020202020204" pitchFamily="34" charset="0"/>
              <a:ea typeface="Montserrat"/>
              <a:cs typeface="Arial" panose="020B0604020202020204" pitchFamily="34" charset="0"/>
              <a:sym typeface="Montserrat"/>
            </a:endParaRP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 name="Google Shape;86;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solidFill>
                  <a:schemeClr val="tx1"/>
                </a:solidFill>
                <a:latin typeface="Arial" panose="020B0604020202020204" pitchFamily="34" charset="0"/>
                <a:ea typeface="Montserrat"/>
                <a:cs typeface="Arial" panose="020B0604020202020204" pitchFamily="34" charset="0"/>
                <a:sym typeface="Montserrat"/>
              </a:rPr>
              <a:t>On peut observer l’écart entre l’ensemble des expéditions et des réceptions. On génère clairement du stock car réception est supérieur à l’expédition</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13f9e8f1567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g13f9e8f1567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100" dirty="0">
                <a:solidFill>
                  <a:schemeClr val="tx1"/>
                </a:solidFill>
                <a:latin typeface="Arial" panose="020B0604020202020204" pitchFamily="34" charset="0"/>
                <a:ea typeface="Montserrat"/>
                <a:cs typeface="Arial" panose="020B0604020202020204" pitchFamily="34" charset="0"/>
                <a:sym typeface="Montserrat"/>
              </a:rPr>
              <a:t>On peut remarquer une baisse de 14,5% du volume de commandes réceptionnées sur la période</a:t>
            </a:r>
            <a:r>
              <a:rPr lang="fr-FR" dirty="0">
                <a:solidFill>
                  <a:schemeClr val="tx1"/>
                </a:solidFill>
                <a:latin typeface="Arial" panose="020B0604020202020204" pitchFamily="34" charset="0"/>
                <a:ea typeface="Montserrat"/>
                <a:cs typeface="Arial" panose="020B0604020202020204" pitchFamily="34" charset="0"/>
                <a:sym typeface="Montserrat"/>
              </a:rPr>
              <a:t>. 35 commandes en moins en janvier vs mai</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1644a70ef9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 name="Google Shape;106;g1644a70ef9a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solidFill>
                  <a:schemeClr val="tx1"/>
                </a:solidFill>
                <a:latin typeface="Arial" panose="020B0604020202020204" pitchFamily="34" charset="0"/>
                <a:ea typeface="Montserrat"/>
                <a:cs typeface="Arial" panose="020B0604020202020204" pitchFamily="34" charset="0"/>
                <a:sym typeface="Montserrat"/>
              </a:rPr>
              <a:t>On note une baisse du taux de service en ce début d’année 2023 comparé au mois de mai 2022. Sur la période, le taux de service à baissé de 6,91 points. Nous devrions faire remonter l’information aux fournisseurs (possible baisse de commandes conformes)</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1644a70ef9a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 name="Google Shape;115;g1644a70ef9a_0_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fr-FR" dirty="0"/>
              <a:t>Tableau regroupant les principales informations sur le top 3 des familles de produits avec la plus importante évolution de stock en UVC. Attention ici le tableau concerne le top 3 en valeur/quantité et non en % (parce que sinon le top 3 serait boulangerie, emballages (+160%) et crèmerie)</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1644a70ef9a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 name="Google Shape;115;g1644a70ef9a_0_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694751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0"/>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0"/>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1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1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12"/>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13"/>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13"/>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15"/>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15"/>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16"/>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7"/>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7"/>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17"/>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17"/>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8"/>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9"/>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9"/>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6" name="Google Shape;56;p1"/>
          <p:cNvSpPr txBox="1"/>
          <p:nvPr/>
        </p:nvSpPr>
        <p:spPr>
          <a:xfrm>
            <a:off x="4968964" y="4368058"/>
            <a:ext cx="3807680" cy="53415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Clr>
                <a:srgbClr val="000000"/>
              </a:buClr>
              <a:buSzPct val="100000"/>
              <a:buFont typeface="Arial"/>
              <a:buNone/>
            </a:pPr>
            <a:r>
              <a:rPr lang="fr" sz="2000" dirty="0">
                <a:solidFill>
                  <a:schemeClr val="dk1"/>
                </a:solidFill>
                <a:latin typeface="Arial" panose="020B0604020202020204" pitchFamily="34" charset="0"/>
                <a:ea typeface="Montserrat"/>
                <a:cs typeface="Arial" panose="020B0604020202020204" pitchFamily="34" charset="0"/>
                <a:sym typeface="Montserrat"/>
              </a:rPr>
              <a:t>16/05/2024</a:t>
            </a:r>
            <a:endParaRPr sz="2800" u="none" strike="noStrike" cap="none" dirty="0">
              <a:solidFill>
                <a:schemeClr val="dk1"/>
              </a:solidFill>
              <a:latin typeface="Arial" panose="020B0604020202020204" pitchFamily="34" charset="0"/>
              <a:ea typeface="Montserrat"/>
              <a:cs typeface="Arial" panose="020B0604020202020204" pitchFamily="34" charset="0"/>
              <a:sym typeface="Montserrat"/>
            </a:endParaRPr>
          </a:p>
        </p:txBody>
      </p:sp>
      <p:sp>
        <p:nvSpPr>
          <p:cNvPr id="55" name="Google Shape;55;p1"/>
          <p:cNvSpPr txBox="1"/>
          <p:nvPr/>
        </p:nvSpPr>
        <p:spPr>
          <a:xfrm>
            <a:off x="4968964" y="3582148"/>
            <a:ext cx="3807680" cy="534150"/>
          </a:xfrm>
          <a:prstGeom prst="rect">
            <a:avLst/>
          </a:prstGeom>
          <a:noFill/>
          <a:ln>
            <a:noFill/>
          </a:ln>
        </p:spPr>
        <p:txBody>
          <a:bodyPr spcFirstLastPara="1" wrap="square" lIns="91425" tIns="91425" rIns="91425" bIns="91425" anchor="t" anchorCtr="0">
            <a:normAutofit fontScale="85000" lnSpcReduction="10000"/>
          </a:bodyPr>
          <a:lstStyle/>
          <a:p>
            <a:pPr marL="0" marR="0" lvl="0" indent="0" algn="ctr" rtl="0">
              <a:lnSpc>
                <a:spcPct val="100000"/>
              </a:lnSpc>
              <a:spcBef>
                <a:spcPts val="0"/>
              </a:spcBef>
              <a:spcAft>
                <a:spcPts val="0"/>
              </a:spcAft>
              <a:buClr>
                <a:srgbClr val="000000"/>
              </a:buClr>
              <a:buSzPct val="100000"/>
              <a:buFont typeface="Arial"/>
              <a:buNone/>
            </a:pPr>
            <a:r>
              <a:rPr lang="fr" sz="2800" u="none" strike="noStrike" cap="none" dirty="0" err="1">
                <a:solidFill>
                  <a:schemeClr val="dk1"/>
                </a:solidFill>
                <a:latin typeface="Arial" panose="020B0604020202020204" pitchFamily="34" charset="0"/>
                <a:ea typeface="Montserrat"/>
                <a:cs typeface="Arial" panose="020B0604020202020204" pitchFamily="34" charset="0"/>
                <a:sym typeface="Montserrat"/>
              </a:rPr>
              <a:t>Bénédy</a:t>
            </a:r>
            <a:r>
              <a:rPr lang="fr" sz="2800" u="none" strike="noStrike" cap="none" dirty="0">
                <a:solidFill>
                  <a:schemeClr val="dk1"/>
                </a:solidFill>
                <a:latin typeface="Arial" panose="020B0604020202020204" pitchFamily="34" charset="0"/>
                <a:ea typeface="Montserrat"/>
                <a:cs typeface="Arial" panose="020B0604020202020204" pitchFamily="34" charset="0"/>
                <a:sym typeface="Montserrat"/>
              </a:rPr>
              <a:t> JEAN-PHILIPPE</a:t>
            </a:r>
            <a:endParaRPr sz="2800" u="none" strike="noStrike" cap="none" dirty="0">
              <a:solidFill>
                <a:schemeClr val="dk1"/>
              </a:solidFill>
              <a:latin typeface="Arial" panose="020B0604020202020204" pitchFamily="34" charset="0"/>
              <a:ea typeface="Montserrat"/>
              <a:cs typeface="Arial" panose="020B0604020202020204" pitchFamily="34" charset="0"/>
              <a:sym typeface="Montserrat"/>
            </a:endParaRPr>
          </a:p>
        </p:txBody>
      </p:sp>
      <p:sp>
        <p:nvSpPr>
          <p:cNvPr id="2" name="Titre 1">
            <a:extLst>
              <a:ext uri="{FF2B5EF4-FFF2-40B4-BE49-F238E27FC236}">
                <a16:creationId xmlns:a16="http://schemas.microsoft.com/office/drawing/2014/main" id="{CFB800C7-350D-39D4-FAB8-61B0A30D46D7}"/>
              </a:ext>
            </a:extLst>
          </p:cNvPr>
          <p:cNvSpPr>
            <a:spLocks noGrp="1"/>
          </p:cNvSpPr>
          <p:nvPr>
            <p:ph type="ctrTitle"/>
          </p:nvPr>
        </p:nvSpPr>
        <p:spPr>
          <a:xfrm>
            <a:off x="311700" y="1595745"/>
            <a:ext cx="8520600" cy="2052600"/>
          </a:xfrm>
        </p:spPr>
        <p:txBody>
          <a:bodyPr/>
          <a:lstStyle/>
          <a:p>
            <a:r>
              <a:rPr lang="fr-FR" dirty="0">
                <a:latin typeface="Arial" panose="020B0604020202020204" pitchFamily="34" charset="0"/>
                <a:ea typeface="Montserrat"/>
                <a:cs typeface="Arial" panose="020B0604020202020204" pitchFamily="34" charset="0"/>
                <a:sym typeface="Montserrat"/>
              </a:rPr>
              <a:t>Best of </a:t>
            </a:r>
            <a:r>
              <a:rPr lang="fr-FR" dirty="0" err="1">
                <a:latin typeface="Arial" panose="020B0604020202020204" pitchFamily="34" charset="0"/>
                <a:ea typeface="Montserrat"/>
                <a:cs typeface="Arial" panose="020B0604020202020204" pitchFamily="34" charset="0"/>
                <a:sym typeface="Montserrat"/>
              </a:rPr>
              <a:t>Fresh</a:t>
            </a:r>
            <a:br>
              <a:rPr lang="fr-FR" dirty="0">
                <a:latin typeface="Arial" panose="020B0604020202020204" pitchFamily="34" charset="0"/>
                <a:ea typeface="Montserrat"/>
                <a:cs typeface="Arial" panose="020B0604020202020204" pitchFamily="34" charset="0"/>
                <a:sym typeface="Montserrat"/>
              </a:rPr>
            </a:br>
            <a:endParaRPr lang="fr-FR" dirty="0">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4">
            <a:extLst>
              <a:ext uri="{C183D7F6-B498-43B3-948B-1728B52AA6E4}">
                <adec:decorative xmlns:adec="http://schemas.microsoft.com/office/drawing/2017/decorative" val="1"/>
              </a:ext>
            </a:extLst>
          </p:cNvPr>
          <p:cNvSpPr/>
          <p:nvPr/>
        </p:nvSpPr>
        <p:spPr>
          <a:xfrm>
            <a:off x="0" y="-350"/>
            <a:ext cx="9144000" cy="1390200"/>
          </a:xfrm>
          <a:prstGeom prst="rect">
            <a:avLst/>
          </a:prstGeom>
          <a:solidFill>
            <a:srgbClr val="004D40"/>
          </a:solidFill>
          <a:ln w="9525" cap="flat" cmpd="sng">
            <a:solidFill>
              <a:srgbClr val="FFFFFF"/>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highlight>
                <a:srgbClr val="B6D7A8"/>
              </a:highlight>
              <a:latin typeface="Arial"/>
              <a:ea typeface="Arial"/>
              <a:cs typeface="Arial"/>
              <a:sym typeface="Arial"/>
            </a:endParaRPr>
          </a:p>
        </p:txBody>
      </p:sp>
      <p:sp>
        <p:nvSpPr>
          <p:cNvPr id="63" name="Google Shape;63;p4">
            <a:extLst>
              <a:ext uri="{C183D7F6-B498-43B3-948B-1728B52AA6E4}">
                <adec:decorative xmlns:adec="http://schemas.microsoft.com/office/drawing/2017/decorative" val="1"/>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4">
            <a:extLst>
              <a:ext uri="{C183D7F6-B498-43B3-948B-1728B52AA6E4}">
                <adec:decorative xmlns:adec="http://schemas.microsoft.com/office/drawing/2017/decorative" val="1"/>
              </a:ext>
            </a:extLst>
          </p:cNvPr>
          <p:cNvSpPr txBox="1">
            <a:spLocks noGrp="1"/>
          </p:cNvSpPr>
          <p:nvPr>
            <p:ph type="body" idx="1"/>
          </p:nvPr>
        </p:nvSpPr>
        <p:spPr>
          <a:xfrm>
            <a:off x="557275" y="1528600"/>
            <a:ext cx="6366000" cy="3416400"/>
          </a:xfrm>
          <a:prstGeom prst="rect">
            <a:avLst/>
          </a:prstGeom>
          <a:noFill/>
          <a:ln>
            <a:noFill/>
          </a:ln>
        </p:spPr>
        <p:txBody>
          <a:bodyPr spcFirstLastPara="1" wrap="square" lIns="91425" tIns="91425" rIns="91425" bIns="91425" anchor="t" anchorCtr="0">
            <a:normAutofit/>
          </a:bodyPr>
          <a:lstStyle/>
          <a:p>
            <a:pPr marL="0" marR="0" lvl="0" indent="0" algn="l" rtl="0">
              <a:lnSpc>
                <a:spcPct val="115000"/>
              </a:lnSpc>
              <a:spcBef>
                <a:spcPts val="0"/>
              </a:spcBef>
              <a:spcAft>
                <a:spcPts val="0"/>
              </a:spcAft>
              <a:buNone/>
            </a:pPr>
            <a:endParaRPr dirty="0">
              <a:solidFill>
                <a:srgbClr val="999999"/>
              </a:solidFill>
              <a:latin typeface="Arial" panose="020B0604020202020204" pitchFamily="34" charset="0"/>
              <a:ea typeface="Montserrat"/>
              <a:cs typeface="Arial" panose="020B0604020202020204" pitchFamily="34" charset="0"/>
              <a:sym typeface="Montserrat"/>
            </a:endParaRPr>
          </a:p>
          <a:p>
            <a:pPr marL="457200" marR="0" lvl="0" indent="0" algn="l" rtl="0">
              <a:lnSpc>
                <a:spcPct val="115000"/>
              </a:lnSpc>
              <a:spcBef>
                <a:spcPts val="0"/>
              </a:spcBef>
              <a:spcAft>
                <a:spcPts val="0"/>
              </a:spcAft>
              <a:buNone/>
            </a:pPr>
            <a:endParaRPr dirty="0">
              <a:solidFill>
                <a:srgbClr val="999999"/>
              </a:solidFill>
              <a:latin typeface="Arial" panose="020B0604020202020204" pitchFamily="34" charset="0"/>
              <a:ea typeface="Montserrat"/>
              <a:cs typeface="Arial" panose="020B0604020202020204" pitchFamily="34" charset="0"/>
              <a:sym typeface="Montserrat"/>
            </a:endParaRPr>
          </a:p>
        </p:txBody>
      </p:sp>
      <p:sp>
        <p:nvSpPr>
          <p:cNvPr id="3" name="Titre 2">
            <a:extLst>
              <a:ext uri="{FF2B5EF4-FFF2-40B4-BE49-F238E27FC236}">
                <a16:creationId xmlns:a16="http://schemas.microsoft.com/office/drawing/2014/main" id="{C227522E-CCCA-38C9-A554-096253C6FB1D}"/>
              </a:ext>
            </a:extLst>
          </p:cNvPr>
          <p:cNvSpPr>
            <a:spLocks noGrp="1"/>
          </p:cNvSpPr>
          <p:nvPr>
            <p:ph type="title"/>
          </p:nvPr>
        </p:nvSpPr>
        <p:spPr>
          <a:xfrm>
            <a:off x="906687" y="420650"/>
            <a:ext cx="8520600" cy="572700"/>
          </a:xfrm>
        </p:spPr>
        <p:txBody>
          <a:bodyPr>
            <a:normAutofit fontScale="90000"/>
          </a:bodyPr>
          <a:lstStyle/>
          <a:p>
            <a:r>
              <a:rPr lang="fr-FR" sz="2800" dirty="0">
                <a:solidFill>
                  <a:srgbClr val="F3F3F3"/>
                </a:solidFill>
                <a:latin typeface="Arial" panose="020B0604020202020204" pitchFamily="34" charset="0"/>
                <a:ea typeface="Montserrat"/>
                <a:cs typeface="Arial" panose="020B0604020202020204" pitchFamily="34" charset="0"/>
                <a:sym typeface="Montserrat"/>
              </a:rPr>
              <a:t>Sommaire</a:t>
            </a:r>
            <a:br>
              <a:rPr lang="fr-FR" sz="2800" dirty="0">
                <a:solidFill>
                  <a:srgbClr val="F3F3F3"/>
                </a:solidFill>
                <a:latin typeface="Arial" panose="020B0604020202020204" pitchFamily="34" charset="0"/>
                <a:ea typeface="Montserrat"/>
                <a:cs typeface="Arial" panose="020B0604020202020204" pitchFamily="34" charset="0"/>
                <a:sym typeface="Montserrat"/>
              </a:rPr>
            </a:br>
            <a:endParaRPr lang="fr-FR" dirty="0"/>
          </a:p>
        </p:txBody>
      </p:sp>
      <p:sp>
        <p:nvSpPr>
          <p:cNvPr id="8" name="Espace réservé du texte 7">
            <a:extLst>
              <a:ext uri="{FF2B5EF4-FFF2-40B4-BE49-F238E27FC236}">
                <a16:creationId xmlns:a16="http://schemas.microsoft.com/office/drawing/2014/main" id="{0231791C-F48A-C399-162B-E66D3F9CDBC5}"/>
              </a:ext>
            </a:extLst>
          </p:cNvPr>
          <p:cNvSpPr>
            <a:spLocks noGrp="1"/>
          </p:cNvSpPr>
          <p:nvPr>
            <p:ph type="body" idx="1"/>
          </p:nvPr>
        </p:nvSpPr>
        <p:spPr>
          <a:xfrm>
            <a:off x="311700" y="1528600"/>
            <a:ext cx="8520600" cy="3416400"/>
          </a:xfrm>
        </p:spPr>
        <p:txBody>
          <a:bodyPr>
            <a:normAutofit/>
          </a:bodyPr>
          <a:lstStyle/>
          <a:p>
            <a:pPr>
              <a:buFont typeface="Wingdings" pitchFamily="2" charset="2"/>
              <a:buChar char="Ø"/>
            </a:pPr>
            <a:r>
              <a:rPr lang="fr-FR" dirty="0">
                <a:solidFill>
                  <a:schemeClr val="tx1"/>
                </a:solidFill>
              </a:rPr>
              <a:t>L’évolution du stock en quantité d’UVC</a:t>
            </a:r>
          </a:p>
          <a:p>
            <a:pPr>
              <a:buFont typeface="Wingdings" pitchFamily="2" charset="2"/>
              <a:buChar char="Ø"/>
            </a:pPr>
            <a:r>
              <a:rPr lang="fr-FR" b="0" i="0" dirty="0">
                <a:solidFill>
                  <a:schemeClr val="tx1"/>
                </a:solidFill>
                <a:effectLst/>
                <a:latin typeface="Arial" panose="020B0604020202020204" pitchFamily="34" charset="0"/>
                <a:ea typeface="Montserrat" pitchFamily="2" charset="77"/>
                <a:cs typeface="Arial" panose="020B0604020202020204" pitchFamily="34" charset="0"/>
              </a:rPr>
              <a:t>L’évolution du prix d’achat des produits</a:t>
            </a:r>
          </a:p>
          <a:p>
            <a:pPr>
              <a:buFont typeface="Wingdings" pitchFamily="2" charset="2"/>
              <a:buChar char="Ø"/>
            </a:pPr>
            <a:r>
              <a:rPr lang="fr-FR" b="0" i="0" dirty="0">
                <a:solidFill>
                  <a:schemeClr val="tx1"/>
                </a:solidFill>
                <a:effectLst/>
                <a:latin typeface="Arial" panose="020B0604020202020204" pitchFamily="34" charset="0"/>
                <a:ea typeface="Montserrat" pitchFamily="2" charset="77"/>
                <a:cs typeface="Arial" panose="020B0604020202020204" pitchFamily="34" charset="0"/>
              </a:rPr>
              <a:t>L’évolution du nombre de produits stockés</a:t>
            </a:r>
          </a:p>
          <a:p>
            <a:pPr>
              <a:buFont typeface="Wingdings" pitchFamily="2" charset="2"/>
              <a:buChar char="Ø"/>
            </a:pPr>
            <a:r>
              <a:rPr lang="fr-FR" b="0" i="0" dirty="0">
                <a:solidFill>
                  <a:schemeClr val="tx1"/>
                </a:solidFill>
                <a:effectLst/>
                <a:latin typeface="Arial" panose="020B0604020202020204" pitchFamily="34" charset="0"/>
                <a:ea typeface="Montserrat" pitchFamily="2" charset="77"/>
                <a:cs typeface="Arial" panose="020B0604020202020204" pitchFamily="34" charset="0"/>
              </a:rPr>
              <a:t>L’évolution des quantités réceptionnées et expédiées</a:t>
            </a:r>
          </a:p>
          <a:p>
            <a:pPr>
              <a:buFont typeface="Wingdings" pitchFamily="2" charset="2"/>
              <a:buChar char="Ø"/>
            </a:pPr>
            <a:r>
              <a:rPr lang="fr-FR" b="0" i="0" dirty="0">
                <a:solidFill>
                  <a:schemeClr val="tx1"/>
                </a:solidFill>
                <a:effectLst/>
                <a:latin typeface="Arial" panose="020B0604020202020204" pitchFamily="34" charset="0"/>
                <a:ea typeface="Montserrat" pitchFamily="2" charset="77"/>
                <a:cs typeface="Arial" panose="020B0604020202020204" pitchFamily="34" charset="0"/>
              </a:rPr>
              <a:t>L’évolution du nombre de commandes passées</a:t>
            </a:r>
          </a:p>
          <a:p>
            <a:pPr>
              <a:buFont typeface="Wingdings" pitchFamily="2" charset="2"/>
              <a:buChar char="Ø"/>
            </a:pPr>
            <a:r>
              <a:rPr lang="fr-FR" b="0" i="0" dirty="0">
                <a:solidFill>
                  <a:schemeClr val="tx1"/>
                </a:solidFill>
                <a:effectLst/>
                <a:latin typeface="Arial" panose="020B0604020202020204" pitchFamily="34" charset="0"/>
                <a:ea typeface="Montserrat" pitchFamily="2" charset="77"/>
                <a:cs typeface="Arial" panose="020B0604020202020204" pitchFamily="34" charset="0"/>
              </a:rPr>
              <a:t>L’évolution du taux de service des commandes réceptionnées</a:t>
            </a:r>
          </a:p>
          <a:p>
            <a:pPr>
              <a:buFont typeface="Wingdings" pitchFamily="2" charset="2"/>
              <a:buChar char="Ø"/>
            </a:pPr>
            <a:r>
              <a:rPr lang="fr-FR" b="0" i="0" dirty="0">
                <a:solidFill>
                  <a:schemeClr val="tx1"/>
                </a:solidFill>
                <a:effectLst/>
                <a:latin typeface="Arial" panose="020B0604020202020204" pitchFamily="34" charset="0"/>
                <a:ea typeface="Montserrat" pitchFamily="2" charset="77"/>
                <a:cs typeface="Arial" panose="020B0604020202020204" pitchFamily="34" charset="0"/>
              </a:rPr>
              <a:t>Top 3 des familles de produits avec la plus importante évolution de stock en UVC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4">
            <a:extLst>
              <a:ext uri="{C183D7F6-B498-43B3-948B-1728B52AA6E4}">
                <adec:decorative xmlns:adec="http://schemas.microsoft.com/office/drawing/2017/decorative" val="1"/>
              </a:ext>
            </a:extLst>
          </p:cNvPr>
          <p:cNvSpPr/>
          <p:nvPr/>
        </p:nvSpPr>
        <p:spPr>
          <a:xfrm>
            <a:off x="0" y="-350"/>
            <a:ext cx="9144000" cy="1390200"/>
          </a:xfrm>
          <a:prstGeom prst="rect">
            <a:avLst/>
          </a:prstGeom>
          <a:solidFill>
            <a:srgbClr val="004D40"/>
          </a:solidFill>
          <a:ln w="9525" cap="flat" cmpd="sng">
            <a:solidFill>
              <a:srgbClr val="FFFFFF"/>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highlight>
                <a:srgbClr val="B6D7A8"/>
              </a:highlight>
              <a:latin typeface="Arial"/>
              <a:ea typeface="Arial"/>
              <a:cs typeface="Arial"/>
              <a:sym typeface="Arial"/>
            </a:endParaRPr>
          </a:p>
        </p:txBody>
      </p:sp>
      <p:sp>
        <p:nvSpPr>
          <p:cNvPr id="63" name="Google Shape;63;p4">
            <a:extLst>
              <a:ext uri="{C183D7F6-B498-43B3-948B-1728B52AA6E4}">
                <adec:decorative xmlns:adec="http://schemas.microsoft.com/office/drawing/2017/decorative" val="1"/>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4">
            <a:extLst>
              <a:ext uri="{C183D7F6-B498-43B3-948B-1728B52AA6E4}">
                <adec:decorative xmlns:adec="http://schemas.microsoft.com/office/drawing/2017/decorative" val="1"/>
              </a:ext>
            </a:extLst>
          </p:cNvPr>
          <p:cNvSpPr txBox="1">
            <a:spLocks noGrp="1"/>
          </p:cNvSpPr>
          <p:nvPr>
            <p:ph type="body" idx="1"/>
          </p:nvPr>
        </p:nvSpPr>
        <p:spPr>
          <a:xfrm>
            <a:off x="557275" y="1528600"/>
            <a:ext cx="6366000" cy="3416400"/>
          </a:xfrm>
          <a:prstGeom prst="rect">
            <a:avLst/>
          </a:prstGeom>
          <a:noFill/>
          <a:ln>
            <a:noFill/>
          </a:ln>
        </p:spPr>
        <p:txBody>
          <a:bodyPr spcFirstLastPara="1" wrap="square" lIns="91425" tIns="91425" rIns="91425" bIns="91425" anchor="t" anchorCtr="0">
            <a:normAutofit/>
          </a:bodyPr>
          <a:lstStyle/>
          <a:p>
            <a:pPr marL="0" marR="0" lvl="0" indent="0" algn="l" rtl="0">
              <a:lnSpc>
                <a:spcPct val="115000"/>
              </a:lnSpc>
              <a:spcBef>
                <a:spcPts val="0"/>
              </a:spcBef>
              <a:spcAft>
                <a:spcPts val="0"/>
              </a:spcAft>
              <a:buNone/>
            </a:pPr>
            <a:endParaRPr dirty="0">
              <a:solidFill>
                <a:srgbClr val="999999"/>
              </a:solidFill>
              <a:latin typeface="Arial" panose="020B0604020202020204" pitchFamily="34" charset="0"/>
              <a:ea typeface="Montserrat"/>
              <a:cs typeface="Arial" panose="020B0604020202020204" pitchFamily="34" charset="0"/>
              <a:sym typeface="Montserrat"/>
            </a:endParaRPr>
          </a:p>
          <a:p>
            <a:pPr marL="457200" marR="0" lvl="0" indent="0" algn="l" rtl="0">
              <a:lnSpc>
                <a:spcPct val="115000"/>
              </a:lnSpc>
              <a:spcBef>
                <a:spcPts val="0"/>
              </a:spcBef>
              <a:spcAft>
                <a:spcPts val="0"/>
              </a:spcAft>
              <a:buNone/>
            </a:pPr>
            <a:endParaRPr dirty="0">
              <a:solidFill>
                <a:srgbClr val="999999"/>
              </a:solidFill>
              <a:latin typeface="Arial" panose="020B0604020202020204" pitchFamily="34" charset="0"/>
              <a:ea typeface="Montserrat"/>
              <a:cs typeface="Arial" panose="020B0604020202020204" pitchFamily="34" charset="0"/>
              <a:sym typeface="Montserrat"/>
            </a:endParaRPr>
          </a:p>
        </p:txBody>
      </p:sp>
      <p:sp>
        <p:nvSpPr>
          <p:cNvPr id="65" name="Google Shape;65;p4" descr="Hausse de 66,6% du stock en quantité d'UVC"/>
          <p:cNvSpPr txBox="1">
            <a:spLocks noGrp="1"/>
          </p:cNvSpPr>
          <p:nvPr>
            <p:ph type="body" idx="1"/>
          </p:nvPr>
        </p:nvSpPr>
        <p:spPr>
          <a:xfrm>
            <a:off x="7283460" y="1589850"/>
            <a:ext cx="1492500" cy="981900"/>
          </a:xfrm>
          <a:prstGeom prst="rect">
            <a:avLst/>
          </a:prstGeom>
          <a:noFill/>
          <a:ln>
            <a:noFill/>
          </a:ln>
        </p:spPr>
        <p:txBody>
          <a:bodyPr spcFirstLastPara="1" wrap="square" lIns="91425" tIns="91425" rIns="91425" bIns="91425" anchor="t" anchorCtr="0">
            <a:normAutofit/>
          </a:bodyPr>
          <a:lstStyle/>
          <a:p>
            <a:pPr marL="0" marR="0" lvl="0" indent="0" algn="l" rtl="0">
              <a:lnSpc>
                <a:spcPct val="115000"/>
              </a:lnSpc>
              <a:spcBef>
                <a:spcPts val="0"/>
              </a:spcBef>
              <a:spcAft>
                <a:spcPts val="0"/>
              </a:spcAft>
              <a:buNone/>
            </a:pPr>
            <a:r>
              <a:rPr lang="fr-FR" dirty="0">
                <a:solidFill>
                  <a:srgbClr val="FF0000"/>
                </a:solidFill>
                <a:latin typeface="Arial" panose="020B0604020202020204" pitchFamily="34" charset="0"/>
                <a:ea typeface="Montserrat"/>
                <a:cs typeface="Arial" panose="020B0604020202020204" pitchFamily="34" charset="0"/>
                <a:sym typeface="Montserrat"/>
              </a:rPr>
              <a:t>+138k </a:t>
            </a:r>
            <a:r>
              <a:rPr lang="fr-FR" dirty="0">
                <a:solidFill>
                  <a:schemeClr val="tx1"/>
                </a:solidFill>
                <a:latin typeface="Arial" panose="020B0604020202020204" pitchFamily="34" charset="0"/>
                <a:ea typeface="Montserrat"/>
                <a:cs typeface="Arial" panose="020B0604020202020204" pitchFamily="34" charset="0"/>
                <a:sym typeface="Montserrat"/>
              </a:rPr>
              <a:t>UVC</a:t>
            </a:r>
          </a:p>
          <a:p>
            <a:pPr marL="0" marR="0" lvl="0" indent="0" algn="l" rtl="0">
              <a:lnSpc>
                <a:spcPct val="115000"/>
              </a:lnSpc>
              <a:spcBef>
                <a:spcPts val="0"/>
              </a:spcBef>
              <a:spcAft>
                <a:spcPts val="0"/>
              </a:spcAft>
              <a:buNone/>
            </a:pPr>
            <a:r>
              <a:rPr lang="fr-FR" dirty="0">
                <a:solidFill>
                  <a:srgbClr val="FF0000"/>
                </a:solidFill>
                <a:latin typeface="Arial" panose="020B0604020202020204" pitchFamily="34" charset="0"/>
                <a:ea typeface="Montserrat"/>
                <a:cs typeface="Arial" panose="020B0604020202020204" pitchFamily="34" charset="0"/>
                <a:sym typeface="Montserrat"/>
              </a:rPr>
              <a:t>+66,6 </a:t>
            </a:r>
            <a:r>
              <a:rPr lang="fr-FR" dirty="0">
                <a:solidFill>
                  <a:schemeClr val="tx1"/>
                </a:solidFill>
                <a:latin typeface="Arial" panose="020B0604020202020204" pitchFamily="34" charset="0"/>
                <a:ea typeface="Montserrat"/>
                <a:cs typeface="Arial" panose="020B0604020202020204" pitchFamily="34" charset="0"/>
                <a:sym typeface="Montserrat"/>
              </a:rPr>
              <a:t>%</a:t>
            </a:r>
          </a:p>
          <a:p>
            <a:pPr marL="0" marR="0" lvl="0" indent="0" algn="l" rtl="0">
              <a:lnSpc>
                <a:spcPct val="115000"/>
              </a:lnSpc>
              <a:spcBef>
                <a:spcPts val="0"/>
              </a:spcBef>
              <a:spcAft>
                <a:spcPts val="0"/>
              </a:spcAft>
              <a:buNone/>
            </a:pPr>
            <a:endParaRPr dirty="0">
              <a:solidFill>
                <a:schemeClr val="tx1"/>
              </a:solidFill>
              <a:latin typeface="Arial" panose="020B0604020202020204" pitchFamily="34" charset="0"/>
              <a:ea typeface="Montserrat"/>
              <a:cs typeface="Arial" panose="020B0604020202020204" pitchFamily="34" charset="0"/>
              <a:sym typeface="Montserrat"/>
            </a:endParaRPr>
          </a:p>
          <a:p>
            <a:pPr marL="0" marR="0" lvl="0" indent="0" algn="l" rtl="0">
              <a:lnSpc>
                <a:spcPct val="115000"/>
              </a:lnSpc>
              <a:spcBef>
                <a:spcPts val="0"/>
              </a:spcBef>
              <a:spcAft>
                <a:spcPts val="0"/>
              </a:spcAft>
              <a:buNone/>
            </a:pPr>
            <a:endParaRPr dirty="0">
              <a:solidFill>
                <a:srgbClr val="999999"/>
              </a:solidFill>
              <a:latin typeface="Arial" panose="020B0604020202020204" pitchFamily="34" charset="0"/>
              <a:ea typeface="Montserrat"/>
              <a:cs typeface="Arial" panose="020B0604020202020204" pitchFamily="34" charset="0"/>
              <a:sym typeface="Montserrat"/>
            </a:endParaRPr>
          </a:p>
          <a:p>
            <a:pPr marL="457200" marR="0" lvl="0" indent="0" algn="l" rtl="0">
              <a:lnSpc>
                <a:spcPct val="115000"/>
              </a:lnSpc>
              <a:spcBef>
                <a:spcPts val="0"/>
              </a:spcBef>
              <a:spcAft>
                <a:spcPts val="0"/>
              </a:spcAft>
              <a:buNone/>
            </a:pPr>
            <a:endParaRPr dirty="0">
              <a:solidFill>
                <a:srgbClr val="999999"/>
              </a:solidFill>
              <a:latin typeface="Arial" panose="020B0604020202020204" pitchFamily="34" charset="0"/>
              <a:ea typeface="Montserrat"/>
              <a:cs typeface="Arial" panose="020B0604020202020204" pitchFamily="34" charset="0"/>
              <a:sym typeface="Montserrat"/>
            </a:endParaRPr>
          </a:p>
        </p:txBody>
      </p:sp>
      <p:sp>
        <p:nvSpPr>
          <p:cNvPr id="3" name="Titre 2">
            <a:extLst>
              <a:ext uri="{FF2B5EF4-FFF2-40B4-BE49-F238E27FC236}">
                <a16:creationId xmlns:a16="http://schemas.microsoft.com/office/drawing/2014/main" id="{C227522E-CCCA-38C9-A554-096253C6FB1D}"/>
              </a:ext>
            </a:extLst>
          </p:cNvPr>
          <p:cNvSpPr>
            <a:spLocks noGrp="1"/>
          </p:cNvSpPr>
          <p:nvPr>
            <p:ph type="title"/>
          </p:nvPr>
        </p:nvSpPr>
        <p:spPr>
          <a:xfrm>
            <a:off x="906687" y="420650"/>
            <a:ext cx="8520600" cy="572700"/>
          </a:xfrm>
        </p:spPr>
        <p:txBody>
          <a:bodyPr>
            <a:normAutofit fontScale="90000"/>
          </a:bodyPr>
          <a:lstStyle/>
          <a:p>
            <a:r>
              <a:rPr lang="fr-FR" sz="2800" dirty="0">
                <a:solidFill>
                  <a:srgbClr val="F3F3F3"/>
                </a:solidFill>
                <a:latin typeface="Arial" panose="020B0604020202020204" pitchFamily="34" charset="0"/>
                <a:ea typeface="Montserrat"/>
                <a:cs typeface="Arial" panose="020B0604020202020204" pitchFamily="34" charset="0"/>
                <a:sym typeface="Montserrat"/>
              </a:rPr>
              <a:t>L’évolution du stock en quantité d’UVC</a:t>
            </a:r>
            <a:br>
              <a:rPr lang="fr-FR" sz="2800" dirty="0">
                <a:solidFill>
                  <a:srgbClr val="F3F3F3"/>
                </a:solidFill>
                <a:latin typeface="Arial" panose="020B0604020202020204" pitchFamily="34" charset="0"/>
                <a:ea typeface="Montserrat"/>
                <a:cs typeface="Arial" panose="020B0604020202020204" pitchFamily="34" charset="0"/>
                <a:sym typeface="Montserrat"/>
              </a:rPr>
            </a:br>
            <a:endParaRPr lang="fr-FR" dirty="0"/>
          </a:p>
        </p:txBody>
      </p:sp>
      <p:graphicFrame>
        <p:nvGraphicFramePr>
          <p:cNvPr id="6" name="Graphique 5" descr="Graphique croisé dynamique montrant les évolutions du stock en quantité d'UVC entre le mois de mai 2022 et le mois de janvier 2023 pour plusieurs familles de produits. Les familles sont les suivantes : boulangerie, crémerie, emballages, mix légumes et volaille">
            <a:extLst>
              <a:ext uri="{FF2B5EF4-FFF2-40B4-BE49-F238E27FC236}">
                <a16:creationId xmlns:a16="http://schemas.microsoft.com/office/drawing/2014/main" id="{54C9896B-D763-214F-3559-10F4BF0720FD}"/>
              </a:ext>
              <a:ext uri="{C183D7F6-B498-43B3-948B-1728B52AA6E4}">
                <adec:decorative xmlns:adec="http://schemas.microsoft.com/office/drawing/2017/decorative" val="0"/>
              </a:ext>
            </a:extLst>
          </p:cNvPr>
          <p:cNvGraphicFramePr>
            <a:graphicFrameLocks/>
          </p:cNvGraphicFramePr>
          <p:nvPr/>
        </p:nvGraphicFramePr>
        <p:xfrm>
          <a:off x="0" y="1482425"/>
          <a:ext cx="7816089" cy="3009189"/>
        </p:xfrm>
        <a:graphic>
          <a:graphicData uri="http://schemas.openxmlformats.org/drawingml/2006/chart">
            <c:chart xmlns:c="http://schemas.openxmlformats.org/drawingml/2006/chart" xmlns:r="http://schemas.openxmlformats.org/officeDocument/2006/relationships" r:id="rId3"/>
          </a:graphicData>
        </a:graphic>
      </p:graphicFrame>
      <p:sp>
        <p:nvSpPr>
          <p:cNvPr id="4" name="ZoneTexte 3">
            <a:extLst>
              <a:ext uri="{FF2B5EF4-FFF2-40B4-BE49-F238E27FC236}">
                <a16:creationId xmlns:a16="http://schemas.microsoft.com/office/drawing/2014/main" id="{56FF9FF1-7B3E-31CF-B138-A98DE7A55E5E}"/>
              </a:ext>
            </a:extLst>
          </p:cNvPr>
          <p:cNvSpPr txBox="1"/>
          <p:nvPr/>
        </p:nvSpPr>
        <p:spPr>
          <a:xfrm>
            <a:off x="474524" y="4560530"/>
            <a:ext cx="6531502" cy="369332"/>
          </a:xfrm>
          <a:prstGeom prst="rect">
            <a:avLst/>
          </a:prstGeom>
          <a:noFill/>
        </p:spPr>
        <p:txBody>
          <a:bodyPr wrap="square" rtlCol="0">
            <a:spAutoFit/>
          </a:bodyPr>
          <a:lstStyle/>
          <a:p>
            <a:r>
              <a:rPr lang="fr-FR" sz="1800" dirty="0"/>
              <a:t>Alerte : boulangerie, crèmerie et mix légumes  </a:t>
            </a:r>
          </a:p>
        </p:txBody>
      </p:sp>
    </p:spTree>
    <p:extLst>
      <p:ext uri="{BB962C8B-B14F-4D97-AF65-F5344CB8AC3E}">
        <p14:creationId xmlns:p14="http://schemas.microsoft.com/office/powerpoint/2010/main" val="984041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9"/>
        <p:cNvGrpSpPr/>
        <p:nvPr/>
      </p:nvGrpSpPr>
      <p:grpSpPr>
        <a:xfrm>
          <a:off x="0" y="0"/>
          <a:ext cx="0" cy="0"/>
          <a:chOff x="0" y="0"/>
          <a:chExt cx="0" cy="0"/>
        </a:xfrm>
      </p:grpSpPr>
      <p:sp>
        <p:nvSpPr>
          <p:cNvPr id="70" name="Google Shape;70;p5">
            <a:extLst>
              <a:ext uri="{C183D7F6-B498-43B3-948B-1728B52AA6E4}">
                <adec:decorative xmlns:adec="http://schemas.microsoft.com/office/drawing/2017/decorative" val="1"/>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5">
            <a:extLst>
              <a:ext uri="{C183D7F6-B498-43B3-948B-1728B52AA6E4}">
                <adec:decorative xmlns:adec="http://schemas.microsoft.com/office/drawing/2017/decorative" val="1"/>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5"/>
          <p:cNvSpPr txBox="1">
            <a:spLocks noGrp="1"/>
          </p:cNvSpPr>
          <p:nvPr>
            <p:ph type="body" idx="1"/>
          </p:nvPr>
        </p:nvSpPr>
        <p:spPr>
          <a:xfrm>
            <a:off x="352622" y="4420662"/>
            <a:ext cx="7116740" cy="981900"/>
          </a:xfrm>
          <a:prstGeom prst="rect">
            <a:avLst/>
          </a:prstGeom>
          <a:noFill/>
          <a:ln>
            <a:noFill/>
          </a:ln>
        </p:spPr>
        <p:txBody>
          <a:bodyPr spcFirstLastPara="1" wrap="square" lIns="91425" tIns="91425" rIns="91425" bIns="91425" anchor="t" anchorCtr="0">
            <a:normAutofit/>
          </a:bodyPr>
          <a:lstStyle/>
          <a:p>
            <a:pPr marL="0" marR="0" lvl="0" indent="0" algn="l" rtl="0">
              <a:lnSpc>
                <a:spcPct val="115000"/>
              </a:lnSpc>
              <a:spcBef>
                <a:spcPts val="0"/>
              </a:spcBef>
              <a:spcAft>
                <a:spcPts val="0"/>
              </a:spcAft>
              <a:buNone/>
            </a:pPr>
            <a:r>
              <a:rPr lang="fr-FR" dirty="0">
                <a:solidFill>
                  <a:schemeClr val="tx1"/>
                </a:solidFill>
                <a:latin typeface="Arial" panose="020B0604020202020204" pitchFamily="34" charset="0"/>
                <a:ea typeface="Montserrat"/>
                <a:cs typeface="Arial" panose="020B0604020202020204" pitchFamily="34" charset="0"/>
                <a:sym typeface="Montserrat"/>
              </a:rPr>
              <a:t>Baisse du prix moyen de 9,4%</a:t>
            </a:r>
            <a:endParaRPr dirty="0">
              <a:solidFill>
                <a:srgbClr val="999999"/>
              </a:solidFill>
              <a:latin typeface="Arial" panose="020B0604020202020204" pitchFamily="34" charset="0"/>
              <a:ea typeface="Montserrat"/>
              <a:cs typeface="Arial" panose="020B0604020202020204" pitchFamily="34" charset="0"/>
              <a:sym typeface="Montserrat"/>
            </a:endParaRPr>
          </a:p>
          <a:p>
            <a:pPr marL="457200" marR="0" lvl="0" indent="0" algn="l" rtl="0">
              <a:lnSpc>
                <a:spcPct val="115000"/>
              </a:lnSpc>
              <a:spcBef>
                <a:spcPts val="0"/>
              </a:spcBef>
              <a:spcAft>
                <a:spcPts val="0"/>
              </a:spcAft>
              <a:buNone/>
            </a:pPr>
            <a:endParaRPr dirty="0">
              <a:solidFill>
                <a:srgbClr val="999999"/>
              </a:solidFill>
              <a:latin typeface="Arial" panose="020B0604020202020204" pitchFamily="34" charset="0"/>
              <a:ea typeface="Montserrat"/>
              <a:cs typeface="Arial" panose="020B0604020202020204" pitchFamily="34" charset="0"/>
              <a:sym typeface="Montserrat"/>
            </a:endParaRPr>
          </a:p>
        </p:txBody>
      </p:sp>
      <p:sp>
        <p:nvSpPr>
          <p:cNvPr id="74" name="Google Shape;74;p5"/>
          <p:cNvSpPr txBox="1">
            <a:spLocks noGrp="1"/>
          </p:cNvSpPr>
          <p:nvPr>
            <p:ph type="body" idx="1"/>
          </p:nvPr>
        </p:nvSpPr>
        <p:spPr>
          <a:xfrm>
            <a:off x="6986474" y="1625650"/>
            <a:ext cx="2069843" cy="981900"/>
          </a:xfrm>
          <a:prstGeom prst="rect">
            <a:avLst/>
          </a:prstGeom>
          <a:noFill/>
          <a:ln>
            <a:noFill/>
          </a:ln>
        </p:spPr>
        <p:txBody>
          <a:bodyPr spcFirstLastPara="1" wrap="square" lIns="91425" tIns="91425" rIns="91425" bIns="91425" anchor="t" anchorCtr="0">
            <a:normAutofit/>
          </a:bodyPr>
          <a:lstStyle/>
          <a:p>
            <a:pPr marL="0" marR="0" lvl="0" indent="0" algn="l" rtl="0">
              <a:lnSpc>
                <a:spcPct val="115000"/>
              </a:lnSpc>
              <a:spcBef>
                <a:spcPts val="0"/>
              </a:spcBef>
              <a:spcAft>
                <a:spcPts val="0"/>
              </a:spcAft>
              <a:buNone/>
            </a:pPr>
            <a:r>
              <a:rPr lang="fr-FR" dirty="0">
                <a:solidFill>
                  <a:schemeClr val="tx1"/>
                </a:solidFill>
                <a:latin typeface="Arial" panose="020B0604020202020204" pitchFamily="34" charset="0"/>
                <a:ea typeface="Montserrat"/>
                <a:cs typeface="Arial" panose="020B0604020202020204" pitchFamily="34" charset="0"/>
                <a:sym typeface="Montserrat"/>
              </a:rPr>
              <a:t>-9,4% entre mai et janvier</a:t>
            </a:r>
            <a:endParaRPr dirty="0">
              <a:solidFill>
                <a:schemeClr val="tx1"/>
              </a:solidFill>
              <a:latin typeface="Arial" panose="020B0604020202020204" pitchFamily="34" charset="0"/>
              <a:ea typeface="Montserrat"/>
              <a:cs typeface="Arial" panose="020B0604020202020204" pitchFamily="34" charset="0"/>
              <a:sym typeface="Montserrat"/>
            </a:endParaRPr>
          </a:p>
          <a:p>
            <a:pPr marL="0" marR="0" lvl="0" indent="0" algn="l" rtl="0">
              <a:lnSpc>
                <a:spcPct val="115000"/>
              </a:lnSpc>
              <a:spcBef>
                <a:spcPts val="0"/>
              </a:spcBef>
              <a:spcAft>
                <a:spcPts val="0"/>
              </a:spcAft>
              <a:buNone/>
            </a:pPr>
            <a:endParaRPr dirty="0">
              <a:solidFill>
                <a:srgbClr val="999999"/>
              </a:solidFill>
              <a:latin typeface="Arial" panose="020B0604020202020204" pitchFamily="34" charset="0"/>
              <a:ea typeface="Montserrat"/>
              <a:cs typeface="Arial" panose="020B0604020202020204" pitchFamily="34" charset="0"/>
              <a:sym typeface="Montserrat"/>
            </a:endParaRPr>
          </a:p>
          <a:p>
            <a:pPr marL="457200" marR="0" lvl="0" indent="0" algn="l" rtl="0">
              <a:lnSpc>
                <a:spcPct val="115000"/>
              </a:lnSpc>
              <a:spcBef>
                <a:spcPts val="0"/>
              </a:spcBef>
              <a:spcAft>
                <a:spcPts val="0"/>
              </a:spcAft>
              <a:buNone/>
            </a:pPr>
            <a:endParaRPr dirty="0">
              <a:solidFill>
                <a:srgbClr val="999999"/>
              </a:solidFill>
              <a:latin typeface="Arial" panose="020B0604020202020204" pitchFamily="34" charset="0"/>
              <a:ea typeface="Montserrat"/>
              <a:cs typeface="Arial" panose="020B0604020202020204" pitchFamily="34" charset="0"/>
              <a:sym typeface="Montserrat"/>
            </a:endParaRPr>
          </a:p>
        </p:txBody>
      </p:sp>
      <p:sp>
        <p:nvSpPr>
          <p:cNvPr id="2" name="Titre 1">
            <a:extLst>
              <a:ext uri="{FF2B5EF4-FFF2-40B4-BE49-F238E27FC236}">
                <a16:creationId xmlns:a16="http://schemas.microsoft.com/office/drawing/2014/main" id="{AA66F111-EBAD-6319-606B-F7C37B4687C2}"/>
              </a:ext>
            </a:extLst>
          </p:cNvPr>
          <p:cNvSpPr>
            <a:spLocks noGrp="1"/>
          </p:cNvSpPr>
          <p:nvPr>
            <p:ph type="title"/>
          </p:nvPr>
        </p:nvSpPr>
        <p:spPr>
          <a:xfrm>
            <a:off x="893591" y="445850"/>
            <a:ext cx="8520600" cy="572700"/>
          </a:xfrm>
        </p:spPr>
        <p:txBody>
          <a:bodyPr/>
          <a:lstStyle/>
          <a:p>
            <a:pPr rtl="0"/>
            <a:r>
              <a:rPr lang="fr-FR" sz="2500" b="0" i="0" dirty="0">
                <a:solidFill>
                  <a:srgbClr val="F3F3F3"/>
                </a:solidFill>
                <a:effectLst/>
                <a:latin typeface="Arial" panose="020B0604020202020204" pitchFamily="34" charset="0"/>
                <a:ea typeface="Montserrat" pitchFamily="2" charset="77"/>
                <a:cs typeface="Arial" panose="020B0604020202020204" pitchFamily="34" charset="0"/>
              </a:rPr>
              <a:t>L’évolution du prix d’achat des produits</a:t>
            </a:r>
            <a:endParaRPr lang="fr-FR" dirty="0">
              <a:effectLst/>
            </a:endParaRPr>
          </a:p>
          <a:p>
            <a:endParaRPr lang="fr-FR" dirty="0"/>
          </a:p>
        </p:txBody>
      </p:sp>
      <p:graphicFrame>
        <p:nvGraphicFramePr>
          <p:cNvPr id="3" name="Graphique 2" descr="Graphique croisé dynamique sur le prix moyen en euros toutes références confondus sur les familles boulangerie, crèmerie, emballages, mix légumes et volaille sur la période de mai 2022 à janvier 2023. ">
            <a:extLst>
              <a:ext uri="{FF2B5EF4-FFF2-40B4-BE49-F238E27FC236}">
                <a16:creationId xmlns:a16="http://schemas.microsoft.com/office/drawing/2014/main" id="{EA71C524-D637-A842-D3CC-A3DE65E4C555}"/>
              </a:ext>
            </a:extLst>
          </p:cNvPr>
          <p:cNvGraphicFramePr>
            <a:graphicFrameLocks/>
          </p:cNvGraphicFramePr>
          <p:nvPr>
            <p:extLst>
              <p:ext uri="{D42A27DB-BD31-4B8C-83A1-F6EECF244321}">
                <p14:modId xmlns:p14="http://schemas.microsoft.com/office/powerpoint/2010/main" val="1598332258"/>
              </p:ext>
            </p:extLst>
          </p:nvPr>
        </p:nvGraphicFramePr>
        <p:xfrm>
          <a:off x="352622" y="1677462"/>
          <a:ext cx="6534315" cy="27432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6"/>
          <p:cNvSpPr txBox="1">
            <a:spLocks noGrp="1"/>
          </p:cNvSpPr>
          <p:nvPr>
            <p:ph type="body" idx="1"/>
          </p:nvPr>
        </p:nvSpPr>
        <p:spPr>
          <a:xfrm>
            <a:off x="253116" y="4400384"/>
            <a:ext cx="8579184" cy="893863"/>
          </a:xfrm>
          <a:prstGeom prst="rect">
            <a:avLst/>
          </a:prstGeom>
          <a:noFill/>
          <a:ln>
            <a:noFill/>
          </a:ln>
        </p:spPr>
        <p:txBody>
          <a:bodyPr spcFirstLastPara="1" wrap="square" lIns="91425" tIns="91425" rIns="91425" bIns="91425" anchor="t" anchorCtr="0">
            <a:normAutofit/>
          </a:bodyPr>
          <a:lstStyle/>
          <a:p>
            <a:pPr marL="0" marR="0" lvl="0" indent="0" algn="l" rtl="0">
              <a:lnSpc>
                <a:spcPct val="115000"/>
              </a:lnSpc>
              <a:spcBef>
                <a:spcPts val="0"/>
              </a:spcBef>
              <a:spcAft>
                <a:spcPts val="0"/>
              </a:spcAft>
              <a:buNone/>
            </a:pPr>
            <a:r>
              <a:rPr lang="fr-FR" dirty="0">
                <a:solidFill>
                  <a:schemeClr val="tx1"/>
                </a:solidFill>
                <a:latin typeface="Arial" panose="020B0604020202020204" pitchFamily="34" charset="0"/>
                <a:ea typeface="Montserrat"/>
                <a:cs typeface="Arial" panose="020B0604020202020204" pitchFamily="34" charset="0"/>
                <a:sym typeface="Montserrat"/>
              </a:rPr>
              <a:t>Point de vigilance sur les familles emballages, crèmerie et boulangerie</a:t>
            </a:r>
            <a:endParaRPr dirty="0">
              <a:solidFill>
                <a:schemeClr val="tx1"/>
              </a:solidFill>
              <a:latin typeface="Arial" panose="020B0604020202020204" pitchFamily="34" charset="0"/>
              <a:ea typeface="Montserrat"/>
              <a:cs typeface="Arial" panose="020B0604020202020204" pitchFamily="34" charset="0"/>
              <a:sym typeface="Montserrat"/>
            </a:endParaRPr>
          </a:p>
          <a:p>
            <a:pPr marL="457200" marR="0" lvl="0" indent="0" algn="l" rtl="0">
              <a:lnSpc>
                <a:spcPct val="115000"/>
              </a:lnSpc>
              <a:spcBef>
                <a:spcPts val="0"/>
              </a:spcBef>
              <a:spcAft>
                <a:spcPts val="0"/>
              </a:spcAft>
              <a:buNone/>
            </a:pPr>
            <a:endParaRPr dirty="0">
              <a:solidFill>
                <a:srgbClr val="999999"/>
              </a:solidFill>
              <a:latin typeface="Arial" panose="020B0604020202020204" pitchFamily="34" charset="0"/>
              <a:ea typeface="Montserrat"/>
              <a:cs typeface="Arial" panose="020B0604020202020204" pitchFamily="34" charset="0"/>
              <a:sym typeface="Montserrat"/>
            </a:endParaRPr>
          </a:p>
        </p:txBody>
      </p:sp>
      <p:sp>
        <p:nvSpPr>
          <p:cNvPr id="80" name="Google Shape;80;p6">
            <a:extLst>
              <a:ext uri="{C183D7F6-B498-43B3-948B-1728B52AA6E4}">
                <adec:decorative xmlns:adec="http://schemas.microsoft.com/office/drawing/2017/decorative" val="1"/>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6">
            <a:extLst>
              <a:ext uri="{C183D7F6-B498-43B3-948B-1728B52AA6E4}">
                <adec:decorative xmlns:adec="http://schemas.microsoft.com/office/drawing/2017/decorative" val="1"/>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6"/>
          <p:cNvSpPr txBox="1">
            <a:spLocks noGrp="1"/>
          </p:cNvSpPr>
          <p:nvPr>
            <p:ph type="body" idx="1"/>
          </p:nvPr>
        </p:nvSpPr>
        <p:spPr>
          <a:xfrm>
            <a:off x="7189625" y="1462750"/>
            <a:ext cx="1918632" cy="981900"/>
          </a:xfrm>
          <a:prstGeom prst="rect">
            <a:avLst/>
          </a:prstGeom>
          <a:noFill/>
          <a:ln>
            <a:noFill/>
          </a:ln>
        </p:spPr>
        <p:txBody>
          <a:bodyPr spcFirstLastPara="1" wrap="square" lIns="91425" tIns="91425" rIns="91425" bIns="91425" anchor="t" anchorCtr="0">
            <a:normAutofit/>
          </a:bodyPr>
          <a:lstStyle/>
          <a:p>
            <a:pPr marL="0" marR="0" lvl="0" indent="0" algn="l" rtl="0">
              <a:lnSpc>
                <a:spcPct val="115000"/>
              </a:lnSpc>
              <a:spcBef>
                <a:spcPts val="0"/>
              </a:spcBef>
              <a:spcAft>
                <a:spcPts val="0"/>
              </a:spcAft>
              <a:buNone/>
            </a:pPr>
            <a:r>
              <a:rPr lang="fr" sz="1900" dirty="0">
                <a:solidFill>
                  <a:schemeClr val="tx1"/>
                </a:solidFill>
                <a:latin typeface="Arial" panose="020B0604020202020204" pitchFamily="34" charset="0"/>
                <a:ea typeface="Montserrat"/>
                <a:cs typeface="Arial" panose="020B0604020202020204" pitchFamily="34" charset="0"/>
                <a:sym typeface="Montserrat"/>
              </a:rPr>
              <a:t>+7,95% entre mai et janvier</a:t>
            </a:r>
            <a:endParaRPr sz="1900" dirty="0">
              <a:solidFill>
                <a:schemeClr val="tx1"/>
              </a:solidFill>
              <a:latin typeface="Arial" panose="020B0604020202020204" pitchFamily="34" charset="0"/>
              <a:ea typeface="Montserrat"/>
              <a:cs typeface="Arial" panose="020B0604020202020204" pitchFamily="34" charset="0"/>
              <a:sym typeface="Montserrat"/>
            </a:endParaRPr>
          </a:p>
          <a:p>
            <a:pPr marL="0" marR="0" lvl="0" indent="0" algn="l" rtl="0">
              <a:lnSpc>
                <a:spcPct val="115000"/>
              </a:lnSpc>
              <a:spcBef>
                <a:spcPts val="0"/>
              </a:spcBef>
              <a:spcAft>
                <a:spcPts val="0"/>
              </a:spcAft>
              <a:buNone/>
            </a:pPr>
            <a:endParaRPr dirty="0">
              <a:solidFill>
                <a:srgbClr val="999999"/>
              </a:solidFill>
              <a:latin typeface="Arial" panose="020B0604020202020204" pitchFamily="34" charset="0"/>
              <a:ea typeface="Montserrat"/>
              <a:cs typeface="Arial" panose="020B0604020202020204" pitchFamily="34" charset="0"/>
              <a:sym typeface="Montserrat"/>
            </a:endParaRPr>
          </a:p>
          <a:p>
            <a:pPr marL="457200" marR="0" lvl="0" indent="0" algn="l" rtl="0">
              <a:lnSpc>
                <a:spcPct val="115000"/>
              </a:lnSpc>
              <a:spcBef>
                <a:spcPts val="0"/>
              </a:spcBef>
              <a:spcAft>
                <a:spcPts val="0"/>
              </a:spcAft>
              <a:buNone/>
            </a:pPr>
            <a:endParaRPr dirty="0">
              <a:solidFill>
                <a:srgbClr val="999999"/>
              </a:solidFill>
              <a:latin typeface="Arial" panose="020B0604020202020204" pitchFamily="34" charset="0"/>
              <a:ea typeface="Montserrat"/>
              <a:cs typeface="Arial" panose="020B0604020202020204" pitchFamily="34" charset="0"/>
              <a:sym typeface="Montserrat"/>
            </a:endParaRPr>
          </a:p>
        </p:txBody>
      </p:sp>
      <p:sp>
        <p:nvSpPr>
          <p:cNvPr id="2" name="Titre 1">
            <a:extLst>
              <a:ext uri="{FF2B5EF4-FFF2-40B4-BE49-F238E27FC236}">
                <a16:creationId xmlns:a16="http://schemas.microsoft.com/office/drawing/2014/main" id="{10BBBF91-FF9E-793B-53A7-9C1101E8335B}"/>
              </a:ext>
            </a:extLst>
          </p:cNvPr>
          <p:cNvSpPr>
            <a:spLocks noGrp="1"/>
          </p:cNvSpPr>
          <p:nvPr>
            <p:ph type="title"/>
          </p:nvPr>
        </p:nvSpPr>
        <p:spPr>
          <a:xfrm>
            <a:off x="925158" y="445850"/>
            <a:ext cx="8520600" cy="572700"/>
          </a:xfrm>
        </p:spPr>
        <p:txBody>
          <a:bodyPr/>
          <a:lstStyle/>
          <a:p>
            <a:pPr rtl="0"/>
            <a:r>
              <a:rPr lang="fr-FR" sz="2500" b="0" i="0" dirty="0">
                <a:solidFill>
                  <a:srgbClr val="F3F3F3"/>
                </a:solidFill>
                <a:effectLst/>
                <a:latin typeface="Arial" panose="020B0604020202020204" pitchFamily="34" charset="0"/>
                <a:ea typeface="Montserrat" pitchFamily="2" charset="77"/>
                <a:cs typeface="Arial" panose="020B0604020202020204" pitchFamily="34" charset="0"/>
              </a:rPr>
              <a:t>L’évolution du nombre de produits stockés</a:t>
            </a:r>
            <a:endParaRPr lang="fr-FR" dirty="0">
              <a:effectLst/>
            </a:endParaRPr>
          </a:p>
          <a:p>
            <a:endParaRPr lang="fr-FR" dirty="0"/>
          </a:p>
        </p:txBody>
      </p:sp>
      <p:graphicFrame>
        <p:nvGraphicFramePr>
          <p:cNvPr id="3" name="Graphique 2" descr="Graphique croisé dynamique qui montre l'évolution moyenne du nombre de référence de produits stockés sur la période d'analyse (entre mai 2022 et janvier 2023). Les familles mentionnées sont les mêmes qu'indiqué précédemment ">
            <a:extLst>
              <a:ext uri="{FF2B5EF4-FFF2-40B4-BE49-F238E27FC236}">
                <a16:creationId xmlns:a16="http://schemas.microsoft.com/office/drawing/2014/main" id="{E3F0E7B7-0242-15D8-BC9F-F70D55310705}"/>
              </a:ext>
            </a:extLst>
          </p:cNvPr>
          <p:cNvGraphicFramePr>
            <a:graphicFrameLocks/>
          </p:cNvGraphicFramePr>
          <p:nvPr>
            <p:extLst>
              <p:ext uri="{D42A27DB-BD31-4B8C-83A1-F6EECF244321}">
                <p14:modId xmlns:p14="http://schemas.microsoft.com/office/powerpoint/2010/main" val="2406127869"/>
              </p:ext>
            </p:extLst>
          </p:nvPr>
        </p:nvGraphicFramePr>
        <p:xfrm>
          <a:off x="35743" y="1703407"/>
          <a:ext cx="7281273" cy="2696977"/>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7">
            <a:extLst>
              <a:ext uri="{C183D7F6-B498-43B3-948B-1728B52AA6E4}">
                <adec:decorative xmlns:adec="http://schemas.microsoft.com/office/drawing/2017/decorative" val="1"/>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7">
            <a:extLst>
              <a:ext uri="{C183D7F6-B498-43B3-948B-1728B52AA6E4}">
                <adec:decorative xmlns:adec="http://schemas.microsoft.com/office/drawing/2017/decorative" val="1"/>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7"/>
          <p:cNvSpPr txBox="1">
            <a:spLocks noGrp="1"/>
          </p:cNvSpPr>
          <p:nvPr>
            <p:ph type="body" idx="1"/>
          </p:nvPr>
        </p:nvSpPr>
        <p:spPr>
          <a:xfrm>
            <a:off x="443864" y="4255487"/>
            <a:ext cx="6296371" cy="744337"/>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fr" dirty="0">
                <a:solidFill>
                  <a:schemeClr val="tx1"/>
                </a:solidFill>
                <a:latin typeface="Arial" panose="020B0604020202020204" pitchFamily="34" charset="0"/>
                <a:ea typeface="Montserrat"/>
                <a:cs typeface="Arial" panose="020B0604020202020204" pitchFamily="34" charset="0"/>
                <a:sym typeface="Montserrat"/>
              </a:rPr>
              <a:t>Décalage entre le volume de réception et expédition</a:t>
            </a:r>
            <a:endParaRPr dirty="0">
              <a:solidFill>
                <a:schemeClr val="tx1"/>
              </a:solidFill>
              <a:latin typeface="Arial" panose="020B0604020202020204" pitchFamily="34" charset="0"/>
              <a:ea typeface="Montserrat"/>
              <a:cs typeface="Arial" panose="020B0604020202020204" pitchFamily="34" charset="0"/>
              <a:sym typeface="Montserrat"/>
            </a:endParaRPr>
          </a:p>
        </p:txBody>
      </p:sp>
      <p:sp>
        <p:nvSpPr>
          <p:cNvPr id="92" name="Google Shape;92;p7"/>
          <p:cNvSpPr txBox="1">
            <a:spLocks noGrp="1"/>
          </p:cNvSpPr>
          <p:nvPr>
            <p:ph type="body" idx="1"/>
          </p:nvPr>
        </p:nvSpPr>
        <p:spPr>
          <a:xfrm>
            <a:off x="6986474" y="1625650"/>
            <a:ext cx="2157525" cy="981900"/>
          </a:xfrm>
          <a:prstGeom prst="rect">
            <a:avLst/>
          </a:prstGeom>
          <a:noFill/>
          <a:ln>
            <a:noFill/>
          </a:ln>
        </p:spPr>
        <p:txBody>
          <a:bodyPr spcFirstLastPara="1" wrap="square" lIns="91425" tIns="91425" rIns="91425" bIns="91425" anchor="t" anchorCtr="0">
            <a:normAutofit fontScale="92500"/>
          </a:bodyPr>
          <a:lstStyle/>
          <a:p>
            <a:pPr marL="0" marR="0" lvl="0" indent="0" algn="l" rtl="0">
              <a:lnSpc>
                <a:spcPct val="115000"/>
              </a:lnSpc>
              <a:spcBef>
                <a:spcPts val="0"/>
              </a:spcBef>
              <a:spcAft>
                <a:spcPts val="0"/>
              </a:spcAft>
              <a:buNone/>
            </a:pPr>
            <a:r>
              <a:rPr lang="fr" dirty="0">
                <a:solidFill>
                  <a:srgbClr val="FF0000"/>
                </a:solidFill>
                <a:latin typeface="Arial" panose="020B0604020202020204" pitchFamily="34" charset="0"/>
                <a:ea typeface="Montserrat"/>
                <a:cs typeface="Arial" panose="020B0604020202020204" pitchFamily="34" charset="0"/>
                <a:sym typeface="Montserrat"/>
              </a:rPr>
              <a:t>-81,4% </a:t>
            </a:r>
            <a:r>
              <a:rPr lang="fr" dirty="0">
                <a:solidFill>
                  <a:schemeClr val="tx1"/>
                </a:solidFill>
                <a:latin typeface="Arial" panose="020B0604020202020204" pitchFamily="34" charset="0"/>
                <a:ea typeface="Montserrat"/>
                <a:cs typeface="Arial" panose="020B0604020202020204" pitchFamily="34" charset="0"/>
                <a:sym typeface="Montserrat"/>
              </a:rPr>
              <a:t>de quantités expédiées</a:t>
            </a:r>
            <a:endParaRPr dirty="0">
              <a:solidFill>
                <a:srgbClr val="999999"/>
              </a:solidFill>
              <a:latin typeface="Arial" panose="020B0604020202020204" pitchFamily="34" charset="0"/>
              <a:ea typeface="Montserrat"/>
              <a:cs typeface="Arial" panose="020B0604020202020204" pitchFamily="34" charset="0"/>
              <a:sym typeface="Montserrat"/>
            </a:endParaRPr>
          </a:p>
          <a:p>
            <a:pPr marL="457200" marR="0" lvl="0" indent="0" algn="l" rtl="0">
              <a:lnSpc>
                <a:spcPct val="115000"/>
              </a:lnSpc>
              <a:spcBef>
                <a:spcPts val="0"/>
              </a:spcBef>
              <a:spcAft>
                <a:spcPts val="0"/>
              </a:spcAft>
              <a:buNone/>
            </a:pPr>
            <a:endParaRPr dirty="0">
              <a:solidFill>
                <a:srgbClr val="999999"/>
              </a:solidFill>
              <a:latin typeface="Arial" panose="020B0604020202020204" pitchFamily="34" charset="0"/>
              <a:ea typeface="Montserrat"/>
              <a:cs typeface="Arial" panose="020B0604020202020204" pitchFamily="34" charset="0"/>
              <a:sym typeface="Montserrat"/>
            </a:endParaRPr>
          </a:p>
        </p:txBody>
      </p:sp>
      <p:sp>
        <p:nvSpPr>
          <p:cNvPr id="93" name="Google Shape;93;p7"/>
          <p:cNvSpPr txBox="1">
            <a:spLocks noGrp="1"/>
          </p:cNvSpPr>
          <p:nvPr>
            <p:ph type="body" idx="1"/>
          </p:nvPr>
        </p:nvSpPr>
        <p:spPr>
          <a:xfrm>
            <a:off x="6986474" y="3603369"/>
            <a:ext cx="2090056" cy="914400"/>
          </a:xfrm>
          <a:prstGeom prst="rect">
            <a:avLst/>
          </a:prstGeom>
          <a:noFill/>
          <a:ln>
            <a:noFill/>
          </a:ln>
        </p:spPr>
        <p:txBody>
          <a:bodyPr spcFirstLastPara="1" wrap="square" lIns="91425" tIns="91425" rIns="91425" bIns="91425" anchor="t" anchorCtr="0">
            <a:noAutofit/>
          </a:bodyPr>
          <a:lstStyle/>
          <a:p>
            <a:pPr marL="0" marR="0" lvl="0" indent="0" rtl="0">
              <a:lnSpc>
                <a:spcPct val="105000"/>
              </a:lnSpc>
              <a:spcBef>
                <a:spcPts val="0"/>
              </a:spcBef>
              <a:spcAft>
                <a:spcPts val="0"/>
              </a:spcAft>
              <a:buSzPts val="770"/>
              <a:buNone/>
            </a:pPr>
            <a:r>
              <a:rPr lang="fr" dirty="0">
                <a:solidFill>
                  <a:schemeClr val="tx1"/>
                </a:solidFill>
                <a:latin typeface="Arial" panose="020B0604020202020204" pitchFamily="34" charset="0"/>
                <a:ea typeface="Montserrat"/>
                <a:cs typeface="Arial" panose="020B0604020202020204" pitchFamily="34" charset="0"/>
                <a:sym typeface="Montserrat"/>
              </a:rPr>
              <a:t>Différence</a:t>
            </a:r>
            <a:endParaRPr dirty="0">
              <a:solidFill>
                <a:schemeClr val="tx1"/>
              </a:solidFill>
              <a:latin typeface="Arial" panose="020B0604020202020204" pitchFamily="34" charset="0"/>
              <a:ea typeface="Montserrat"/>
              <a:cs typeface="Arial" panose="020B0604020202020204" pitchFamily="34" charset="0"/>
              <a:sym typeface="Montserrat"/>
            </a:endParaRPr>
          </a:p>
          <a:p>
            <a:pPr marL="0" marR="0" lvl="0" indent="0" rtl="0">
              <a:lnSpc>
                <a:spcPct val="105000"/>
              </a:lnSpc>
              <a:spcBef>
                <a:spcPts val="0"/>
              </a:spcBef>
              <a:spcAft>
                <a:spcPts val="0"/>
              </a:spcAft>
              <a:buSzPts val="770"/>
              <a:buNone/>
            </a:pPr>
            <a:r>
              <a:rPr lang="fr" dirty="0">
                <a:solidFill>
                  <a:schemeClr val="tx1"/>
                </a:solidFill>
                <a:latin typeface="Arial" panose="020B0604020202020204" pitchFamily="34" charset="0"/>
                <a:ea typeface="Montserrat"/>
                <a:cs typeface="Arial" panose="020B0604020202020204" pitchFamily="34" charset="0"/>
                <a:sym typeface="Montserrat"/>
              </a:rPr>
              <a:t>totale </a:t>
            </a:r>
            <a:endParaRPr dirty="0">
              <a:solidFill>
                <a:schemeClr val="tx1"/>
              </a:solidFill>
              <a:latin typeface="Arial" panose="020B0604020202020204" pitchFamily="34" charset="0"/>
              <a:ea typeface="Montserrat"/>
              <a:cs typeface="Arial" panose="020B0604020202020204" pitchFamily="34" charset="0"/>
              <a:sym typeface="Montserrat"/>
            </a:endParaRPr>
          </a:p>
          <a:p>
            <a:pPr marL="0" marR="0" lvl="0" indent="0" rtl="0">
              <a:lnSpc>
                <a:spcPct val="105000"/>
              </a:lnSpc>
              <a:spcBef>
                <a:spcPts val="0"/>
              </a:spcBef>
              <a:spcAft>
                <a:spcPts val="0"/>
              </a:spcAft>
              <a:buSzPts val="770"/>
              <a:buNone/>
            </a:pPr>
            <a:r>
              <a:rPr lang="fr-FR" dirty="0">
                <a:solidFill>
                  <a:schemeClr val="tx1"/>
                </a:solidFill>
                <a:latin typeface="Arial" panose="020B0604020202020204" pitchFamily="34" charset="0"/>
                <a:ea typeface="Montserrat"/>
                <a:cs typeface="Arial" panose="020B0604020202020204" pitchFamily="34" charset="0"/>
                <a:sym typeface="Montserrat"/>
              </a:rPr>
              <a:t>de </a:t>
            </a:r>
            <a:r>
              <a:rPr lang="fr-FR" dirty="0">
                <a:solidFill>
                  <a:srgbClr val="FF0000"/>
                </a:solidFill>
                <a:latin typeface="Arial" panose="020B0604020202020204" pitchFamily="34" charset="0"/>
                <a:ea typeface="Montserrat"/>
                <a:cs typeface="Arial" panose="020B0604020202020204" pitchFamily="34" charset="0"/>
                <a:sym typeface="Montserrat"/>
              </a:rPr>
              <a:t>+479k</a:t>
            </a:r>
            <a:endParaRPr dirty="0">
              <a:solidFill>
                <a:srgbClr val="FF0000"/>
              </a:solidFill>
              <a:latin typeface="Arial" panose="020B0604020202020204" pitchFamily="34" charset="0"/>
              <a:ea typeface="Montserrat"/>
              <a:cs typeface="Arial" panose="020B0604020202020204" pitchFamily="34" charset="0"/>
              <a:sym typeface="Montserrat"/>
            </a:endParaRPr>
          </a:p>
          <a:p>
            <a:pPr marL="457200" marR="0" lvl="0" indent="0" algn="l" rtl="0">
              <a:lnSpc>
                <a:spcPct val="105000"/>
              </a:lnSpc>
              <a:spcBef>
                <a:spcPts val="0"/>
              </a:spcBef>
              <a:spcAft>
                <a:spcPts val="0"/>
              </a:spcAft>
              <a:buSzPts val="770"/>
              <a:buNone/>
            </a:pPr>
            <a:endParaRPr sz="1360" dirty="0">
              <a:solidFill>
                <a:srgbClr val="999999"/>
              </a:solidFill>
              <a:latin typeface="Arial" panose="020B0604020202020204" pitchFamily="34" charset="0"/>
              <a:ea typeface="Montserrat"/>
              <a:cs typeface="Arial" panose="020B0604020202020204" pitchFamily="34" charset="0"/>
              <a:sym typeface="Montserrat"/>
            </a:endParaRPr>
          </a:p>
        </p:txBody>
      </p:sp>
      <p:sp>
        <p:nvSpPr>
          <p:cNvPr id="94" name="Google Shape;94;p7"/>
          <p:cNvSpPr txBox="1">
            <a:spLocks noGrp="1"/>
          </p:cNvSpPr>
          <p:nvPr>
            <p:ph type="body" idx="1"/>
          </p:nvPr>
        </p:nvSpPr>
        <p:spPr>
          <a:xfrm>
            <a:off x="6986474" y="2540050"/>
            <a:ext cx="2157525" cy="9819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770"/>
              <a:buNone/>
            </a:pPr>
            <a:r>
              <a:rPr lang="fr" dirty="0">
                <a:solidFill>
                  <a:schemeClr val="tx1"/>
                </a:solidFill>
                <a:latin typeface="Arial" panose="020B0604020202020204" pitchFamily="34" charset="0"/>
                <a:ea typeface="Montserrat"/>
                <a:cs typeface="Arial" panose="020B0604020202020204" pitchFamily="34" charset="0"/>
                <a:sym typeface="Montserrat"/>
              </a:rPr>
              <a:t>+ 2,2% de quantités réceptionnées</a:t>
            </a:r>
            <a:endParaRPr dirty="0">
              <a:solidFill>
                <a:schemeClr val="tx1"/>
              </a:solidFill>
              <a:latin typeface="Arial" panose="020B0604020202020204" pitchFamily="34" charset="0"/>
              <a:ea typeface="Montserrat"/>
              <a:cs typeface="Arial" panose="020B0604020202020204" pitchFamily="34" charset="0"/>
              <a:sym typeface="Montserrat"/>
            </a:endParaRPr>
          </a:p>
          <a:p>
            <a:pPr marL="0" marR="0" lvl="0" indent="0" algn="l" rtl="0">
              <a:lnSpc>
                <a:spcPct val="115000"/>
              </a:lnSpc>
              <a:spcBef>
                <a:spcPts val="0"/>
              </a:spcBef>
              <a:spcAft>
                <a:spcPts val="0"/>
              </a:spcAft>
              <a:buSzPts val="770"/>
              <a:buNone/>
            </a:pPr>
            <a:endParaRPr sz="1350" dirty="0">
              <a:solidFill>
                <a:srgbClr val="999999"/>
              </a:solidFill>
              <a:latin typeface="Arial" panose="020B0604020202020204" pitchFamily="34" charset="0"/>
              <a:ea typeface="Montserrat"/>
              <a:cs typeface="Arial" panose="020B0604020202020204" pitchFamily="34" charset="0"/>
              <a:sym typeface="Montserrat"/>
            </a:endParaRPr>
          </a:p>
          <a:p>
            <a:pPr marL="457200" marR="0" lvl="0" indent="0" algn="l" rtl="0">
              <a:lnSpc>
                <a:spcPct val="115000"/>
              </a:lnSpc>
              <a:spcBef>
                <a:spcPts val="0"/>
              </a:spcBef>
              <a:spcAft>
                <a:spcPts val="0"/>
              </a:spcAft>
              <a:buSzPts val="770"/>
              <a:buNone/>
            </a:pPr>
            <a:endParaRPr sz="1350" dirty="0">
              <a:solidFill>
                <a:srgbClr val="999999"/>
              </a:solidFill>
              <a:latin typeface="Arial" panose="020B0604020202020204" pitchFamily="34" charset="0"/>
              <a:ea typeface="Montserrat"/>
              <a:cs typeface="Arial" panose="020B0604020202020204" pitchFamily="34" charset="0"/>
              <a:sym typeface="Montserrat"/>
            </a:endParaRPr>
          </a:p>
        </p:txBody>
      </p:sp>
      <p:sp>
        <p:nvSpPr>
          <p:cNvPr id="2" name="Titre 1">
            <a:extLst>
              <a:ext uri="{FF2B5EF4-FFF2-40B4-BE49-F238E27FC236}">
                <a16:creationId xmlns:a16="http://schemas.microsoft.com/office/drawing/2014/main" id="{D7ECFB98-3030-466E-451A-33A62F27D37A}"/>
              </a:ext>
            </a:extLst>
          </p:cNvPr>
          <p:cNvSpPr>
            <a:spLocks noGrp="1"/>
          </p:cNvSpPr>
          <p:nvPr>
            <p:ph type="title"/>
          </p:nvPr>
        </p:nvSpPr>
        <p:spPr>
          <a:xfrm>
            <a:off x="913583" y="471050"/>
            <a:ext cx="8520600" cy="572700"/>
          </a:xfrm>
        </p:spPr>
        <p:txBody>
          <a:bodyPr/>
          <a:lstStyle/>
          <a:p>
            <a:pPr rtl="0"/>
            <a:r>
              <a:rPr lang="fr-FR" sz="2500" b="0" i="0" dirty="0">
                <a:solidFill>
                  <a:srgbClr val="F3F3F3"/>
                </a:solidFill>
                <a:effectLst/>
                <a:latin typeface="Arial" panose="020B0604020202020204" pitchFamily="34" charset="0"/>
                <a:ea typeface="Montserrat" pitchFamily="2" charset="77"/>
                <a:cs typeface="Arial" panose="020B0604020202020204" pitchFamily="34" charset="0"/>
              </a:rPr>
              <a:t>L’évolution des quantités réceptionnées et expédiées</a:t>
            </a:r>
            <a:endParaRPr lang="fr-FR" dirty="0">
              <a:effectLst/>
            </a:endParaRPr>
          </a:p>
          <a:p>
            <a:endParaRPr lang="fr-FR" dirty="0"/>
          </a:p>
        </p:txBody>
      </p:sp>
      <p:graphicFrame>
        <p:nvGraphicFramePr>
          <p:cNvPr id="4" name="Graphique 3" descr="Graphique croisé dynamique sur l'évolution des quantités expédiées et réceptionnées">
            <a:extLst>
              <a:ext uri="{FF2B5EF4-FFF2-40B4-BE49-F238E27FC236}">
                <a16:creationId xmlns:a16="http://schemas.microsoft.com/office/drawing/2014/main" id="{E978AE4E-1F91-3DCC-9973-C0EE33D80763}"/>
              </a:ext>
            </a:extLst>
          </p:cNvPr>
          <p:cNvGraphicFramePr>
            <a:graphicFrameLocks/>
          </p:cNvGraphicFramePr>
          <p:nvPr>
            <p:extLst>
              <p:ext uri="{D42A27DB-BD31-4B8C-83A1-F6EECF244321}">
                <p14:modId xmlns:p14="http://schemas.microsoft.com/office/powerpoint/2010/main" val="1896265929"/>
              </p:ext>
            </p:extLst>
          </p:nvPr>
        </p:nvGraphicFramePr>
        <p:xfrm>
          <a:off x="67470" y="1471620"/>
          <a:ext cx="6919004" cy="2682654"/>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g13f9e8f1567_0_7">
            <a:extLst>
              <a:ext uri="{C183D7F6-B498-43B3-948B-1728B52AA6E4}">
                <adec:decorative xmlns:adec="http://schemas.microsoft.com/office/drawing/2017/decorative" val="1"/>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 name="Google Shape;101;g13f9e8f1567_0_7">
            <a:extLst>
              <a:ext uri="{C183D7F6-B498-43B3-948B-1728B52AA6E4}">
                <adec:decorative xmlns:adec="http://schemas.microsoft.com/office/drawing/2017/decorative" val="1"/>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 name="Google Shape;102;g13f9e8f1567_0_7"/>
          <p:cNvSpPr txBox="1">
            <a:spLocks noGrp="1"/>
          </p:cNvSpPr>
          <p:nvPr>
            <p:ph type="body" idx="1"/>
          </p:nvPr>
        </p:nvSpPr>
        <p:spPr>
          <a:xfrm>
            <a:off x="207616" y="4545069"/>
            <a:ext cx="8936383" cy="509199"/>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fr-FR" dirty="0">
                <a:solidFill>
                  <a:schemeClr val="tx1"/>
                </a:solidFill>
                <a:latin typeface="Arial" panose="020B0604020202020204" pitchFamily="34" charset="0"/>
                <a:ea typeface="Montserrat"/>
                <a:cs typeface="Arial" panose="020B0604020202020204" pitchFamily="34" charset="0"/>
                <a:sym typeface="Montserrat"/>
              </a:rPr>
              <a:t>Baisse du volume de commandes réceptionnées sur la période.</a:t>
            </a:r>
            <a:endParaRPr dirty="0">
              <a:solidFill>
                <a:schemeClr val="tx1"/>
              </a:solidFill>
              <a:latin typeface="Arial" panose="020B0604020202020204" pitchFamily="34" charset="0"/>
              <a:ea typeface="Montserrat"/>
              <a:cs typeface="Arial" panose="020B0604020202020204" pitchFamily="34" charset="0"/>
              <a:sym typeface="Montserrat"/>
            </a:endParaRPr>
          </a:p>
          <a:p>
            <a:pPr marL="0" marR="0" lvl="0" indent="0" algn="l" rtl="0">
              <a:lnSpc>
                <a:spcPct val="115000"/>
              </a:lnSpc>
              <a:spcBef>
                <a:spcPts val="0"/>
              </a:spcBef>
              <a:spcAft>
                <a:spcPts val="0"/>
              </a:spcAft>
              <a:buNone/>
            </a:pPr>
            <a:endParaRPr dirty="0">
              <a:solidFill>
                <a:srgbClr val="999999"/>
              </a:solidFill>
              <a:latin typeface="Arial" panose="020B0604020202020204" pitchFamily="34" charset="0"/>
              <a:ea typeface="Montserrat"/>
              <a:cs typeface="Arial" panose="020B0604020202020204" pitchFamily="34" charset="0"/>
              <a:sym typeface="Montserrat"/>
            </a:endParaRPr>
          </a:p>
          <a:p>
            <a:pPr marL="457200" marR="0" lvl="0" indent="0" algn="l" rtl="0">
              <a:lnSpc>
                <a:spcPct val="115000"/>
              </a:lnSpc>
              <a:spcBef>
                <a:spcPts val="0"/>
              </a:spcBef>
              <a:spcAft>
                <a:spcPts val="0"/>
              </a:spcAft>
              <a:buNone/>
            </a:pPr>
            <a:endParaRPr dirty="0">
              <a:solidFill>
                <a:srgbClr val="999999"/>
              </a:solidFill>
              <a:latin typeface="Arial" panose="020B0604020202020204" pitchFamily="34" charset="0"/>
              <a:ea typeface="Montserrat"/>
              <a:cs typeface="Arial" panose="020B0604020202020204" pitchFamily="34" charset="0"/>
              <a:sym typeface="Montserrat"/>
            </a:endParaRPr>
          </a:p>
        </p:txBody>
      </p:sp>
      <p:sp>
        <p:nvSpPr>
          <p:cNvPr id="103" name="Google Shape;103;g13f9e8f1567_0_7"/>
          <p:cNvSpPr txBox="1">
            <a:spLocks noGrp="1"/>
          </p:cNvSpPr>
          <p:nvPr>
            <p:ph type="body" idx="1"/>
          </p:nvPr>
        </p:nvSpPr>
        <p:spPr>
          <a:xfrm>
            <a:off x="6986474" y="1625650"/>
            <a:ext cx="2157525" cy="981900"/>
          </a:xfrm>
          <a:prstGeom prst="rect">
            <a:avLst/>
          </a:prstGeom>
          <a:noFill/>
          <a:ln>
            <a:noFill/>
          </a:ln>
        </p:spPr>
        <p:txBody>
          <a:bodyPr spcFirstLastPara="1" wrap="square" lIns="91425" tIns="91425" rIns="91425" bIns="91425" anchor="t" anchorCtr="0">
            <a:normAutofit fontScale="92500" lnSpcReduction="20000"/>
          </a:bodyPr>
          <a:lstStyle/>
          <a:p>
            <a:pPr marL="0" marR="0" lvl="0" indent="0" algn="l" rtl="0">
              <a:lnSpc>
                <a:spcPct val="115000"/>
              </a:lnSpc>
              <a:spcBef>
                <a:spcPts val="0"/>
              </a:spcBef>
              <a:spcAft>
                <a:spcPts val="0"/>
              </a:spcAft>
              <a:buNone/>
            </a:pPr>
            <a:r>
              <a:rPr lang="fr" dirty="0">
                <a:solidFill>
                  <a:schemeClr val="tx1"/>
                </a:solidFill>
                <a:latin typeface="Arial" panose="020B0604020202020204" pitchFamily="34" charset="0"/>
                <a:ea typeface="Montserrat"/>
                <a:cs typeface="Arial" panose="020B0604020202020204" pitchFamily="34" charset="0"/>
                <a:sym typeface="Montserrat"/>
              </a:rPr>
              <a:t>-14,5% de commandes réceptionnées</a:t>
            </a:r>
            <a:endParaRPr dirty="0">
              <a:solidFill>
                <a:schemeClr val="tx1"/>
              </a:solidFill>
              <a:latin typeface="Arial" panose="020B0604020202020204" pitchFamily="34" charset="0"/>
              <a:ea typeface="Montserrat"/>
              <a:cs typeface="Arial" panose="020B0604020202020204" pitchFamily="34" charset="0"/>
              <a:sym typeface="Montserrat"/>
            </a:endParaRPr>
          </a:p>
          <a:p>
            <a:pPr marL="0" marR="0" lvl="0" indent="0" algn="l" rtl="0">
              <a:lnSpc>
                <a:spcPct val="115000"/>
              </a:lnSpc>
              <a:spcBef>
                <a:spcPts val="0"/>
              </a:spcBef>
              <a:spcAft>
                <a:spcPts val="0"/>
              </a:spcAft>
              <a:buNone/>
            </a:pPr>
            <a:endParaRPr dirty="0">
              <a:solidFill>
                <a:srgbClr val="999999"/>
              </a:solidFill>
              <a:latin typeface="Arial" panose="020B0604020202020204" pitchFamily="34" charset="0"/>
              <a:ea typeface="Montserrat"/>
              <a:cs typeface="Arial" panose="020B0604020202020204" pitchFamily="34" charset="0"/>
              <a:sym typeface="Montserrat"/>
            </a:endParaRPr>
          </a:p>
          <a:p>
            <a:pPr marL="457200" marR="0" lvl="0" indent="0" algn="l" rtl="0">
              <a:lnSpc>
                <a:spcPct val="115000"/>
              </a:lnSpc>
              <a:spcBef>
                <a:spcPts val="0"/>
              </a:spcBef>
              <a:spcAft>
                <a:spcPts val="0"/>
              </a:spcAft>
              <a:buNone/>
            </a:pPr>
            <a:endParaRPr dirty="0">
              <a:solidFill>
                <a:srgbClr val="999999"/>
              </a:solidFill>
              <a:latin typeface="Arial" panose="020B0604020202020204" pitchFamily="34" charset="0"/>
              <a:ea typeface="Montserrat"/>
              <a:cs typeface="Arial" panose="020B0604020202020204" pitchFamily="34" charset="0"/>
              <a:sym typeface="Montserrat"/>
            </a:endParaRPr>
          </a:p>
        </p:txBody>
      </p:sp>
      <p:sp>
        <p:nvSpPr>
          <p:cNvPr id="2" name="Titre 1">
            <a:extLst>
              <a:ext uri="{FF2B5EF4-FFF2-40B4-BE49-F238E27FC236}">
                <a16:creationId xmlns:a16="http://schemas.microsoft.com/office/drawing/2014/main" id="{1837D66D-DF52-E306-D52B-F7FCD2CEF864}"/>
              </a:ext>
            </a:extLst>
          </p:cNvPr>
          <p:cNvSpPr>
            <a:spLocks noGrp="1"/>
          </p:cNvSpPr>
          <p:nvPr>
            <p:ph type="title"/>
          </p:nvPr>
        </p:nvSpPr>
        <p:spPr>
          <a:xfrm>
            <a:off x="902009" y="459167"/>
            <a:ext cx="8520600" cy="572700"/>
          </a:xfrm>
        </p:spPr>
        <p:txBody>
          <a:bodyPr/>
          <a:lstStyle/>
          <a:p>
            <a:pPr rtl="0"/>
            <a:r>
              <a:rPr lang="fr-FR" sz="2500" b="0" i="0" dirty="0">
                <a:solidFill>
                  <a:srgbClr val="F3F3F3"/>
                </a:solidFill>
                <a:effectLst/>
                <a:latin typeface="Arial" panose="020B0604020202020204" pitchFamily="34" charset="0"/>
                <a:ea typeface="Montserrat" pitchFamily="2" charset="77"/>
                <a:cs typeface="Arial" panose="020B0604020202020204" pitchFamily="34" charset="0"/>
              </a:rPr>
              <a:t>L’évolution du nombre de commandes passées</a:t>
            </a:r>
            <a:endParaRPr lang="fr-FR" dirty="0">
              <a:effectLst/>
            </a:endParaRPr>
          </a:p>
          <a:p>
            <a:endParaRPr lang="fr-FR" dirty="0"/>
          </a:p>
        </p:txBody>
      </p:sp>
      <p:graphicFrame>
        <p:nvGraphicFramePr>
          <p:cNvPr id="4" name="Graphique 3" descr="Graphique croisé dynamique en histogramme qui permet de visualiser le nombre de commandes par familles de produits réceptionnées sur la période entre le mois de mai 2022 et le mois de janvier 2023. Les 5 familles sont toujours représentées.">
            <a:extLst>
              <a:ext uri="{FF2B5EF4-FFF2-40B4-BE49-F238E27FC236}">
                <a16:creationId xmlns:a16="http://schemas.microsoft.com/office/drawing/2014/main" id="{C53041B9-DDAA-42A7-55EE-58CA70CA2F4C}"/>
              </a:ext>
            </a:extLst>
          </p:cNvPr>
          <p:cNvGraphicFramePr>
            <a:graphicFrameLocks/>
          </p:cNvGraphicFramePr>
          <p:nvPr>
            <p:extLst>
              <p:ext uri="{D42A27DB-BD31-4B8C-83A1-F6EECF244321}">
                <p14:modId xmlns:p14="http://schemas.microsoft.com/office/powerpoint/2010/main" val="2653677343"/>
              </p:ext>
            </p:extLst>
          </p:nvPr>
        </p:nvGraphicFramePr>
        <p:xfrm>
          <a:off x="311700" y="1462749"/>
          <a:ext cx="6674775" cy="3264371"/>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10" name="Trait">
            <a:extLst>
              <a:ext uri="{C183D7F6-B498-43B3-948B-1728B52AA6E4}">
                <adec:decorative xmlns:adec="http://schemas.microsoft.com/office/drawing/2017/decorative" val="1"/>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Commentaire zone texte"/>
          <p:cNvSpPr txBox="1">
            <a:spLocks noGrp="1"/>
          </p:cNvSpPr>
          <p:nvPr>
            <p:ph type="body" idx="1"/>
          </p:nvPr>
        </p:nvSpPr>
        <p:spPr>
          <a:xfrm>
            <a:off x="557278" y="4480559"/>
            <a:ext cx="8348978" cy="662941"/>
          </a:xfrm>
          <a:prstGeom prst="rect">
            <a:avLst/>
          </a:prstGeom>
          <a:noFill/>
          <a:ln>
            <a:noFill/>
          </a:ln>
        </p:spPr>
        <p:txBody>
          <a:bodyPr spcFirstLastPara="1" wrap="square" lIns="91425" tIns="91425" rIns="91425" bIns="91425" anchor="t" anchorCtr="0">
            <a:normAutofit/>
          </a:bodyPr>
          <a:lstStyle/>
          <a:p>
            <a:pPr marL="0" marR="0" lvl="0" indent="0" algn="l" rtl="0">
              <a:lnSpc>
                <a:spcPct val="115000"/>
              </a:lnSpc>
              <a:spcBef>
                <a:spcPts val="0"/>
              </a:spcBef>
              <a:spcAft>
                <a:spcPts val="0"/>
              </a:spcAft>
              <a:buNone/>
            </a:pPr>
            <a:r>
              <a:rPr lang="fr-FR" dirty="0">
                <a:solidFill>
                  <a:schemeClr val="tx1"/>
                </a:solidFill>
                <a:latin typeface="Arial" panose="020B0604020202020204" pitchFamily="34" charset="0"/>
                <a:ea typeface="Montserrat"/>
                <a:cs typeface="Arial" panose="020B0604020202020204" pitchFamily="34" charset="0"/>
                <a:sym typeface="Montserrat"/>
              </a:rPr>
              <a:t>Baisse du taux de 6,91 points.</a:t>
            </a:r>
            <a:endParaRPr dirty="0">
              <a:solidFill>
                <a:srgbClr val="999999"/>
              </a:solidFill>
              <a:latin typeface="Arial" panose="020B0604020202020204" pitchFamily="34" charset="0"/>
              <a:ea typeface="Montserrat"/>
              <a:cs typeface="Arial" panose="020B0604020202020204" pitchFamily="34" charset="0"/>
              <a:sym typeface="Montserrat"/>
            </a:endParaRPr>
          </a:p>
          <a:p>
            <a:pPr marL="457200" marR="0" lvl="0" indent="0" algn="l" rtl="0">
              <a:lnSpc>
                <a:spcPct val="115000"/>
              </a:lnSpc>
              <a:spcBef>
                <a:spcPts val="0"/>
              </a:spcBef>
              <a:spcAft>
                <a:spcPts val="0"/>
              </a:spcAft>
              <a:buNone/>
            </a:pPr>
            <a:endParaRPr dirty="0">
              <a:solidFill>
                <a:srgbClr val="999999"/>
              </a:solidFill>
              <a:latin typeface="Arial" panose="020B0604020202020204" pitchFamily="34" charset="0"/>
              <a:ea typeface="Montserrat"/>
              <a:cs typeface="Arial" panose="020B0604020202020204" pitchFamily="34" charset="0"/>
              <a:sym typeface="Montserrat"/>
            </a:endParaRPr>
          </a:p>
        </p:txBody>
      </p:sp>
      <p:sp>
        <p:nvSpPr>
          <p:cNvPr id="112" name="Résulat du tableau en %"/>
          <p:cNvSpPr txBox="1">
            <a:spLocks noGrp="1"/>
          </p:cNvSpPr>
          <p:nvPr>
            <p:ph type="body" idx="1"/>
          </p:nvPr>
        </p:nvSpPr>
        <p:spPr>
          <a:xfrm>
            <a:off x="7489395" y="1566050"/>
            <a:ext cx="1492500" cy="981900"/>
          </a:xfrm>
          <a:prstGeom prst="rect">
            <a:avLst/>
          </a:prstGeom>
          <a:noFill/>
          <a:ln>
            <a:noFill/>
          </a:ln>
        </p:spPr>
        <p:txBody>
          <a:bodyPr spcFirstLastPara="1" wrap="square" lIns="91425" tIns="91425" rIns="91425" bIns="91425" anchor="t" anchorCtr="0">
            <a:normAutofit/>
          </a:bodyPr>
          <a:lstStyle/>
          <a:p>
            <a:pPr marL="0" marR="0" lvl="0" indent="0" algn="l" rtl="0">
              <a:lnSpc>
                <a:spcPct val="115000"/>
              </a:lnSpc>
              <a:spcBef>
                <a:spcPts val="0"/>
              </a:spcBef>
              <a:spcAft>
                <a:spcPts val="0"/>
              </a:spcAft>
              <a:buNone/>
            </a:pPr>
            <a:r>
              <a:rPr lang="fr-FR" dirty="0">
                <a:solidFill>
                  <a:schemeClr val="tx1"/>
                </a:solidFill>
                <a:latin typeface="Arial" panose="020B0604020202020204" pitchFamily="34" charset="0"/>
                <a:ea typeface="Montserrat"/>
                <a:cs typeface="Arial" panose="020B0604020202020204" pitchFamily="34" charset="0"/>
                <a:sym typeface="Montserrat"/>
              </a:rPr>
              <a:t>Baisse de -</a:t>
            </a:r>
            <a:r>
              <a:rPr lang="fr-FR" dirty="0">
                <a:solidFill>
                  <a:srgbClr val="FF0000"/>
                </a:solidFill>
                <a:latin typeface="Arial" panose="020B0604020202020204" pitchFamily="34" charset="0"/>
                <a:ea typeface="Montserrat"/>
                <a:cs typeface="Arial" panose="020B0604020202020204" pitchFamily="34" charset="0"/>
                <a:sym typeface="Montserrat"/>
              </a:rPr>
              <a:t>6,91</a:t>
            </a:r>
            <a:r>
              <a:rPr lang="fr-FR" dirty="0">
                <a:solidFill>
                  <a:schemeClr val="tx1"/>
                </a:solidFill>
                <a:latin typeface="Arial" panose="020B0604020202020204" pitchFamily="34" charset="0"/>
                <a:ea typeface="Montserrat"/>
                <a:cs typeface="Arial" panose="020B0604020202020204" pitchFamily="34" charset="0"/>
                <a:sym typeface="Montserrat"/>
              </a:rPr>
              <a:t> points</a:t>
            </a:r>
            <a:endParaRPr dirty="0">
              <a:solidFill>
                <a:schemeClr val="tx1"/>
              </a:solidFill>
              <a:latin typeface="Arial" panose="020B0604020202020204" pitchFamily="34" charset="0"/>
              <a:ea typeface="Montserrat"/>
              <a:cs typeface="Arial" panose="020B0604020202020204" pitchFamily="34" charset="0"/>
              <a:sym typeface="Montserrat"/>
            </a:endParaRPr>
          </a:p>
          <a:p>
            <a:pPr marL="0" marR="0" lvl="0" indent="0" algn="l" rtl="0">
              <a:lnSpc>
                <a:spcPct val="115000"/>
              </a:lnSpc>
              <a:spcBef>
                <a:spcPts val="0"/>
              </a:spcBef>
              <a:spcAft>
                <a:spcPts val="0"/>
              </a:spcAft>
              <a:buNone/>
            </a:pPr>
            <a:endParaRPr dirty="0">
              <a:solidFill>
                <a:srgbClr val="999999"/>
              </a:solidFill>
              <a:latin typeface="Arial" panose="020B0604020202020204" pitchFamily="34" charset="0"/>
              <a:ea typeface="Montserrat"/>
              <a:cs typeface="Arial" panose="020B0604020202020204" pitchFamily="34" charset="0"/>
              <a:sym typeface="Montserrat"/>
            </a:endParaRPr>
          </a:p>
          <a:p>
            <a:pPr marL="457200" marR="0" lvl="0" indent="0" algn="l" rtl="0">
              <a:lnSpc>
                <a:spcPct val="115000"/>
              </a:lnSpc>
              <a:spcBef>
                <a:spcPts val="0"/>
              </a:spcBef>
              <a:spcAft>
                <a:spcPts val="0"/>
              </a:spcAft>
              <a:buNone/>
            </a:pPr>
            <a:endParaRPr dirty="0">
              <a:solidFill>
                <a:srgbClr val="999999"/>
              </a:solidFill>
              <a:latin typeface="Arial" panose="020B0604020202020204" pitchFamily="34" charset="0"/>
              <a:ea typeface="Montserrat"/>
              <a:cs typeface="Arial" panose="020B0604020202020204" pitchFamily="34" charset="0"/>
              <a:sym typeface="Montserrat"/>
            </a:endParaRPr>
          </a:p>
        </p:txBody>
      </p:sp>
      <p:sp>
        <p:nvSpPr>
          <p:cNvPr id="108" name="Fond du titre">
            <a:extLst>
              <a:ext uri="{C183D7F6-B498-43B3-948B-1728B52AA6E4}">
                <adec:decorative xmlns:adec="http://schemas.microsoft.com/office/drawing/2017/decorative" val="1"/>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3" name="Tableau 2" descr="Tableau qui montre les taux de service par commande par mois de livraison prévue entre les mois de mai 2022 et janvier 2023.">
            <a:extLst>
              <a:ext uri="{FF2B5EF4-FFF2-40B4-BE49-F238E27FC236}">
                <a16:creationId xmlns:a16="http://schemas.microsoft.com/office/drawing/2014/main" id="{9190E7C0-D54E-0D8A-D77B-341CC4DB8073}"/>
              </a:ext>
            </a:extLst>
          </p:cNvPr>
          <p:cNvGraphicFramePr>
            <a:graphicFrameLocks noGrp="1"/>
          </p:cNvGraphicFramePr>
          <p:nvPr>
            <p:extLst>
              <p:ext uri="{D42A27DB-BD31-4B8C-83A1-F6EECF244321}">
                <p14:modId xmlns:p14="http://schemas.microsoft.com/office/powerpoint/2010/main" val="774238766"/>
              </p:ext>
            </p:extLst>
          </p:nvPr>
        </p:nvGraphicFramePr>
        <p:xfrm>
          <a:off x="445441" y="1463062"/>
          <a:ext cx="6824038" cy="2859405"/>
        </p:xfrm>
        <a:graphic>
          <a:graphicData uri="http://schemas.openxmlformats.org/drawingml/2006/table">
            <a:tbl>
              <a:tblPr firstRow="1" bandRow="1">
                <a:tableStyleId>{D8B276D6-7DA8-486D-9897-4FA2B4CCD1D1}</a:tableStyleId>
              </a:tblPr>
              <a:tblGrid>
                <a:gridCol w="3412019">
                  <a:extLst>
                    <a:ext uri="{9D8B030D-6E8A-4147-A177-3AD203B41FA5}">
                      <a16:colId xmlns:a16="http://schemas.microsoft.com/office/drawing/2014/main" val="2768392507"/>
                    </a:ext>
                  </a:extLst>
                </a:gridCol>
                <a:gridCol w="3412019">
                  <a:extLst>
                    <a:ext uri="{9D8B030D-6E8A-4147-A177-3AD203B41FA5}">
                      <a16:colId xmlns:a16="http://schemas.microsoft.com/office/drawing/2014/main" val="1477917304"/>
                    </a:ext>
                  </a:extLst>
                </a:gridCol>
              </a:tblGrid>
              <a:tr h="552977">
                <a:tc>
                  <a:txBody>
                    <a:bodyPr/>
                    <a:lstStyle/>
                    <a:p>
                      <a:pPr algn="ctr"/>
                      <a:r>
                        <a:rPr lang="fr-FR" sz="1600" u="sng" dirty="0"/>
                        <a:t>Dates</a:t>
                      </a:r>
                    </a:p>
                  </a:txBody>
                  <a:tcPr anchor="ctr"/>
                </a:tc>
                <a:tc>
                  <a:txBody>
                    <a:bodyPr/>
                    <a:lstStyle/>
                    <a:p>
                      <a:pPr algn="ctr"/>
                      <a:r>
                        <a:rPr lang="fr-FR" sz="1600" u="sng" dirty="0"/>
                        <a:t>Taux de service par commande par mois de livraison prévue</a:t>
                      </a:r>
                    </a:p>
                  </a:txBody>
                  <a:tcPr/>
                </a:tc>
                <a:extLst>
                  <a:ext uri="{0D108BD9-81ED-4DB2-BD59-A6C34878D82A}">
                    <a16:rowId xmlns:a16="http://schemas.microsoft.com/office/drawing/2014/main" val="2809447937"/>
                  </a:ext>
                </a:extLst>
              </a:tr>
              <a:tr h="245219">
                <a:tc>
                  <a:txBody>
                    <a:bodyPr/>
                    <a:lstStyle/>
                    <a:p>
                      <a:pPr algn="ctr" fontAlgn="b"/>
                      <a:r>
                        <a:rPr lang="fr-FR" sz="1600" b="0" i="0" u="none" strike="noStrike" dirty="0">
                          <a:solidFill>
                            <a:srgbClr val="000000"/>
                          </a:solidFill>
                          <a:effectLst/>
                          <a:latin typeface="Arial" panose="020B0604020202020204" pitchFamily="34" charset="0"/>
                        </a:rPr>
                        <a:t>202205</a:t>
                      </a:r>
                    </a:p>
                  </a:txBody>
                  <a:tcPr marL="9525" marR="9525" marT="9525" marB="0" anchor="b"/>
                </a:tc>
                <a:tc>
                  <a:txBody>
                    <a:bodyPr/>
                    <a:lstStyle/>
                    <a:p>
                      <a:pPr algn="ctr" fontAlgn="b"/>
                      <a:r>
                        <a:rPr lang="fr-FR" sz="1600" b="0" i="0" u="none" strike="noStrike" dirty="0">
                          <a:solidFill>
                            <a:srgbClr val="000000"/>
                          </a:solidFill>
                          <a:effectLst/>
                          <a:latin typeface="Arial" panose="020B0604020202020204" pitchFamily="34" charset="0"/>
                        </a:rPr>
                        <a:t>91,64</a:t>
                      </a:r>
                    </a:p>
                  </a:txBody>
                  <a:tcPr marL="9525" marR="9525" marT="9525" marB="0" anchor="b"/>
                </a:tc>
                <a:extLst>
                  <a:ext uri="{0D108BD9-81ED-4DB2-BD59-A6C34878D82A}">
                    <a16:rowId xmlns:a16="http://schemas.microsoft.com/office/drawing/2014/main" val="288236756"/>
                  </a:ext>
                </a:extLst>
              </a:tr>
              <a:tr h="245219">
                <a:tc>
                  <a:txBody>
                    <a:bodyPr/>
                    <a:lstStyle/>
                    <a:p>
                      <a:pPr algn="ctr" fontAlgn="b"/>
                      <a:r>
                        <a:rPr lang="fr-FR" sz="1600" b="0" i="0" u="none" strike="noStrike" dirty="0">
                          <a:solidFill>
                            <a:srgbClr val="000000"/>
                          </a:solidFill>
                          <a:effectLst/>
                          <a:latin typeface="Arial" panose="020B0604020202020204" pitchFamily="34" charset="0"/>
                        </a:rPr>
                        <a:t>202206</a:t>
                      </a:r>
                    </a:p>
                  </a:txBody>
                  <a:tcPr marL="9525" marR="9525" marT="9525" marB="0" anchor="b"/>
                </a:tc>
                <a:tc>
                  <a:txBody>
                    <a:bodyPr/>
                    <a:lstStyle/>
                    <a:p>
                      <a:pPr algn="ctr" fontAlgn="b"/>
                      <a:r>
                        <a:rPr lang="fr-FR" sz="1600" b="0" i="0" u="none" strike="noStrike">
                          <a:solidFill>
                            <a:srgbClr val="000000"/>
                          </a:solidFill>
                          <a:effectLst/>
                          <a:latin typeface="Arial" panose="020B0604020202020204" pitchFamily="34" charset="0"/>
                        </a:rPr>
                        <a:t>93,84</a:t>
                      </a:r>
                    </a:p>
                  </a:txBody>
                  <a:tcPr marL="9525" marR="9525" marT="9525" marB="0" anchor="b"/>
                </a:tc>
                <a:extLst>
                  <a:ext uri="{0D108BD9-81ED-4DB2-BD59-A6C34878D82A}">
                    <a16:rowId xmlns:a16="http://schemas.microsoft.com/office/drawing/2014/main" val="865765671"/>
                  </a:ext>
                </a:extLst>
              </a:tr>
              <a:tr h="245219">
                <a:tc>
                  <a:txBody>
                    <a:bodyPr/>
                    <a:lstStyle/>
                    <a:p>
                      <a:pPr algn="ctr" fontAlgn="b"/>
                      <a:r>
                        <a:rPr lang="fr-FR" sz="1600" b="0" i="0" u="none" strike="noStrike" dirty="0">
                          <a:solidFill>
                            <a:srgbClr val="000000"/>
                          </a:solidFill>
                          <a:effectLst/>
                          <a:latin typeface="Arial" panose="020B0604020202020204" pitchFamily="34" charset="0"/>
                        </a:rPr>
                        <a:t>202207</a:t>
                      </a:r>
                    </a:p>
                  </a:txBody>
                  <a:tcPr marL="9525" marR="9525" marT="9525" marB="0" anchor="b"/>
                </a:tc>
                <a:tc>
                  <a:txBody>
                    <a:bodyPr/>
                    <a:lstStyle/>
                    <a:p>
                      <a:pPr algn="ctr" fontAlgn="b"/>
                      <a:r>
                        <a:rPr lang="fr-FR" sz="1600" b="0" i="0" u="none" strike="noStrike" dirty="0">
                          <a:solidFill>
                            <a:srgbClr val="000000"/>
                          </a:solidFill>
                          <a:effectLst/>
                          <a:latin typeface="Arial" panose="020B0604020202020204" pitchFamily="34" charset="0"/>
                        </a:rPr>
                        <a:t>114,27</a:t>
                      </a:r>
                    </a:p>
                  </a:txBody>
                  <a:tcPr marL="9525" marR="9525" marT="9525" marB="0" anchor="b"/>
                </a:tc>
                <a:extLst>
                  <a:ext uri="{0D108BD9-81ED-4DB2-BD59-A6C34878D82A}">
                    <a16:rowId xmlns:a16="http://schemas.microsoft.com/office/drawing/2014/main" val="3247840157"/>
                  </a:ext>
                </a:extLst>
              </a:tr>
              <a:tr h="245219">
                <a:tc>
                  <a:txBody>
                    <a:bodyPr/>
                    <a:lstStyle/>
                    <a:p>
                      <a:pPr algn="ctr" fontAlgn="b"/>
                      <a:r>
                        <a:rPr lang="fr-FR" sz="1600" b="0" i="0" u="none" strike="noStrike">
                          <a:solidFill>
                            <a:srgbClr val="000000"/>
                          </a:solidFill>
                          <a:effectLst/>
                          <a:latin typeface="Arial" panose="020B0604020202020204" pitchFamily="34" charset="0"/>
                        </a:rPr>
                        <a:t>202208</a:t>
                      </a:r>
                    </a:p>
                  </a:txBody>
                  <a:tcPr marL="9525" marR="9525" marT="9525" marB="0" anchor="b"/>
                </a:tc>
                <a:tc>
                  <a:txBody>
                    <a:bodyPr/>
                    <a:lstStyle/>
                    <a:p>
                      <a:pPr algn="ctr" fontAlgn="b"/>
                      <a:r>
                        <a:rPr lang="fr-FR" sz="1600" b="0" i="0" u="none" strike="noStrike" dirty="0">
                          <a:solidFill>
                            <a:srgbClr val="000000"/>
                          </a:solidFill>
                          <a:effectLst/>
                          <a:latin typeface="Arial" panose="020B0604020202020204" pitchFamily="34" charset="0"/>
                        </a:rPr>
                        <a:t>94,68</a:t>
                      </a:r>
                    </a:p>
                  </a:txBody>
                  <a:tcPr marL="9525" marR="9525" marT="9525" marB="0" anchor="b"/>
                </a:tc>
                <a:extLst>
                  <a:ext uri="{0D108BD9-81ED-4DB2-BD59-A6C34878D82A}">
                    <a16:rowId xmlns:a16="http://schemas.microsoft.com/office/drawing/2014/main" val="2269331600"/>
                  </a:ext>
                </a:extLst>
              </a:tr>
              <a:tr h="245219">
                <a:tc>
                  <a:txBody>
                    <a:bodyPr/>
                    <a:lstStyle/>
                    <a:p>
                      <a:pPr algn="ctr" fontAlgn="b"/>
                      <a:r>
                        <a:rPr lang="fr-FR" sz="1600" b="0" i="0" u="none" strike="noStrike">
                          <a:solidFill>
                            <a:srgbClr val="000000"/>
                          </a:solidFill>
                          <a:effectLst/>
                          <a:latin typeface="Arial" panose="020B0604020202020204" pitchFamily="34" charset="0"/>
                        </a:rPr>
                        <a:t>202209</a:t>
                      </a:r>
                    </a:p>
                  </a:txBody>
                  <a:tcPr marL="9525" marR="9525" marT="9525" marB="0" anchor="b"/>
                </a:tc>
                <a:tc>
                  <a:txBody>
                    <a:bodyPr/>
                    <a:lstStyle/>
                    <a:p>
                      <a:pPr algn="ctr" fontAlgn="b"/>
                      <a:r>
                        <a:rPr lang="fr-FR" sz="1600" b="0" i="0" u="none" strike="noStrike">
                          <a:solidFill>
                            <a:srgbClr val="000000"/>
                          </a:solidFill>
                          <a:effectLst/>
                          <a:latin typeface="Arial" panose="020B0604020202020204" pitchFamily="34" charset="0"/>
                        </a:rPr>
                        <a:t>102,54</a:t>
                      </a:r>
                    </a:p>
                  </a:txBody>
                  <a:tcPr marL="9525" marR="9525" marT="9525" marB="0" anchor="b"/>
                </a:tc>
                <a:extLst>
                  <a:ext uri="{0D108BD9-81ED-4DB2-BD59-A6C34878D82A}">
                    <a16:rowId xmlns:a16="http://schemas.microsoft.com/office/drawing/2014/main" val="3745755625"/>
                  </a:ext>
                </a:extLst>
              </a:tr>
              <a:tr h="245219">
                <a:tc>
                  <a:txBody>
                    <a:bodyPr/>
                    <a:lstStyle/>
                    <a:p>
                      <a:pPr algn="ctr" fontAlgn="b"/>
                      <a:r>
                        <a:rPr lang="fr-FR" sz="1600" b="0" i="0" u="none" strike="noStrike">
                          <a:solidFill>
                            <a:srgbClr val="000000"/>
                          </a:solidFill>
                          <a:effectLst/>
                          <a:latin typeface="Arial" panose="020B0604020202020204" pitchFamily="34" charset="0"/>
                        </a:rPr>
                        <a:t>202210</a:t>
                      </a:r>
                    </a:p>
                  </a:txBody>
                  <a:tcPr marL="9525" marR="9525" marT="9525" marB="0" anchor="b"/>
                </a:tc>
                <a:tc>
                  <a:txBody>
                    <a:bodyPr/>
                    <a:lstStyle/>
                    <a:p>
                      <a:pPr algn="ctr" fontAlgn="b"/>
                      <a:r>
                        <a:rPr lang="fr-FR" sz="1600" b="0" i="0" u="none" strike="noStrike">
                          <a:solidFill>
                            <a:srgbClr val="000000"/>
                          </a:solidFill>
                          <a:effectLst/>
                          <a:latin typeface="Arial" panose="020B0604020202020204" pitchFamily="34" charset="0"/>
                        </a:rPr>
                        <a:t>99,72</a:t>
                      </a:r>
                    </a:p>
                  </a:txBody>
                  <a:tcPr marL="9525" marR="9525" marT="9525" marB="0" anchor="b"/>
                </a:tc>
                <a:extLst>
                  <a:ext uri="{0D108BD9-81ED-4DB2-BD59-A6C34878D82A}">
                    <a16:rowId xmlns:a16="http://schemas.microsoft.com/office/drawing/2014/main" val="2693079969"/>
                  </a:ext>
                </a:extLst>
              </a:tr>
              <a:tr h="245219">
                <a:tc>
                  <a:txBody>
                    <a:bodyPr/>
                    <a:lstStyle/>
                    <a:p>
                      <a:pPr algn="ctr" fontAlgn="b"/>
                      <a:r>
                        <a:rPr lang="fr-FR" sz="1600" b="0" i="0" u="none" strike="noStrike">
                          <a:solidFill>
                            <a:srgbClr val="000000"/>
                          </a:solidFill>
                          <a:effectLst/>
                          <a:latin typeface="Arial" panose="020B0604020202020204" pitchFamily="34" charset="0"/>
                        </a:rPr>
                        <a:t>202211</a:t>
                      </a:r>
                    </a:p>
                  </a:txBody>
                  <a:tcPr marL="9525" marR="9525" marT="9525" marB="0" anchor="b"/>
                </a:tc>
                <a:tc>
                  <a:txBody>
                    <a:bodyPr/>
                    <a:lstStyle/>
                    <a:p>
                      <a:pPr algn="ctr" fontAlgn="b"/>
                      <a:r>
                        <a:rPr lang="fr-FR" sz="1600" b="0" i="0" u="none" strike="noStrike" dirty="0">
                          <a:solidFill>
                            <a:srgbClr val="000000"/>
                          </a:solidFill>
                          <a:effectLst/>
                          <a:latin typeface="Arial" panose="020B0604020202020204" pitchFamily="34" charset="0"/>
                        </a:rPr>
                        <a:t>90,42</a:t>
                      </a:r>
                    </a:p>
                  </a:txBody>
                  <a:tcPr marL="9525" marR="9525" marT="9525" marB="0" anchor="b"/>
                </a:tc>
                <a:extLst>
                  <a:ext uri="{0D108BD9-81ED-4DB2-BD59-A6C34878D82A}">
                    <a16:rowId xmlns:a16="http://schemas.microsoft.com/office/drawing/2014/main" val="3691053260"/>
                  </a:ext>
                </a:extLst>
              </a:tr>
              <a:tr h="245219">
                <a:tc>
                  <a:txBody>
                    <a:bodyPr/>
                    <a:lstStyle/>
                    <a:p>
                      <a:pPr algn="ctr" fontAlgn="b"/>
                      <a:r>
                        <a:rPr lang="fr-FR" sz="1600" b="0" i="0" u="none" strike="noStrike">
                          <a:solidFill>
                            <a:srgbClr val="000000"/>
                          </a:solidFill>
                          <a:effectLst/>
                          <a:latin typeface="Arial" panose="020B0604020202020204" pitchFamily="34" charset="0"/>
                        </a:rPr>
                        <a:t>202212</a:t>
                      </a:r>
                    </a:p>
                  </a:txBody>
                  <a:tcPr marL="9525" marR="9525" marT="9525" marB="0" anchor="b"/>
                </a:tc>
                <a:tc>
                  <a:txBody>
                    <a:bodyPr/>
                    <a:lstStyle/>
                    <a:p>
                      <a:pPr algn="ctr" fontAlgn="b"/>
                      <a:r>
                        <a:rPr lang="fr-FR" sz="1600" b="0" i="0" u="none" strike="noStrike">
                          <a:solidFill>
                            <a:srgbClr val="000000"/>
                          </a:solidFill>
                          <a:effectLst/>
                          <a:latin typeface="Arial" panose="020B0604020202020204" pitchFamily="34" charset="0"/>
                        </a:rPr>
                        <a:t>104,9</a:t>
                      </a:r>
                    </a:p>
                  </a:txBody>
                  <a:tcPr marL="9525" marR="9525" marT="9525" marB="0" anchor="b"/>
                </a:tc>
                <a:extLst>
                  <a:ext uri="{0D108BD9-81ED-4DB2-BD59-A6C34878D82A}">
                    <a16:rowId xmlns:a16="http://schemas.microsoft.com/office/drawing/2014/main" val="2422171838"/>
                  </a:ext>
                </a:extLst>
              </a:tr>
              <a:tr h="245219">
                <a:tc>
                  <a:txBody>
                    <a:bodyPr/>
                    <a:lstStyle/>
                    <a:p>
                      <a:pPr algn="ctr" fontAlgn="b"/>
                      <a:r>
                        <a:rPr lang="fr-FR" sz="1600" b="0" i="0" u="none" strike="noStrike">
                          <a:solidFill>
                            <a:srgbClr val="000000"/>
                          </a:solidFill>
                          <a:effectLst/>
                          <a:latin typeface="Arial" panose="020B0604020202020204" pitchFamily="34" charset="0"/>
                        </a:rPr>
                        <a:t>202301</a:t>
                      </a:r>
                    </a:p>
                  </a:txBody>
                  <a:tcPr marL="9525" marR="9525" marT="9525" marB="0" anchor="b"/>
                </a:tc>
                <a:tc>
                  <a:txBody>
                    <a:bodyPr/>
                    <a:lstStyle/>
                    <a:p>
                      <a:pPr algn="ctr" fontAlgn="b"/>
                      <a:r>
                        <a:rPr lang="fr-FR" sz="1600" b="0" i="0" u="none" strike="noStrike" dirty="0">
                          <a:solidFill>
                            <a:srgbClr val="000000"/>
                          </a:solidFill>
                          <a:effectLst/>
                          <a:latin typeface="Arial" panose="020B0604020202020204" pitchFamily="34" charset="0"/>
                        </a:rPr>
                        <a:t>84,73</a:t>
                      </a:r>
                    </a:p>
                  </a:txBody>
                  <a:tcPr marL="9525" marR="9525" marT="9525" marB="0" anchor="b"/>
                </a:tc>
                <a:extLst>
                  <a:ext uri="{0D108BD9-81ED-4DB2-BD59-A6C34878D82A}">
                    <a16:rowId xmlns:a16="http://schemas.microsoft.com/office/drawing/2014/main" val="3355018660"/>
                  </a:ext>
                </a:extLst>
              </a:tr>
            </a:tbl>
          </a:graphicData>
        </a:graphic>
      </p:graphicFrame>
      <p:sp>
        <p:nvSpPr>
          <p:cNvPr id="2" name="Titre 1">
            <a:extLst>
              <a:ext uri="{FF2B5EF4-FFF2-40B4-BE49-F238E27FC236}">
                <a16:creationId xmlns:a16="http://schemas.microsoft.com/office/drawing/2014/main" id="{C2D188A1-0FA8-32EF-B9FD-E6F1D043B374}"/>
              </a:ext>
            </a:extLst>
          </p:cNvPr>
          <p:cNvSpPr>
            <a:spLocks noGrp="1"/>
          </p:cNvSpPr>
          <p:nvPr>
            <p:ph type="title"/>
          </p:nvPr>
        </p:nvSpPr>
        <p:spPr/>
        <p:txBody>
          <a:bodyPr>
            <a:normAutofit fontScale="90000"/>
          </a:bodyPr>
          <a:lstStyle/>
          <a:p>
            <a:pPr rtl="0"/>
            <a:r>
              <a:rPr lang="fr-FR" sz="2500" b="0" i="0" dirty="0">
                <a:solidFill>
                  <a:srgbClr val="F3F3F3"/>
                </a:solidFill>
                <a:effectLst/>
                <a:latin typeface="Arial" panose="020B0604020202020204" pitchFamily="34" charset="0"/>
                <a:ea typeface="Montserrat" pitchFamily="2" charset="77"/>
                <a:cs typeface="Arial" panose="020B0604020202020204" pitchFamily="34" charset="0"/>
              </a:rPr>
              <a:t>L’évolution du taux de service des commandes réceptionnées</a:t>
            </a:r>
            <a:endParaRPr lang="fr-FR" dirty="0">
              <a:effectLst/>
            </a:endParaRPr>
          </a:p>
          <a:p>
            <a:endParaRPr lang="fr-F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g1644a70ef9a_0_27">
            <a:extLst>
              <a:ext uri="{C183D7F6-B498-43B3-948B-1728B52AA6E4}">
                <adec:decorative xmlns:adec="http://schemas.microsoft.com/office/drawing/2017/decorative" val="1"/>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g1644a70ef9a_0_27">
            <a:extLst>
              <a:ext uri="{C183D7F6-B498-43B3-948B-1728B52AA6E4}">
                <adec:decorative xmlns:adec="http://schemas.microsoft.com/office/drawing/2017/decorative" val="1"/>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121" name="Google Shape;121;g1644a70ef9a_0_27"/>
          <p:cNvGraphicFramePr/>
          <p:nvPr>
            <p:extLst>
              <p:ext uri="{D42A27DB-BD31-4B8C-83A1-F6EECF244321}">
                <p14:modId xmlns:p14="http://schemas.microsoft.com/office/powerpoint/2010/main" val="2309549864"/>
              </p:ext>
            </p:extLst>
          </p:nvPr>
        </p:nvGraphicFramePr>
        <p:xfrm>
          <a:off x="189185" y="1566052"/>
          <a:ext cx="8815919" cy="2897374"/>
        </p:xfrm>
        <a:graphic>
          <a:graphicData uri="http://schemas.openxmlformats.org/drawingml/2006/table">
            <a:tbl>
              <a:tblPr firstRow="1">
                <a:noFill/>
                <a:tableStyleId>{D8B276D6-7DA8-486D-9897-4FA2B4CCD1D1}</a:tableStyleId>
              </a:tblPr>
              <a:tblGrid>
                <a:gridCol w="1556153">
                  <a:extLst>
                    <a:ext uri="{9D8B030D-6E8A-4147-A177-3AD203B41FA5}">
                      <a16:colId xmlns:a16="http://schemas.microsoft.com/office/drawing/2014/main" val="20000"/>
                    </a:ext>
                  </a:extLst>
                </a:gridCol>
                <a:gridCol w="1015292">
                  <a:extLst>
                    <a:ext uri="{9D8B030D-6E8A-4147-A177-3AD203B41FA5}">
                      <a16:colId xmlns:a16="http://schemas.microsoft.com/office/drawing/2014/main" val="3635492568"/>
                    </a:ext>
                  </a:extLst>
                </a:gridCol>
                <a:gridCol w="1015292">
                  <a:extLst>
                    <a:ext uri="{9D8B030D-6E8A-4147-A177-3AD203B41FA5}">
                      <a16:colId xmlns:a16="http://schemas.microsoft.com/office/drawing/2014/main" val="868953111"/>
                    </a:ext>
                  </a:extLst>
                </a:gridCol>
                <a:gridCol w="1006904">
                  <a:extLst>
                    <a:ext uri="{9D8B030D-6E8A-4147-A177-3AD203B41FA5}">
                      <a16:colId xmlns:a16="http://schemas.microsoft.com/office/drawing/2014/main" val="965260800"/>
                    </a:ext>
                  </a:extLst>
                </a:gridCol>
                <a:gridCol w="1009499">
                  <a:extLst>
                    <a:ext uri="{9D8B030D-6E8A-4147-A177-3AD203B41FA5}">
                      <a16:colId xmlns:a16="http://schemas.microsoft.com/office/drawing/2014/main" val="3135064854"/>
                    </a:ext>
                  </a:extLst>
                </a:gridCol>
                <a:gridCol w="1130170">
                  <a:extLst>
                    <a:ext uri="{9D8B030D-6E8A-4147-A177-3AD203B41FA5}">
                      <a16:colId xmlns:a16="http://schemas.microsoft.com/office/drawing/2014/main" val="4026706263"/>
                    </a:ext>
                  </a:extLst>
                </a:gridCol>
                <a:gridCol w="1189455">
                  <a:extLst>
                    <a:ext uri="{9D8B030D-6E8A-4147-A177-3AD203B41FA5}">
                      <a16:colId xmlns:a16="http://schemas.microsoft.com/office/drawing/2014/main" val="1777867150"/>
                    </a:ext>
                  </a:extLst>
                </a:gridCol>
                <a:gridCol w="893154">
                  <a:extLst>
                    <a:ext uri="{9D8B030D-6E8A-4147-A177-3AD203B41FA5}">
                      <a16:colId xmlns:a16="http://schemas.microsoft.com/office/drawing/2014/main" val="300493504"/>
                    </a:ext>
                  </a:extLst>
                </a:gridCol>
              </a:tblGrid>
              <a:tr h="1304470">
                <a:tc>
                  <a:txBody>
                    <a:bodyPr/>
                    <a:lstStyle/>
                    <a:p>
                      <a:pPr marL="0" lvl="0" indent="0" algn="l" rtl="0">
                        <a:lnSpc>
                          <a:spcPct val="115000"/>
                        </a:lnSpc>
                        <a:spcBef>
                          <a:spcPts val="0"/>
                        </a:spcBef>
                        <a:spcAft>
                          <a:spcPts val="0"/>
                        </a:spcAft>
                        <a:buNone/>
                      </a:pPr>
                      <a:r>
                        <a:rPr lang="fr-FR" dirty="0">
                          <a:solidFill>
                            <a:schemeClr val="tx1"/>
                          </a:solidFill>
                        </a:rPr>
                        <a:t>Famille de produits </a:t>
                      </a:r>
                      <a:endParaRPr dirty="0">
                        <a:solidFill>
                          <a:schemeClr val="tx1"/>
                        </a:solidFill>
                      </a:endParaRPr>
                    </a:p>
                  </a:txBody>
                  <a:tcPr marL="91425" marR="91425" marT="91425" marB="91425"/>
                </a:tc>
                <a:tc>
                  <a:txBody>
                    <a:bodyPr/>
                    <a:lstStyle/>
                    <a:p>
                      <a:pPr marL="0" lvl="0" indent="0" algn="l" rtl="0">
                        <a:lnSpc>
                          <a:spcPct val="115000"/>
                        </a:lnSpc>
                        <a:spcBef>
                          <a:spcPts val="0"/>
                        </a:spcBef>
                        <a:spcAft>
                          <a:spcPts val="0"/>
                        </a:spcAft>
                        <a:buNone/>
                      </a:pPr>
                      <a:r>
                        <a:rPr lang="fr-FR" dirty="0">
                          <a:solidFill>
                            <a:schemeClr val="tx1"/>
                          </a:solidFill>
                        </a:rPr>
                        <a:t>Evolution du stock en quantité</a:t>
                      </a:r>
                      <a:endParaRPr dirty="0">
                        <a:solidFill>
                          <a:schemeClr val="tx1"/>
                        </a:solidFill>
                      </a:endParaRPr>
                    </a:p>
                  </a:txBody>
                  <a:tcPr marL="91425" marR="91425" marT="91425" marB="91425"/>
                </a:tc>
                <a:tc>
                  <a:txBody>
                    <a:bodyPr/>
                    <a:lstStyle/>
                    <a:p>
                      <a:pPr marL="0" lvl="0" indent="0" algn="l" rtl="0">
                        <a:lnSpc>
                          <a:spcPct val="115000"/>
                        </a:lnSpc>
                        <a:spcBef>
                          <a:spcPts val="0"/>
                        </a:spcBef>
                        <a:spcAft>
                          <a:spcPts val="0"/>
                        </a:spcAft>
                        <a:buNone/>
                      </a:pPr>
                      <a:r>
                        <a:rPr lang="fr-FR" dirty="0">
                          <a:solidFill>
                            <a:schemeClr val="tx1"/>
                          </a:solidFill>
                        </a:rPr>
                        <a:t>Evolution du stock moyen en %</a:t>
                      </a:r>
                      <a:endParaRPr dirty="0">
                        <a:solidFill>
                          <a:schemeClr val="tx1"/>
                        </a:solidFill>
                      </a:endParaRPr>
                    </a:p>
                  </a:txBody>
                  <a:tcPr marL="91425" marR="91425" marT="91425" marB="91425"/>
                </a:tc>
                <a:tc>
                  <a:txBody>
                    <a:bodyPr/>
                    <a:lstStyle/>
                    <a:p>
                      <a:pPr marL="0" lvl="0" indent="0" algn="l" rtl="0">
                        <a:lnSpc>
                          <a:spcPct val="115000"/>
                        </a:lnSpc>
                        <a:spcBef>
                          <a:spcPts val="0"/>
                        </a:spcBef>
                        <a:spcAft>
                          <a:spcPts val="0"/>
                        </a:spcAft>
                        <a:buNone/>
                      </a:pPr>
                      <a:r>
                        <a:rPr lang="fr-FR" dirty="0">
                          <a:solidFill>
                            <a:schemeClr val="tx1"/>
                          </a:solidFill>
                        </a:rPr>
                        <a:t>Evolution du prix moyen en %</a:t>
                      </a:r>
                      <a:endParaRPr dirty="0">
                        <a:solidFill>
                          <a:schemeClr val="tx1"/>
                        </a:solidFill>
                      </a:endParaRPr>
                    </a:p>
                  </a:txBody>
                  <a:tcPr marL="91425" marR="91425" marT="91425" marB="91425"/>
                </a:tc>
                <a:tc>
                  <a:txBody>
                    <a:bodyPr/>
                    <a:lstStyle/>
                    <a:p>
                      <a:pPr marL="0" lvl="0" indent="0" algn="l" rtl="0">
                        <a:lnSpc>
                          <a:spcPct val="115000"/>
                        </a:lnSpc>
                        <a:spcBef>
                          <a:spcPts val="0"/>
                        </a:spcBef>
                        <a:spcAft>
                          <a:spcPts val="0"/>
                        </a:spcAft>
                        <a:buNone/>
                      </a:pPr>
                      <a:r>
                        <a:rPr lang="fr-FR" dirty="0">
                          <a:solidFill>
                            <a:schemeClr val="tx1"/>
                          </a:solidFill>
                        </a:rPr>
                        <a:t>Evolution du prix moyen en €</a:t>
                      </a:r>
                      <a:endParaRPr dirty="0">
                        <a:solidFill>
                          <a:schemeClr val="tx1"/>
                        </a:solidFill>
                      </a:endParaRPr>
                    </a:p>
                  </a:txBody>
                  <a:tcPr marL="91425" marR="91425" marT="91425" marB="91425"/>
                </a:tc>
                <a:tc>
                  <a:txBody>
                    <a:bodyPr/>
                    <a:lstStyle/>
                    <a:p>
                      <a:pPr marL="0" lvl="0" indent="0" algn="l" rtl="0">
                        <a:lnSpc>
                          <a:spcPct val="115000"/>
                        </a:lnSpc>
                        <a:spcBef>
                          <a:spcPts val="0"/>
                        </a:spcBef>
                        <a:spcAft>
                          <a:spcPts val="0"/>
                        </a:spcAft>
                        <a:buNone/>
                      </a:pPr>
                      <a:r>
                        <a:rPr lang="fr-FR" dirty="0">
                          <a:solidFill>
                            <a:schemeClr val="tx1"/>
                          </a:solidFill>
                        </a:rPr>
                        <a:t>Evolution du nombre de produits stockés en quantité</a:t>
                      </a:r>
                      <a:endParaRPr dirty="0">
                        <a:solidFill>
                          <a:schemeClr val="tx1"/>
                        </a:solidFill>
                      </a:endParaRPr>
                    </a:p>
                  </a:txBody>
                  <a:tcPr marL="91425" marR="91425" marT="91425" marB="91425"/>
                </a:tc>
                <a:tc>
                  <a:txBody>
                    <a:bodyPr/>
                    <a:lstStyle/>
                    <a:p>
                      <a:pPr marL="0" lvl="0" indent="0" algn="l" rtl="0">
                        <a:lnSpc>
                          <a:spcPct val="115000"/>
                        </a:lnSpc>
                        <a:spcBef>
                          <a:spcPts val="0"/>
                        </a:spcBef>
                        <a:spcAft>
                          <a:spcPts val="0"/>
                        </a:spcAft>
                        <a:buNone/>
                      </a:pPr>
                      <a:r>
                        <a:rPr lang="fr-FR" dirty="0">
                          <a:solidFill>
                            <a:schemeClr val="tx1"/>
                          </a:solidFill>
                        </a:rPr>
                        <a:t>Evolution du nombre de commandes réceptionnées</a:t>
                      </a:r>
                      <a:endParaRPr dirty="0">
                        <a:solidFill>
                          <a:schemeClr val="tx1"/>
                        </a:solidFill>
                      </a:endParaRPr>
                    </a:p>
                  </a:txBody>
                  <a:tcPr marL="91425" marR="91425" marT="91425" marB="91425"/>
                </a:tc>
                <a:tc>
                  <a:txBody>
                    <a:bodyPr/>
                    <a:lstStyle/>
                    <a:p>
                      <a:pPr marL="0" lvl="0" indent="0" algn="l" rtl="0">
                        <a:lnSpc>
                          <a:spcPct val="115000"/>
                        </a:lnSpc>
                        <a:spcBef>
                          <a:spcPts val="0"/>
                        </a:spcBef>
                        <a:spcAft>
                          <a:spcPts val="0"/>
                        </a:spcAft>
                        <a:buNone/>
                      </a:pPr>
                      <a:r>
                        <a:rPr lang="fr-FR" dirty="0">
                          <a:solidFill>
                            <a:schemeClr val="tx1"/>
                          </a:solidFill>
                        </a:rPr>
                        <a:t>Taux de service </a:t>
                      </a:r>
                      <a:endParaRPr dirty="0">
                        <a:solidFill>
                          <a:schemeClr val="tx1"/>
                        </a:solidFill>
                      </a:endParaRPr>
                    </a:p>
                  </a:txBody>
                  <a:tcPr marL="91425" marR="91425" marT="91425" marB="91425"/>
                </a:tc>
                <a:extLst>
                  <a:ext uri="{0D108BD9-81ED-4DB2-BD59-A6C34878D82A}">
                    <a16:rowId xmlns:a16="http://schemas.microsoft.com/office/drawing/2014/main" val="3090216782"/>
                  </a:ext>
                </a:extLst>
              </a:tr>
              <a:tr h="580259">
                <a:tc>
                  <a:txBody>
                    <a:bodyPr/>
                    <a:lstStyle/>
                    <a:p>
                      <a:pPr marL="0" lvl="0" indent="0" algn="l" rtl="0">
                        <a:lnSpc>
                          <a:spcPct val="115000"/>
                        </a:lnSpc>
                        <a:spcBef>
                          <a:spcPts val="0"/>
                        </a:spcBef>
                        <a:spcAft>
                          <a:spcPts val="0"/>
                        </a:spcAft>
                        <a:buNone/>
                      </a:pPr>
                      <a:r>
                        <a:rPr lang="fr" sz="1400" b="0" i="0" dirty="0">
                          <a:solidFill>
                            <a:schemeClr val="tx1"/>
                          </a:solidFill>
                          <a:latin typeface="Arial" panose="020B0604020202020204" pitchFamily="34" charset="0"/>
                          <a:cs typeface="Arial" panose="020B0604020202020204" pitchFamily="34" charset="0"/>
                          <a:sym typeface="Montserrat"/>
                        </a:rPr>
                        <a:t>Boulangerie</a:t>
                      </a:r>
                      <a:endParaRPr sz="1400" dirty="0">
                        <a:solidFill>
                          <a:schemeClr val="tx1"/>
                        </a:solidFill>
                      </a:endParaRPr>
                    </a:p>
                  </a:txBody>
                  <a:tcPr marL="91425" marR="91425" marT="91425" marB="91425"/>
                </a:tc>
                <a:tc>
                  <a:txBody>
                    <a:bodyPr/>
                    <a:lstStyle/>
                    <a:p>
                      <a:pPr marL="0" lvl="0" indent="0" algn="l" rtl="0">
                        <a:lnSpc>
                          <a:spcPct val="115000"/>
                        </a:lnSpc>
                        <a:spcBef>
                          <a:spcPts val="0"/>
                        </a:spcBef>
                        <a:spcAft>
                          <a:spcPts val="0"/>
                        </a:spcAft>
                        <a:buNone/>
                      </a:pPr>
                      <a:r>
                        <a:rPr lang="fr-FR" dirty="0">
                          <a:solidFill>
                            <a:srgbClr val="FF0000"/>
                          </a:solidFill>
                        </a:rPr>
                        <a:t>+102 284</a:t>
                      </a:r>
                    </a:p>
                  </a:txBody>
                  <a:tcPr marL="91425" marR="91425" marT="91425" marB="91425"/>
                </a:tc>
                <a:tc>
                  <a:txBody>
                    <a:bodyPr/>
                    <a:lstStyle/>
                    <a:p>
                      <a:pPr marL="0" lvl="0" indent="0" algn="l" rtl="0">
                        <a:lnSpc>
                          <a:spcPct val="115000"/>
                        </a:lnSpc>
                        <a:spcBef>
                          <a:spcPts val="0"/>
                        </a:spcBef>
                        <a:spcAft>
                          <a:spcPts val="0"/>
                        </a:spcAft>
                        <a:buNone/>
                      </a:pPr>
                      <a:r>
                        <a:rPr lang="fr-FR" dirty="0">
                          <a:solidFill>
                            <a:srgbClr val="FF0000"/>
                          </a:solidFill>
                        </a:rPr>
                        <a:t>+1 002</a:t>
                      </a:r>
                    </a:p>
                  </a:txBody>
                  <a:tcPr marL="91425" marR="91425" marT="91425" marB="91425"/>
                </a:tc>
                <a:tc>
                  <a:txBody>
                    <a:bodyPr/>
                    <a:lstStyle/>
                    <a:p>
                      <a:pPr marL="0" lvl="0" indent="0" algn="l" rtl="0">
                        <a:lnSpc>
                          <a:spcPct val="115000"/>
                        </a:lnSpc>
                        <a:spcBef>
                          <a:spcPts val="0"/>
                        </a:spcBef>
                        <a:spcAft>
                          <a:spcPts val="0"/>
                        </a:spcAft>
                        <a:buNone/>
                      </a:pPr>
                      <a:r>
                        <a:rPr lang="fr-FR" dirty="0">
                          <a:solidFill>
                            <a:schemeClr val="tx1"/>
                          </a:solidFill>
                        </a:rPr>
                        <a:t>-4,6</a:t>
                      </a:r>
                      <a:endParaRPr dirty="0">
                        <a:solidFill>
                          <a:schemeClr val="tx1"/>
                        </a:solidFill>
                      </a:endParaRPr>
                    </a:p>
                  </a:txBody>
                  <a:tcPr marL="91425" marR="91425" marT="91425" marB="91425"/>
                </a:tc>
                <a:tc>
                  <a:txBody>
                    <a:bodyPr/>
                    <a:lstStyle/>
                    <a:p>
                      <a:pPr marL="0" lvl="0" indent="0" algn="l" rtl="0">
                        <a:lnSpc>
                          <a:spcPct val="115000"/>
                        </a:lnSpc>
                        <a:spcBef>
                          <a:spcPts val="0"/>
                        </a:spcBef>
                        <a:spcAft>
                          <a:spcPts val="0"/>
                        </a:spcAft>
                        <a:buNone/>
                      </a:pPr>
                      <a:r>
                        <a:rPr lang="fr-FR" dirty="0">
                          <a:solidFill>
                            <a:schemeClr val="tx1"/>
                          </a:solidFill>
                        </a:rPr>
                        <a:t>-1,8</a:t>
                      </a:r>
                      <a:endParaRPr dirty="0">
                        <a:solidFill>
                          <a:schemeClr val="tx1"/>
                        </a:solidFill>
                      </a:endParaRPr>
                    </a:p>
                  </a:txBody>
                  <a:tcPr marL="91425" marR="91425" marT="91425" marB="91425"/>
                </a:tc>
                <a:tc>
                  <a:txBody>
                    <a:bodyPr/>
                    <a:lstStyle/>
                    <a:p>
                      <a:pPr marL="0" lvl="0" indent="0" algn="l" rtl="0">
                        <a:lnSpc>
                          <a:spcPct val="115000"/>
                        </a:lnSpc>
                        <a:spcBef>
                          <a:spcPts val="0"/>
                        </a:spcBef>
                        <a:spcAft>
                          <a:spcPts val="0"/>
                        </a:spcAft>
                        <a:buNone/>
                      </a:pPr>
                      <a:r>
                        <a:rPr lang="fr-FR" dirty="0">
                          <a:solidFill>
                            <a:srgbClr val="FF0000"/>
                          </a:solidFill>
                        </a:rPr>
                        <a:t>+30,8</a:t>
                      </a:r>
                      <a:endParaRPr dirty="0">
                        <a:solidFill>
                          <a:srgbClr val="FF0000"/>
                        </a:solidFill>
                      </a:endParaRPr>
                    </a:p>
                  </a:txBody>
                  <a:tcPr marL="91425" marR="91425" marT="91425" marB="91425"/>
                </a:tc>
                <a:tc>
                  <a:txBody>
                    <a:bodyPr/>
                    <a:lstStyle/>
                    <a:p>
                      <a:pPr marL="0" lvl="0" indent="0" algn="l" rtl="0">
                        <a:lnSpc>
                          <a:spcPct val="115000"/>
                        </a:lnSpc>
                        <a:spcBef>
                          <a:spcPts val="0"/>
                        </a:spcBef>
                        <a:spcAft>
                          <a:spcPts val="0"/>
                        </a:spcAft>
                        <a:buNone/>
                      </a:pPr>
                      <a:r>
                        <a:rPr lang="fr-FR" dirty="0">
                          <a:solidFill>
                            <a:srgbClr val="FF0000"/>
                          </a:solidFill>
                        </a:rPr>
                        <a:t>+9,1</a:t>
                      </a:r>
                      <a:endParaRPr dirty="0">
                        <a:solidFill>
                          <a:srgbClr val="FF0000"/>
                        </a:solidFill>
                      </a:endParaRPr>
                    </a:p>
                  </a:txBody>
                  <a:tcPr marL="91425" marR="91425" marT="91425" marB="91425"/>
                </a:tc>
                <a:tc>
                  <a:txBody>
                    <a:bodyPr/>
                    <a:lstStyle/>
                    <a:p>
                      <a:pPr marL="0" lvl="0" indent="0" algn="l" rtl="0">
                        <a:lnSpc>
                          <a:spcPct val="115000"/>
                        </a:lnSpc>
                        <a:spcBef>
                          <a:spcPts val="0"/>
                        </a:spcBef>
                        <a:spcAft>
                          <a:spcPts val="0"/>
                        </a:spcAft>
                        <a:buNone/>
                      </a:pPr>
                      <a:r>
                        <a:rPr lang="fr-FR" dirty="0">
                          <a:solidFill>
                            <a:srgbClr val="FF0000"/>
                          </a:solidFill>
                        </a:rPr>
                        <a:t>-26,5</a:t>
                      </a:r>
                      <a:endParaRPr dirty="0">
                        <a:solidFill>
                          <a:srgbClr val="FF0000"/>
                        </a:solidFill>
                      </a:endParaRPr>
                    </a:p>
                  </a:txBody>
                  <a:tcPr marL="91425" marR="91425" marT="91425" marB="91425"/>
                </a:tc>
                <a:extLst>
                  <a:ext uri="{0D108BD9-81ED-4DB2-BD59-A6C34878D82A}">
                    <a16:rowId xmlns:a16="http://schemas.microsoft.com/office/drawing/2014/main" val="10000"/>
                  </a:ext>
                </a:extLst>
              </a:tr>
              <a:tr h="464168">
                <a:tc>
                  <a:txBody>
                    <a:bodyPr/>
                    <a:lstStyle/>
                    <a:p>
                      <a:pPr marL="0" lvl="0" indent="0" algn="l" rtl="0">
                        <a:lnSpc>
                          <a:spcPct val="115000"/>
                        </a:lnSpc>
                        <a:spcBef>
                          <a:spcPts val="0"/>
                        </a:spcBef>
                        <a:spcAft>
                          <a:spcPts val="0"/>
                        </a:spcAft>
                        <a:buNone/>
                      </a:pPr>
                      <a:r>
                        <a:rPr lang="fr" sz="1400" b="0" i="0" dirty="0">
                          <a:solidFill>
                            <a:schemeClr val="tx1"/>
                          </a:solidFill>
                          <a:latin typeface="Arial" panose="020B0604020202020204" pitchFamily="34" charset="0"/>
                          <a:cs typeface="Arial" panose="020B0604020202020204" pitchFamily="34" charset="0"/>
                          <a:sym typeface="Montserrat"/>
                        </a:rPr>
                        <a:t>Crèmerie</a:t>
                      </a:r>
                      <a:endParaRPr sz="1400" dirty="0">
                        <a:solidFill>
                          <a:schemeClr val="tx1"/>
                        </a:solidFill>
                      </a:endParaRPr>
                    </a:p>
                  </a:txBody>
                  <a:tcPr marL="91425" marR="91425" marT="91425" marB="91425"/>
                </a:tc>
                <a:tc>
                  <a:txBody>
                    <a:bodyPr/>
                    <a:lstStyle/>
                    <a:p>
                      <a:pPr marL="0" lvl="0" indent="0" algn="l" rtl="0">
                        <a:lnSpc>
                          <a:spcPct val="115000"/>
                        </a:lnSpc>
                        <a:spcBef>
                          <a:spcPts val="0"/>
                        </a:spcBef>
                        <a:spcAft>
                          <a:spcPts val="0"/>
                        </a:spcAft>
                        <a:buNone/>
                      </a:pPr>
                      <a:r>
                        <a:rPr lang="fr-FR" dirty="0">
                          <a:solidFill>
                            <a:srgbClr val="FF0000"/>
                          </a:solidFill>
                        </a:rPr>
                        <a:t>+18 056</a:t>
                      </a:r>
                      <a:endParaRPr dirty="0">
                        <a:solidFill>
                          <a:srgbClr val="FF0000"/>
                        </a:solidFill>
                      </a:endParaRPr>
                    </a:p>
                  </a:txBody>
                  <a:tcPr marL="91425" marR="91425" marT="91425" marB="91425"/>
                </a:tc>
                <a:tc>
                  <a:txBody>
                    <a:bodyPr/>
                    <a:lstStyle/>
                    <a:p>
                      <a:pPr marL="0" lvl="0" indent="0" algn="l" rtl="0">
                        <a:lnSpc>
                          <a:spcPct val="115000"/>
                        </a:lnSpc>
                        <a:spcBef>
                          <a:spcPts val="0"/>
                        </a:spcBef>
                        <a:spcAft>
                          <a:spcPts val="0"/>
                        </a:spcAft>
                        <a:buNone/>
                      </a:pPr>
                      <a:r>
                        <a:rPr lang="fr-FR" dirty="0">
                          <a:solidFill>
                            <a:srgbClr val="FF0000"/>
                          </a:solidFill>
                        </a:rPr>
                        <a:t>+80</a:t>
                      </a:r>
                    </a:p>
                  </a:txBody>
                  <a:tcPr marL="91425" marR="91425" marT="91425" marB="91425"/>
                </a:tc>
                <a:tc>
                  <a:txBody>
                    <a:bodyPr/>
                    <a:lstStyle/>
                    <a:p>
                      <a:pPr marL="0" lvl="0" indent="0" algn="l" rtl="0">
                        <a:lnSpc>
                          <a:spcPct val="115000"/>
                        </a:lnSpc>
                        <a:spcBef>
                          <a:spcPts val="0"/>
                        </a:spcBef>
                        <a:spcAft>
                          <a:spcPts val="0"/>
                        </a:spcAft>
                        <a:buNone/>
                      </a:pPr>
                      <a:r>
                        <a:rPr lang="fr-FR" dirty="0">
                          <a:solidFill>
                            <a:schemeClr val="tx1"/>
                          </a:solidFill>
                        </a:rPr>
                        <a:t>+44</a:t>
                      </a:r>
                      <a:endParaRPr dirty="0">
                        <a:solidFill>
                          <a:schemeClr val="tx1"/>
                        </a:solidFill>
                      </a:endParaRPr>
                    </a:p>
                  </a:txBody>
                  <a:tcPr marL="91425" marR="91425" marT="91425" marB="91425"/>
                </a:tc>
                <a:tc>
                  <a:txBody>
                    <a:bodyPr/>
                    <a:lstStyle/>
                    <a:p>
                      <a:pPr marL="0" lvl="0" indent="0" algn="l" rtl="0">
                        <a:lnSpc>
                          <a:spcPct val="115000"/>
                        </a:lnSpc>
                        <a:spcBef>
                          <a:spcPts val="0"/>
                        </a:spcBef>
                        <a:spcAft>
                          <a:spcPts val="0"/>
                        </a:spcAft>
                        <a:buNone/>
                      </a:pPr>
                      <a:r>
                        <a:rPr lang="fr-FR" dirty="0">
                          <a:solidFill>
                            <a:schemeClr val="tx1"/>
                          </a:solidFill>
                        </a:rPr>
                        <a:t>+4,1</a:t>
                      </a:r>
                      <a:endParaRPr dirty="0">
                        <a:solidFill>
                          <a:schemeClr val="tx1"/>
                        </a:solidFill>
                      </a:endParaRPr>
                    </a:p>
                  </a:txBody>
                  <a:tcPr marL="91425" marR="91425" marT="91425" marB="91425"/>
                </a:tc>
                <a:tc>
                  <a:txBody>
                    <a:bodyPr/>
                    <a:lstStyle/>
                    <a:p>
                      <a:pPr marL="0" lvl="0" indent="0" algn="l" rtl="0">
                        <a:lnSpc>
                          <a:spcPct val="115000"/>
                        </a:lnSpc>
                        <a:spcBef>
                          <a:spcPts val="0"/>
                        </a:spcBef>
                        <a:spcAft>
                          <a:spcPts val="0"/>
                        </a:spcAft>
                        <a:buNone/>
                      </a:pPr>
                      <a:r>
                        <a:rPr lang="fr-FR" dirty="0">
                          <a:solidFill>
                            <a:srgbClr val="FF0000"/>
                          </a:solidFill>
                        </a:rPr>
                        <a:t>+19,5</a:t>
                      </a:r>
                      <a:endParaRPr dirty="0">
                        <a:solidFill>
                          <a:srgbClr val="FF0000"/>
                        </a:solidFill>
                      </a:endParaRPr>
                    </a:p>
                  </a:txBody>
                  <a:tcPr marL="91425" marR="91425" marT="91425" marB="91425"/>
                </a:tc>
                <a:tc>
                  <a:txBody>
                    <a:bodyPr/>
                    <a:lstStyle/>
                    <a:p>
                      <a:pPr marL="0" lvl="0" indent="0" algn="l" rtl="0">
                        <a:lnSpc>
                          <a:spcPct val="115000"/>
                        </a:lnSpc>
                        <a:spcBef>
                          <a:spcPts val="0"/>
                        </a:spcBef>
                        <a:spcAft>
                          <a:spcPts val="0"/>
                        </a:spcAft>
                        <a:buNone/>
                      </a:pPr>
                      <a:r>
                        <a:rPr lang="fr-FR" dirty="0">
                          <a:solidFill>
                            <a:schemeClr val="tx1"/>
                          </a:solidFill>
                        </a:rPr>
                        <a:t>-12,2</a:t>
                      </a:r>
                      <a:endParaRPr dirty="0">
                        <a:solidFill>
                          <a:schemeClr val="tx1"/>
                        </a:solidFill>
                      </a:endParaRPr>
                    </a:p>
                  </a:txBody>
                  <a:tcPr marL="91425" marR="91425" marT="91425" marB="91425"/>
                </a:tc>
                <a:tc>
                  <a:txBody>
                    <a:bodyPr/>
                    <a:lstStyle/>
                    <a:p>
                      <a:pPr marL="0" lvl="0" indent="0" algn="l" rtl="0">
                        <a:lnSpc>
                          <a:spcPct val="115000"/>
                        </a:lnSpc>
                        <a:spcBef>
                          <a:spcPts val="0"/>
                        </a:spcBef>
                        <a:spcAft>
                          <a:spcPts val="0"/>
                        </a:spcAft>
                        <a:buNone/>
                      </a:pPr>
                      <a:r>
                        <a:rPr lang="fr-FR" dirty="0">
                          <a:solidFill>
                            <a:schemeClr val="tx1"/>
                          </a:solidFill>
                        </a:rPr>
                        <a:t>-15</a:t>
                      </a:r>
                      <a:endParaRPr dirty="0">
                        <a:solidFill>
                          <a:schemeClr val="tx1"/>
                        </a:solidFill>
                      </a:endParaRPr>
                    </a:p>
                  </a:txBody>
                  <a:tcPr marL="91425" marR="91425" marT="91425" marB="91425"/>
                </a:tc>
                <a:extLst>
                  <a:ext uri="{0D108BD9-81ED-4DB2-BD59-A6C34878D82A}">
                    <a16:rowId xmlns:a16="http://schemas.microsoft.com/office/drawing/2014/main" val="10002"/>
                  </a:ext>
                </a:extLst>
              </a:tr>
              <a:tr h="464168">
                <a:tc>
                  <a:txBody>
                    <a:bodyPr/>
                    <a:lstStyle/>
                    <a:p>
                      <a:pPr marL="0" lvl="0" indent="0" algn="l" rtl="0">
                        <a:lnSpc>
                          <a:spcPct val="115000"/>
                        </a:lnSpc>
                        <a:spcBef>
                          <a:spcPts val="0"/>
                        </a:spcBef>
                        <a:spcAft>
                          <a:spcPts val="0"/>
                        </a:spcAft>
                        <a:buNone/>
                      </a:pPr>
                      <a:r>
                        <a:rPr lang="fr" sz="1400" b="0" i="0" dirty="0">
                          <a:solidFill>
                            <a:schemeClr val="tx1"/>
                          </a:solidFill>
                          <a:latin typeface="Arial" panose="020B0604020202020204" pitchFamily="34" charset="0"/>
                          <a:cs typeface="Arial" panose="020B0604020202020204" pitchFamily="34" charset="0"/>
                          <a:sym typeface="Montserrat"/>
                        </a:rPr>
                        <a:t>Mix légumes</a:t>
                      </a:r>
                      <a:endParaRPr sz="1400" dirty="0">
                        <a:solidFill>
                          <a:schemeClr val="tx1"/>
                        </a:solidFill>
                      </a:endParaRPr>
                    </a:p>
                  </a:txBody>
                  <a:tcPr marL="91425" marR="91425" marT="91425" marB="91425"/>
                </a:tc>
                <a:tc>
                  <a:txBody>
                    <a:bodyPr/>
                    <a:lstStyle/>
                    <a:p>
                      <a:pPr marL="0" lvl="0" indent="0" algn="l" rtl="0">
                        <a:lnSpc>
                          <a:spcPct val="115000"/>
                        </a:lnSpc>
                        <a:spcBef>
                          <a:spcPts val="0"/>
                        </a:spcBef>
                        <a:spcAft>
                          <a:spcPts val="0"/>
                        </a:spcAft>
                        <a:buNone/>
                      </a:pPr>
                      <a:r>
                        <a:rPr lang="fr-FR" dirty="0">
                          <a:solidFill>
                            <a:srgbClr val="FF0000"/>
                          </a:solidFill>
                        </a:rPr>
                        <a:t>+14 813</a:t>
                      </a:r>
                      <a:endParaRPr dirty="0">
                        <a:solidFill>
                          <a:srgbClr val="FF0000"/>
                        </a:solidFill>
                      </a:endParaRPr>
                    </a:p>
                  </a:txBody>
                  <a:tcPr marL="91425" marR="91425" marT="91425" marB="91425"/>
                </a:tc>
                <a:tc>
                  <a:txBody>
                    <a:bodyPr/>
                    <a:lstStyle/>
                    <a:p>
                      <a:pPr marL="0" lvl="0" indent="0" algn="l" rtl="0">
                        <a:lnSpc>
                          <a:spcPct val="115000"/>
                        </a:lnSpc>
                        <a:spcBef>
                          <a:spcPts val="0"/>
                        </a:spcBef>
                        <a:spcAft>
                          <a:spcPts val="0"/>
                        </a:spcAft>
                        <a:buNone/>
                      </a:pPr>
                      <a:r>
                        <a:rPr lang="fr-FR" dirty="0">
                          <a:solidFill>
                            <a:srgbClr val="FF0000"/>
                          </a:solidFill>
                        </a:rPr>
                        <a:t>+15</a:t>
                      </a:r>
                      <a:endParaRPr dirty="0">
                        <a:solidFill>
                          <a:srgbClr val="FF0000"/>
                        </a:solidFill>
                      </a:endParaRPr>
                    </a:p>
                  </a:txBody>
                  <a:tcPr marL="91425" marR="91425" marT="91425" marB="91425"/>
                </a:tc>
                <a:tc>
                  <a:txBody>
                    <a:bodyPr/>
                    <a:lstStyle/>
                    <a:p>
                      <a:pPr marL="0" lvl="0" indent="0" algn="l" rtl="0">
                        <a:lnSpc>
                          <a:spcPct val="115000"/>
                        </a:lnSpc>
                        <a:spcBef>
                          <a:spcPts val="0"/>
                        </a:spcBef>
                        <a:spcAft>
                          <a:spcPts val="0"/>
                        </a:spcAft>
                        <a:buNone/>
                      </a:pPr>
                      <a:r>
                        <a:rPr lang="fr-FR" dirty="0">
                          <a:solidFill>
                            <a:schemeClr val="tx1"/>
                          </a:solidFill>
                        </a:rPr>
                        <a:t>+23</a:t>
                      </a:r>
                      <a:endParaRPr dirty="0">
                        <a:solidFill>
                          <a:schemeClr val="tx1"/>
                        </a:solidFill>
                      </a:endParaRPr>
                    </a:p>
                  </a:txBody>
                  <a:tcPr marL="91425" marR="91425" marT="91425" marB="91425"/>
                </a:tc>
                <a:tc>
                  <a:txBody>
                    <a:bodyPr/>
                    <a:lstStyle/>
                    <a:p>
                      <a:pPr marL="0" lvl="0" indent="0" algn="l" rtl="0">
                        <a:lnSpc>
                          <a:spcPct val="115000"/>
                        </a:lnSpc>
                        <a:spcBef>
                          <a:spcPts val="0"/>
                        </a:spcBef>
                        <a:spcAft>
                          <a:spcPts val="0"/>
                        </a:spcAft>
                        <a:buNone/>
                      </a:pPr>
                      <a:r>
                        <a:rPr lang="fr-FR" dirty="0">
                          <a:solidFill>
                            <a:schemeClr val="tx1"/>
                          </a:solidFill>
                        </a:rPr>
                        <a:t>+2</a:t>
                      </a:r>
                      <a:endParaRPr dirty="0">
                        <a:solidFill>
                          <a:schemeClr val="tx1"/>
                        </a:solidFill>
                      </a:endParaRPr>
                    </a:p>
                  </a:txBody>
                  <a:tcPr marL="91425" marR="91425" marT="91425" marB="91425"/>
                </a:tc>
                <a:tc>
                  <a:txBody>
                    <a:bodyPr/>
                    <a:lstStyle/>
                    <a:p>
                      <a:pPr marL="0" lvl="0" indent="0" algn="l" rtl="0">
                        <a:lnSpc>
                          <a:spcPct val="115000"/>
                        </a:lnSpc>
                        <a:spcBef>
                          <a:spcPts val="0"/>
                        </a:spcBef>
                        <a:spcAft>
                          <a:spcPts val="0"/>
                        </a:spcAft>
                        <a:buNone/>
                      </a:pPr>
                      <a:r>
                        <a:rPr lang="fr-FR" dirty="0">
                          <a:solidFill>
                            <a:schemeClr val="tx1"/>
                          </a:solidFill>
                        </a:rPr>
                        <a:t>-6,3</a:t>
                      </a:r>
                      <a:endParaRPr dirty="0">
                        <a:solidFill>
                          <a:schemeClr val="tx1"/>
                        </a:solidFill>
                      </a:endParaRPr>
                    </a:p>
                  </a:txBody>
                  <a:tcPr marL="91425" marR="91425" marT="91425" marB="91425"/>
                </a:tc>
                <a:tc>
                  <a:txBody>
                    <a:bodyPr/>
                    <a:lstStyle/>
                    <a:p>
                      <a:pPr marL="0" lvl="0" indent="0" algn="l" rtl="0">
                        <a:lnSpc>
                          <a:spcPct val="115000"/>
                        </a:lnSpc>
                        <a:spcBef>
                          <a:spcPts val="0"/>
                        </a:spcBef>
                        <a:spcAft>
                          <a:spcPts val="0"/>
                        </a:spcAft>
                        <a:buNone/>
                      </a:pPr>
                      <a:r>
                        <a:rPr lang="fr-FR" dirty="0">
                          <a:solidFill>
                            <a:schemeClr val="tx1"/>
                          </a:solidFill>
                        </a:rPr>
                        <a:t>-33</a:t>
                      </a:r>
                      <a:endParaRPr dirty="0">
                        <a:solidFill>
                          <a:schemeClr val="tx1"/>
                        </a:solidFill>
                      </a:endParaRPr>
                    </a:p>
                  </a:txBody>
                  <a:tcPr marL="91425" marR="91425" marT="91425" marB="91425"/>
                </a:tc>
                <a:tc>
                  <a:txBody>
                    <a:bodyPr/>
                    <a:lstStyle/>
                    <a:p>
                      <a:pPr marL="0" lvl="0" indent="0" algn="l" rtl="0">
                        <a:lnSpc>
                          <a:spcPct val="115000"/>
                        </a:lnSpc>
                        <a:spcBef>
                          <a:spcPts val="0"/>
                        </a:spcBef>
                        <a:spcAft>
                          <a:spcPts val="0"/>
                        </a:spcAft>
                        <a:buNone/>
                      </a:pPr>
                      <a:r>
                        <a:rPr lang="fr-FR" dirty="0">
                          <a:solidFill>
                            <a:schemeClr val="tx1"/>
                          </a:solidFill>
                        </a:rPr>
                        <a:t>+2</a:t>
                      </a:r>
                      <a:endParaRPr dirty="0">
                        <a:solidFill>
                          <a:schemeClr val="tx1"/>
                        </a:solidFill>
                      </a:endParaRPr>
                    </a:p>
                  </a:txBody>
                  <a:tcPr marL="91425" marR="91425" marT="91425" marB="91425"/>
                </a:tc>
                <a:extLst>
                  <a:ext uri="{0D108BD9-81ED-4DB2-BD59-A6C34878D82A}">
                    <a16:rowId xmlns:a16="http://schemas.microsoft.com/office/drawing/2014/main" val="2396133471"/>
                  </a:ext>
                </a:extLst>
              </a:tr>
            </a:tbl>
          </a:graphicData>
        </a:graphic>
      </p:graphicFrame>
      <p:sp>
        <p:nvSpPr>
          <p:cNvPr id="2" name="Titre 1">
            <a:extLst>
              <a:ext uri="{FF2B5EF4-FFF2-40B4-BE49-F238E27FC236}">
                <a16:creationId xmlns:a16="http://schemas.microsoft.com/office/drawing/2014/main" id="{126CF902-42D4-C0C4-28A3-396D6ED6BD13}"/>
              </a:ext>
            </a:extLst>
          </p:cNvPr>
          <p:cNvSpPr>
            <a:spLocks noGrp="1"/>
          </p:cNvSpPr>
          <p:nvPr>
            <p:ph type="title"/>
          </p:nvPr>
        </p:nvSpPr>
        <p:spPr/>
        <p:txBody>
          <a:bodyPr>
            <a:normAutofit fontScale="90000"/>
          </a:bodyPr>
          <a:lstStyle/>
          <a:p>
            <a:pPr rtl="0"/>
            <a:r>
              <a:rPr lang="fr-FR" sz="1900" b="0" i="0" dirty="0">
                <a:solidFill>
                  <a:srgbClr val="F3F3F3"/>
                </a:solidFill>
                <a:effectLst/>
                <a:latin typeface="Arial" panose="020B0604020202020204" pitchFamily="34" charset="0"/>
                <a:ea typeface="Montserrat" pitchFamily="2" charset="77"/>
                <a:cs typeface="Arial" panose="020B0604020202020204" pitchFamily="34" charset="0"/>
              </a:rPr>
              <a:t>Top 3 des familles de produits avec la plus importante évolution de stock en UVC</a:t>
            </a:r>
            <a:endParaRPr lang="fr-FR" dirty="0">
              <a:effectLst/>
            </a:endParaRPr>
          </a:p>
          <a:p>
            <a:endParaRPr lang="fr-F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g1644a70ef9a_0_27">
            <a:extLst>
              <a:ext uri="{C183D7F6-B498-43B3-948B-1728B52AA6E4}">
                <adec:decorative xmlns:adec="http://schemas.microsoft.com/office/drawing/2017/decorative" val="1"/>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g1644a70ef9a_0_27">
            <a:extLst>
              <a:ext uri="{C183D7F6-B498-43B3-948B-1728B52AA6E4}">
                <adec:decorative xmlns:adec="http://schemas.microsoft.com/office/drawing/2017/decorative" val="1"/>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 name="Titre 1">
            <a:extLst>
              <a:ext uri="{FF2B5EF4-FFF2-40B4-BE49-F238E27FC236}">
                <a16:creationId xmlns:a16="http://schemas.microsoft.com/office/drawing/2014/main" id="{126CF902-42D4-C0C4-28A3-396D6ED6BD13}"/>
              </a:ext>
            </a:extLst>
          </p:cNvPr>
          <p:cNvSpPr>
            <a:spLocks noGrp="1"/>
          </p:cNvSpPr>
          <p:nvPr>
            <p:ph type="title"/>
          </p:nvPr>
        </p:nvSpPr>
        <p:spPr>
          <a:xfrm>
            <a:off x="900423" y="471050"/>
            <a:ext cx="8520600" cy="572700"/>
          </a:xfrm>
        </p:spPr>
        <p:txBody>
          <a:bodyPr>
            <a:normAutofit/>
          </a:bodyPr>
          <a:lstStyle/>
          <a:p>
            <a:pPr rtl="0"/>
            <a:r>
              <a:rPr lang="fr-FR" sz="1900" b="0" i="0" dirty="0">
                <a:solidFill>
                  <a:srgbClr val="F3F3F3"/>
                </a:solidFill>
                <a:effectLst/>
                <a:latin typeface="Arial" panose="020B0604020202020204" pitchFamily="34" charset="0"/>
                <a:ea typeface="Montserrat" pitchFamily="2" charset="77"/>
                <a:cs typeface="Arial" panose="020B0604020202020204" pitchFamily="34" charset="0"/>
              </a:rPr>
              <a:t>Conclusion </a:t>
            </a:r>
            <a:endParaRPr lang="fr-FR" dirty="0">
              <a:effectLst/>
            </a:endParaRPr>
          </a:p>
          <a:p>
            <a:endParaRPr lang="fr-FR" dirty="0"/>
          </a:p>
        </p:txBody>
      </p:sp>
      <p:sp>
        <p:nvSpPr>
          <p:cNvPr id="3" name="ZoneTexte 2">
            <a:extLst>
              <a:ext uri="{FF2B5EF4-FFF2-40B4-BE49-F238E27FC236}">
                <a16:creationId xmlns:a16="http://schemas.microsoft.com/office/drawing/2014/main" id="{E1DA3572-721D-1807-CC90-34A95BD81AD8}"/>
              </a:ext>
            </a:extLst>
          </p:cNvPr>
          <p:cNvSpPr txBox="1"/>
          <p:nvPr/>
        </p:nvSpPr>
        <p:spPr>
          <a:xfrm>
            <a:off x="652072" y="1753849"/>
            <a:ext cx="7974767" cy="1908215"/>
          </a:xfrm>
          <a:prstGeom prst="rect">
            <a:avLst/>
          </a:prstGeom>
          <a:noFill/>
        </p:spPr>
        <p:txBody>
          <a:bodyPr wrap="square" rtlCol="0">
            <a:spAutoFit/>
          </a:bodyPr>
          <a:lstStyle/>
          <a:p>
            <a:pPr marL="285750" indent="-285750">
              <a:buFont typeface="Wingdings" pitchFamily="2" charset="2"/>
              <a:buChar char="ü"/>
            </a:pPr>
            <a:r>
              <a:rPr lang="fr-FR" sz="1800" dirty="0"/>
              <a:t>Analyse sur les différents indicateurs</a:t>
            </a:r>
          </a:p>
          <a:p>
            <a:pPr marL="285750" indent="-285750">
              <a:buFont typeface="Wingdings" pitchFamily="2" charset="2"/>
              <a:buChar char="ü"/>
            </a:pPr>
            <a:r>
              <a:rPr lang="fr-FR" sz="1800" dirty="0"/>
              <a:t>Les 3 familles avec la plus forte évolution (Boulangerie, crèmerie et Mix légumes</a:t>
            </a:r>
          </a:p>
          <a:p>
            <a:pPr marL="285750" indent="-285750">
              <a:buFont typeface="Wingdings" pitchFamily="2" charset="2"/>
              <a:buChar char="ü"/>
            </a:pPr>
            <a:r>
              <a:rPr lang="fr-FR" sz="1800" dirty="0"/>
              <a:t>Attention : possibilité de saturation de l’activité </a:t>
            </a:r>
          </a:p>
          <a:p>
            <a:pPr marL="285750" indent="-285750">
              <a:buFont typeface="Wingdings" pitchFamily="2" charset="2"/>
              <a:buChar char="ü"/>
            </a:pPr>
            <a:r>
              <a:rPr lang="fr-FR" sz="1800" dirty="0"/>
              <a:t>Confirmation de ton inquiétude et celle de Charlie</a:t>
            </a:r>
          </a:p>
          <a:p>
            <a:pPr marL="285750" indent="-285750">
              <a:buFont typeface="Wingdings" pitchFamily="2" charset="2"/>
              <a:buChar char="ü"/>
            </a:pPr>
            <a:endParaRPr lang="fr-FR" dirty="0"/>
          </a:p>
          <a:p>
            <a:pPr marL="285750" indent="-285750">
              <a:buFont typeface="Wingdings" pitchFamily="2" charset="2"/>
              <a:buChar char="ü"/>
            </a:pPr>
            <a:endParaRPr lang="fr-FR" dirty="0"/>
          </a:p>
        </p:txBody>
      </p:sp>
    </p:spTree>
    <p:extLst>
      <p:ext uri="{BB962C8B-B14F-4D97-AF65-F5344CB8AC3E}">
        <p14:creationId xmlns:p14="http://schemas.microsoft.com/office/powerpoint/2010/main" val="4005726537"/>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{0631A71B-156B-9245-844E-44C6FE7D33C1}tf16401378</Template>
  <TotalTime>27604</TotalTime>
  <Words>750</Words>
  <Application>Microsoft Macintosh PowerPoint</Application>
  <PresentationFormat>Affichage à l'écran (16:9)</PresentationFormat>
  <Paragraphs>116</Paragraphs>
  <Slides>10</Slides>
  <Notes>10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10</vt:i4>
      </vt:variant>
    </vt:vector>
  </HeadingPairs>
  <TitlesOfParts>
    <vt:vector size="14" baseType="lpstr">
      <vt:lpstr>Wingdings</vt:lpstr>
      <vt:lpstr>Arial</vt:lpstr>
      <vt:lpstr>Calibri</vt:lpstr>
      <vt:lpstr>Simple Light</vt:lpstr>
      <vt:lpstr>Best of Fresh </vt:lpstr>
      <vt:lpstr>Sommaire </vt:lpstr>
      <vt:lpstr>L’évolution du stock en quantité d’UVC </vt:lpstr>
      <vt:lpstr>L’évolution du prix d’achat des produits </vt:lpstr>
      <vt:lpstr>L’évolution du nombre de produits stockés </vt:lpstr>
      <vt:lpstr>L’évolution des quantités réceptionnées et expédiées </vt:lpstr>
      <vt:lpstr>L’évolution du nombre de commandes passées </vt:lpstr>
      <vt:lpstr>L’évolution du taux de service des commandes réceptionnées </vt:lpstr>
      <vt:lpstr>Top 3 des familles de produits avec la plus importante évolution de stock en UVC </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cp:lastModifiedBy>JEAN PHILIPPE Benedy</cp:lastModifiedBy>
  <cp:revision>74</cp:revision>
  <dcterms:modified xsi:type="dcterms:W3CDTF">2024-05-16T13:38:37Z</dcterms:modified>
</cp:coreProperties>
</file>