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5" r:id="rId3"/>
    <p:sldId id="276" r:id="rId4"/>
    <p:sldId id="277" r:id="rId5"/>
    <p:sldId id="278" r:id="rId6"/>
    <p:sldId id="281" r:id="rId7"/>
    <p:sldId id="284" r:id="rId8"/>
    <p:sldId id="285" r:id="rId9"/>
    <p:sldId id="282" r:id="rId10"/>
    <p:sldId id="283" r:id="rId11"/>
    <p:sldId id="286" r:id="rId12"/>
    <p:sldId id="287" r:id="rId13"/>
    <p:sldId id="280" r:id="rId14"/>
    <p:sldId id="288" r:id="rId15"/>
    <p:sldId id="289" r:id="rId16"/>
    <p:sldId id="261" r:id="rId17"/>
  </p:sldIdLst>
  <p:sldSz cx="9144000" cy="5143500" type="screen16x9"/>
  <p:notesSz cx="6858000" cy="9144000"/>
  <p:embeddedFontLst>
    <p:embeddedFont>
      <p:font typeface="Montserrat" pitchFamily="2" charset="77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11"/>
    <p:restoredTop sz="94675"/>
  </p:normalViewPr>
  <p:slideViewPr>
    <p:cSldViewPr snapToGrid="0">
      <p:cViewPr varScale="1">
        <p:scale>
          <a:sx n="148" d="100"/>
          <a:sy n="148" d="100"/>
        </p:scale>
        <p:origin x="424" y="176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ACA1DD-9E69-1E4D-BED6-DEB390B7FAF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6F367D2A-BA23-D449-B3CA-B071CAE0CBF3}">
      <dgm:prSet/>
      <dgm:spPr/>
      <dgm:t>
        <a:bodyPr/>
        <a:lstStyle/>
        <a:p>
          <a:r>
            <a:rPr lang="fr-FR" b="0" i="0" dirty="0"/>
            <a:t>Charger et préparer le jeu de données</a:t>
          </a:r>
          <a:endParaRPr lang="fr-FR" dirty="0"/>
        </a:p>
      </dgm:t>
    </dgm:pt>
    <dgm:pt modelId="{A3DFB975-B116-294A-B4F3-AF915E822EC3}" type="parTrans" cxnId="{A72C4A71-EE73-324F-9A11-30543F74EBC7}">
      <dgm:prSet/>
      <dgm:spPr/>
      <dgm:t>
        <a:bodyPr/>
        <a:lstStyle/>
        <a:p>
          <a:endParaRPr lang="fr-FR"/>
        </a:p>
      </dgm:t>
    </dgm:pt>
    <dgm:pt modelId="{3EE75299-D605-864E-AF9C-3426D032D051}" type="sibTrans" cxnId="{A72C4A71-EE73-324F-9A11-30543F74EBC7}">
      <dgm:prSet/>
      <dgm:spPr/>
      <dgm:t>
        <a:bodyPr/>
        <a:lstStyle/>
        <a:p>
          <a:endParaRPr lang="fr-FR"/>
        </a:p>
      </dgm:t>
    </dgm:pt>
    <dgm:pt modelId="{2A9CF4C3-7222-7640-8A74-96529ADAC50D}">
      <dgm:prSet/>
      <dgm:spPr/>
      <dgm:t>
        <a:bodyPr/>
        <a:lstStyle/>
        <a:p>
          <a:r>
            <a:rPr lang="fr-FR" b="0" i="0"/>
            <a:t>Caractériser les différentes typologies de magasin</a:t>
          </a:r>
          <a:endParaRPr lang="fr-FR"/>
        </a:p>
      </dgm:t>
    </dgm:pt>
    <dgm:pt modelId="{272F1E51-43CA-8943-9845-5E17D0F6CFF8}" type="parTrans" cxnId="{779F1901-6BBE-C142-8DF3-2C742207321A}">
      <dgm:prSet/>
      <dgm:spPr/>
      <dgm:t>
        <a:bodyPr/>
        <a:lstStyle/>
        <a:p>
          <a:endParaRPr lang="fr-FR"/>
        </a:p>
      </dgm:t>
    </dgm:pt>
    <dgm:pt modelId="{04F52B6B-1741-194B-98C9-EFCFA2D5DEC0}" type="sibTrans" cxnId="{779F1901-6BBE-C142-8DF3-2C742207321A}">
      <dgm:prSet/>
      <dgm:spPr/>
      <dgm:t>
        <a:bodyPr/>
        <a:lstStyle/>
        <a:p>
          <a:endParaRPr lang="fr-FR"/>
        </a:p>
      </dgm:t>
    </dgm:pt>
    <dgm:pt modelId="{1ACCD602-360A-954A-A83A-3495ED40C412}">
      <dgm:prSet/>
      <dgm:spPr/>
      <dgm:t>
        <a:bodyPr/>
        <a:lstStyle/>
        <a:p>
          <a:r>
            <a:rPr lang="fr-FR" b="0" i="0" dirty="0"/>
            <a:t>Comparaisons de moyennes mobiles vs SARIMA</a:t>
          </a:r>
          <a:endParaRPr lang="fr-FR" dirty="0"/>
        </a:p>
      </dgm:t>
    </dgm:pt>
    <dgm:pt modelId="{E4C982D6-56F7-F049-8AE9-E69D838845F0}" type="parTrans" cxnId="{C7C61252-4BFB-AC4D-A963-A134C194CF22}">
      <dgm:prSet/>
      <dgm:spPr/>
      <dgm:t>
        <a:bodyPr/>
        <a:lstStyle/>
        <a:p>
          <a:endParaRPr lang="fr-FR"/>
        </a:p>
      </dgm:t>
    </dgm:pt>
    <dgm:pt modelId="{AF854214-750A-4747-91CD-AA26885D7183}" type="sibTrans" cxnId="{C7C61252-4BFB-AC4D-A963-A134C194CF22}">
      <dgm:prSet/>
      <dgm:spPr/>
      <dgm:t>
        <a:bodyPr/>
        <a:lstStyle/>
        <a:p>
          <a:endParaRPr lang="fr-FR"/>
        </a:p>
      </dgm:t>
    </dgm:pt>
    <dgm:pt modelId="{88145E5B-90F7-E44E-A648-24DC8713A4EF}" type="pres">
      <dgm:prSet presAssocID="{9DACA1DD-9E69-1E4D-BED6-DEB390B7FAF5}" presName="Name0" presStyleCnt="0">
        <dgm:presLayoutVars>
          <dgm:dir/>
          <dgm:resizeHandles val="exact"/>
        </dgm:presLayoutVars>
      </dgm:prSet>
      <dgm:spPr/>
    </dgm:pt>
    <dgm:pt modelId="{0BB028BD-892D-BC40-A47E-4B247C2B41C4}" type="pres">
      <dgm:prSet presAssocID="{6F367D2A-BA23-D449-B3CA-B071CAE0CBF3}" presName="node" presStyleLbl="node1" presStyleIdx="0" presStyleCnt="3">
        <dgm:presLayoutVars>
          <dgm:bulletEnabled val="1"/>
        </dgm:presLayoutVars>
      </dgm:prSet>
      <dgm:spPr/>
    </dgm:pt>
    <dgm:pt modelId="{07103423-B970-F94C-86D9-0876B8580744}" type="pres">
      <dgm:prSet presAssocID="{3EE75299-D605-864E-AF9C-3426D032D051}" presName="sibTrans" presStyleLbl="sibTrans2D1" presStyleIdx="0" presStyleCnt="2"/>
      <dgm:spPr/>
    </dgm:pt>
    <dgm:pt modelId="{A0A7ACD3-7116-F945-A5B1-5CDF2742336E}" type="pres">
      <dgm:prSet presAssocID="{3EE75299-D605-864E-AF9C-3426D032D051}" presName="connectorText" presStyleLbl="sibTrans2D1" presStyleIdx="0" presStyleCnt="2"/>
      <dgm:spPr/>
    </dgm:pt>
    <dgm:pt modelId="{A2D4F2F1-2C41-FA45-8C4E-D178452AB3D1}" type="pres">
      <dgm:prSet presAssocID="{2A9CF4C3-7222-7640-8A74-96529ADAC50D}" presName="node" presStyleLbl="node1" presStyleIdx="1" presStyleCnt="3">
        <dgm:presLayoutVars>
          <dgm:bulletEnabled val="1"/>
        </dgm:presLayoutVars>
      </dgm:prSet>
      <dgm:spPr/>
    </dgm:pt>
    <dgm:pt modelId="{9CAB2F22-DA68-E742-B9B8-1672391D5C29}" type="pres">
      <dgm:prSet presAssocID="{04F52B6B-1741-194B-98C9-EFCFA2D5DEC0}" presName="sibTrans" presStyleLbl="sibTrans2D1" presStyleIdx="1" presStyleCnt="2"/>
      <dgm:spPr/>
    </dgm:pt>
    <dgm:pt modelId="{9F7CC814-BA9E-1A4C-B104-A597DE680691}" type="pres">
      <dgm:prSet presAssocID="{04F52B6B-1741-194B-98C9-EFCFA2D5DEC0}" presName="connectorText" presStyleLbl="sibTrans2D1" presStyleIdx="1" presStyleCnt="2"/>
      <dgm:spPr/>
    </dgm:pt>
    <dgm:pt modelId="{F6AF56D4-D098-0A43-B629-F14DB98EA893}" type="pres">
      <dgm:prSet presAssocID="{1ACCD602-360A-954A-A83A-3495ED40C412}" presName="node" presStyleLbl="node1" presStyleIdx="2" presStyleCnt="3">
        <dgm:presLayoutVars>
          <dgm:bulletEnabled val="1"/>
        </dgm:presLayoutVars>
      </dgm:prSet>
      <dgm:spPr/>
    </dgm:pt>
  </dgm:ptLst>
  <dgm:cxnLst>
    <dgm:cxn modelId="{779F1901-6BBE-C142-8DF3-2C742207321A}" srcId="{9DACA1DD-9E69-1E4D-BED6-DEB390B7FAF5}" destId="{2A9CF4C3-7222-7640-8A74-96529ADAC50D}" srcOrd="1" destOrd="0" parTransId="{272F1E51-43CA-8943-9845-5E17D0F6CFF8}" sibTransId="{04F52B6B-1741-194B-98C9-EFCFA2D5DEC0}"/>
    <dgm:cxn modelId="{AD6FC725-C708-BE44-AFAC-9A8F6BC7D4AC}" type="presOf" srcId="{04F52B6B-1741-194B-98C9-EFCFA2D5DEC0}" destId="{9F7CC814-BA9E-1A4C-B104-A597DE680691}" srcOrd="1" destOrd="0" presId="urn:microsoft.com/office/officeart/2005/8/layout/process1"/>
    <dgm:cxn modelId="{4DBB812E-7823-9D44-92F3-3D6513656136}" type="presOf" srcId="{9DACA1DD-9E69-1E4D-BED6-DEB390B7FAF5}" destId="{88145E5B-90F7-E44E-A648-24DC8713A4EF}" srcOrd="0" destOrd="0" presId="urn:microsoft.com/office/officeart/2005/8/layout/process1"/>
    <dgm:cxn modelId="{34450B32-011C-4944-941C-545EFBD51BDC}" type="presOf" srcId="{04F52B6B-1741-194B-98C9-EFCFA2D5DEC0}" destId="{9CAB2F22-DA68-E742-B9B8-1672391D5C29}" srcOrd="0" destOrd="0" presId="urn:microsoft.com/office/officeart/2005/8/layout/process1"/>
    <dgm:cxn modelId="{6368BF4D-943F-A349-8871-406A580C2272}" type="presOf" srcId="{2A9CF4C3-7222-7640-8A74-96529ADAC50D}" destId="{A2D4F2F1-2C41-FA45-8C4E-D178452AB3D1}" srcOrd="0" destOrd="0" presId="urn:microsoft.com/office/officeart/2005/8/layout/process1"/>
    <dgm:cxn modelId="{C7C61252-4BFB-AC4D-A963-A134C194CF22}" srcId="{9DACA1DD-9E69-1E4D-BED6-DEB390B7FAF5}" destId="{1ACCD602-360A-954A-A83A-3495ED40C412}" srcOrd="2" destOrd="0" parTransId="{E4C982D6-56F7-F049-8AE9-E69D838845F0}" sibTransId="{AF854214-750A-4747-91CD-AA26885D7183}"/>
    <dgm:cxn modelId="{48C47967-236D-0447-8E73-4E5F492BE881}" type="presOf" srcId="{6F367D2A-BA23-D449-B3CA-B071CAE0CBF3}" destId="{0BB028BD-892D-BC40-A47E-4B247C2B41C4}" srcOrd="0" destOrd="0" presId="urn:microsoft.com/office/officeart/2005/8/layout/process1"/>
    <dgm:cxn modelId="{A72C4A71-EE73-324F-9A11-30543F74EBC7}" srcId="{9DACA1DD-9E69-1E4D-BED6-DEB390B7FAF5}" destId="{6F367D2A-BA23-D449-B3CA-B071CAE0CBF3}" srcOrd="0" destOrd="0" parTransId="{A3DFB975-B116-294A-B4F3-AF915E822EC3}" sibTransId="{3EE75299-D605-864E-AF9C-3426D032D051}"/>
    <dgm:cxn modelId="{0EAFE090-41FC-E74B-B367-A96351C798C4}" type="presOf" srcId="{3EE75299-D605-864E-AF9C-3426D032D051}" destId="{07103423-B970-F94C-86D9-0876B8580744}" srcOrd="0" destOrd="0" presId="urn:microsoft.com/office/officeart/2005/8/layout/process1"/>
    <dgm:cxn modelId="{4DC7DDCB-1C52-4746-8351-71035A976F7F}" type="presOf" srcId="{3EE75299-D605-864E-AF9C-3426D032D051}" destId="{A0A7ACD3-7116-F945-A5B1-5CDF2742336E}" srcOrd="1" destOrd="0" presId="urn:microsoft.com/office/officeart/2005/8/layout/process1"/>
    <dgm:cxn modelId="{02F5AFDD-408B-E14E-808E-196AED67B686}" type="presOf" srcId="{1ACCD602-360A-954A-A83A-3495ED40C412}" destId="{F6AF56D4-D098-0A43-B629-F14DB98EA893}" srcOrd="0" destOrd="0" presId="urn:microsoft.com/office/officeart/2005/8/layout/process1"/>
    <dgm:cxn modelId="{34138971-33A6-894A-AFB0-DFCD269ACAC0}" type="presParOf" srcId="{88145E5B-90F7-E44E-A648-24DC8713A4EF}" destId="{0BB028BD-892D-BC40-A47E-4B247C2B41C4}" srcOrd="0" destOrd="0" presId="urn:microsoft.com/office/officeart/2005/8/layout/process1"/>
    <dgm:cxn modelId="{BE088C4D-3766-2E43-9BEE-5CC3549BA116}" type="presParOf" srcId="{88145E5B-90F7-E44E-A648-24DC8713A4EF}" destId="{07103423-B970-F94C-86D9-0876B8580744}" srcOrd="1" destOrd="0" presId="urn:microsoft.com/office/officeart/2005/8/layout/process1"/>
    <dgm:cxn modelId="{56A6F42E-9D64-1E4F-B08E-AA1627DD3A47}" type="presParOf" srcId="{07103423-B970-F94C-86D9-0876B8580744}" destId="{A0A7ACD3-7116-F945-A5B1-5CDF2742336E}" srcOrd="0" destOrd="0" presId="urn:microsoft.com/office/officeart/2005/8/layout/process1"/>
    <dgm:cxn modelId="{14054961-BECE-AE48-A8D2-6896ACD50F45}" type="presParOf" srcId="{88145E5B-90F7-E44E-A648-24DC8713A4EF}" destId="{A2D4F2F1-2C41-FA45-8C4E-D178452AB3D1}" srcOrd="2" destOrd="0" presId="urn:microsoft.com/office/officeart/2005/8/layout/process1"/>
    <dgm:cxn modelId="{B14B068E-F902-EC44-8584-2B8F6951E52C}" type="presParOf" srcId="{88145E5B-90F7-E44E-A648-24DC8713A4EF}" destId="{9CAB2F22-DA68-E742-B9B8-1672391D5C29}" srcOrd="3" destOrd="0" presId="urn:microsoft.com/office/officeart/2005/8/layout/process1"/>
    <dgm:cxn modelId="{12A622FB-7FFB-D643-86E7-D330BD08128C}" type="presParOf" srcId="{9CAB2F22-DA68-E742-B9B8-1672391D5C29}" destId="{9F7CC814-BA9E-1A4C-B104-A597DE680691}" srcOrd="0" destOrd="0" presId="urn:microsoft.com/office/officeart/2005/8/layout/process1"/>
    <dgm:cxn modelId="{7C01BCFA-CC41-524C-BD2C-870D6EC98A1D}" type="presParOf" srcId="{88145E5B-90F7-E44E-A648-24DC8713A4EF}" destId="{F6AF56D4-D098-0A43-B629-F14DB98EA89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BDA77C-FC6D-3E47-99F3-1C57C47BBD93}" type="doc">
      <dgm:prSet loTypeId="urn:microsoft.com/office/officeart/2005/8/layout/hList6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fr-FR"/>
        </a:p>
      </dgm:t>
    </dgm:pt>
    <dgm:pt modelId="{08E16E68-40C5-3544-8F23-7471A3EFDD5F}">
      <dgm:prSet phldrT="[Texte]"/>
      <dgm:spPr/>
      <dgm:t>
        <a:bodyPr/>
        <a:lstStyle/>
        <a:p>
          <a:r>
            <a:rPr lang="fr-FR" dirty="0"/>
            <a:t>Train</a:t>
          </a:r>
        </a:p>
      </dgm:t>
    </dgm:pt>
    <dgm:pt modelId="{2ED7C6ED-0825-2B40-B28C-A4CAE0EF6A8F}" type="parTrans" cxnId="{8B99BF4C-2F64-DE47-8FB4-49E67FBB8A39}">
      <dgm:prSet/>
      <dgm:spPr/>
      <dgm:t>
        <a:bodyPr/>
        <a:lstStyle/>
        <a:p>
          <a:endParaRPr lang="fr-FR"/>
        </a:p>
      </dgm:t>
    </dgm:pt>
    <dgm:pt modelId="{B86748B0-6EA6-C149-B40F-AF5F5516FEAA}" type="sibTrans" cxnId="{8B99BF4C-2F64-DE47-8FB4-49E67FBB8A39}">
      <dgm:prSet/>
      <dgm:spPr/>
      <dgm:t>
        <a:bodyPr/>
        <a:lstStyle/>
        <a:p>
          <a:endParaRPr lang="fr-FR"/>
        </a:p>
      </dgm:t>
    </dgm:pt>
    <dgm:pt modelId="{863C61E4-D883-2D4D-92AB-DD91DA489077}">
      <dgm:prSet phldrT="[Texte]"/>
      <dgm:spPr/>
      <dgm:t>
        <a:bodyPr/>
        <a:lstStyle/>
        <a:p>
          <a:r>
            <a:rPr lang="fr-FR" dirty="0"/>
            <a:t>Store</a:t>
          </a:r>
        </a:p>
      </dgm:t>
    </dgm:pt>
    <dgm:pt modelId="{86980745-AA70-A74D-8640-E72A9DACD548}" type="parTrans" cxnId="{C958F4C5-60DC-C145-991D-0E7C9B78E1F3}">
      <dgm:prSet/>
      <dgm:spPr/>
      <dgm:t>
        <a:bodyPr/>
        <a:lstStyle/>
        <a:p>
          <a:endParaRPr lang="fr-FR"/>
        </a:p>
      </dgm:t>
    </dgm:pt>
    <dgm:pt modelId="{52230A4F-78BE-7142-B362-77F2B8A62DD0}" type="sibTrans" cxnId="{C958F4C5-60DC-C145-991D-0E7C9B78E1F3}">
      <dgm:prSet/>
      <dgm:spPr/>
      <dgm:t>
        <a:bodyPr/>
        <a:lstStyle/>
        <a:p>
          <a:endParaRPr lang="fr-FR"/>
        </a:p>
      </dgm:t>
    </dgm:pt>
    <dgm:pt modelId="{7F7D6279-C61F-194A-B4B8-6BF425052E36}">
      <dgm:prSet phldrT="[Texte]"/>
      <dgm:spPr/>
      <dgm:t>
        <a:bodyPr/>
        <a:lstStyle/>
        <a:p>
          <a:r>
            <a:rPr lang="fr-FR" dirty="0"/>
            <a:t>Test</a:t>
          </a:r>
        </a:p>
      </dgm:t>
    </dgm:pt>
    <dgm:pt modelId="{823728FD-6E28-5646-BC11-B3DAA85F79B5}" type="parTrans" cxnId="{3B119641-E7FE-5C40-8BCA-DE69A94A9CDD}">
      <dgm:prSet/>
      <dgm:spPr/>
      <dgm:t>
        <a:bodyPr/>
        <a:lstStyle/>
        <a:p>
          <a:endParaRPr lang="fr-FR"/>
        </a:p>
      </dgm:t>
    </dgm:pt>
    <dgm:pt modelId="{DFF750EB-6917-7640-AD66-20BAD3DADD94}" type="sibTrans" cxnId="{3B119641-E7FE-5C40-8BCA-DE69A94A9CDD}">
      <dgm:prSet/>
      <dgm:spPr/>
      <dgm:t>
        <a:bodyPr/>
        <a:lstStyle/>
        <a:p>
          <a:endParaRPr lang="fr-FR"/>
        </a:p>
      </dgm:t>
    </dgm:pt>
    <dgm:pt modelId="{FB08A762-83D6-FB4B-A4E6-EB6075FB35E8}">
      <dgm:prSet/>
      <dgm:spPr/>
      <dgm:t>
        <a:bodyPr/>
        <a:lstStyle/>
        <a:p>
          <a:r>
            <a:rPr lang="fr-FR" dirty="0"/>
            <a:t>Simple submission</a:t>
          </a:r>
        </a:p>
      </dgm:t>
    </dgm:pt>
    <dgm:pt modelId="{F5D206B1-1311-B04B-8AA6-12C7A37BE13A}" type="parTrans" cxnId="{B2506D6C-2C62-374E-AB00-5AE1EB386E7E}">
      <dgm:prSet/>
      <dgm:spPr/>
      <dgm:t>
        <a:bodyPr/>
        <a:lstStyle/>
        <a:p>
          <a:endParaRPr lang="fr-FR"/>
        </a:p>
      </dgm:t>
    </dgm:pt>
    <dgm:pt modelId="{38C5B2D1-ACBA-B648-96F8-CCBB4F08EF44}" type="sibTrans" cxnId="{B2506D6C-2C62-374E-AB00-5AE1EB386E7E}">
      <dgm:prSet/>
      <dgm:spPr/>
      <dgm:t>
        <a:bodyPr/>
        <a:lstStyle/>
        <a:p>
          <a:endParaRPr lang="fr-FR"/>
        </a:p>
      </dgm:t>
    </dgm:pt>
    <dgm:pt modelId="{E17DB539-1ACE-5E47-AD6C-DA0A8FF80F42}" type="pres">
      <dgm:prSet presAssocID="{ADBDA77C-FC6D-3E47-99F3-1C57C47BBD93}" presName="Name0" presStyleCnt="0">
        <dgm:presLayoutVars>
          <dgm:dir/>
          <dgm:resizeHandles val="exact"/>
        </dgm:presLayoutVars>
      </dgm:prSet>
      <dgm:spPr/>
    </dgm:pt>
    <dgm:pt modelId="{89FFE912-5DF5-554F-B3BD-17C74DA58516}" type="pres">
      <dgm:prSet presAssocID="{08E16E68-40C5-3544-8F23-7471A3EFDD5F}" presName="node" presStyleLbl="node1" presStyleIdx="0" presStyleCnt="4">
        <dgm:presLayoutVars>
          <dgm:bulletEnabled val="1"/>
        </dgm:presLayoutVars>
      </dgm:prSet>
      <dgm:spPr/>
    </dgm:pt>
    <dgm:pt modelId="{41399763-380D-014C-994D-2C1BA21580E8}" type="pres">
      <dgm:prSet presAssocID="{B86748B0-6EA6-C149-B40F-AF5F5516FEAA}" presName="sibTrans" presStyleCnt="0"/>
      <dgm:spPr/>
    </dgm:pt>
    <dgm:pt modelId="{A2DD8751-075A-2A43-B80B-DDA3F7949510}" type="pres">
      <dgm:prSet presAssocID="{863C61E4-D883-2D4D-92AB-DD91DA489077}" presName="node" presStyleLbl="node1" presStyleIdx="1" presStyleCnt="4">
        <dgm:presLayoutVars>
          <dgm:bulletEnabled val="1"/>
        </dgm:presLayoutVars>
      </dgm:prSet>
      <dgm:spPr/>
    </dgm:pt>
    <dgm:pt modelId="{D837AB17-173D-4D4A-BB29-51243B341523}" type="pres">
      <dgm:prSet presAssocID="{52230A4F-78BE-7142-B362-77F2B8A62DD0}" presName="sibTrans" presStyleCnt="0"/>
      <dgm:spPr/>
    </dgm:pt>
    <dgm:pt modelId="{9BF8B40A-F611-524B-B722-059C72865178}" type="pres">
      <dgm:prSet presAssocID="{7F7D6279-C61F-194A-B4B8-6BF425052E36}" presName="node" presStyleLbl="node1" presStyleIdx="2" presStyleCnt="4">
        <dgm:presLayoutVars>
          <dgm:bulletEnabled val="1"/>
        </dgm:presLayoutVars>
      </dgm:prSet>
      <dgm:spPr/>
    </dgm:pt>
    <dgm:pt modelId="{09D781EF-5696-7C4F-9684-2CE9220F26E1}" type="pres">
      <dgm:prSet presAssocID="{DFF750EB-6917-7640-AD66-20BAD3DADD94}" presName="sibTrans" presStyleCnt="0"/>
      <dgm:spPr/>
    </dgm:pt>
    <dgm:pt modelId="{F12AF726-5DE1-1F44-B6C5-AEF86DA3C571}" type="pres">
      <dgm:prSet presAssocID="{FB08A762-83D6-FB4B-A4E6-EB6075FB35E8}" presName="node" presStyleLbl="node1" presStyleIdx="3" presStyleCnt="4">
        <dgm:presLayoutVars>
          <dgm:bulletEnabled val="1"/>
        </dgm:presLayoutVars>
      </dgm:prSet>
      <dgm:spPr/>
    </dgm:pt>
  </dgm:ptLst>
  <dgm:cxnLst>
    <dgm:cxn modelId="{F3032826-C599-7E4B-A33E-6E3D2B9E9E05}" type="presOf" srcId="{ADBDA77C-FC6D-3E47-99F3-1C57C47BBD93}" destId="{E17DB539-1ACE-5E47-AD6C-DA0A8FF80F42}" srcOrd="0" destOrd="0" presId="urn:microsoft.com/office/officeart/2005/8/layout/hList6"/>
    <dgm:cxn modelId="{3B119641-E7FE-5C40-8BCA-DE69A94A9CDD}" srcId="{ADBDA77C-FC6D-3E47-99F3-1C57C47BBD93}" destId="{7F7D6279-C61F-194A-B4B8-6BF425052E36}" srcOrd="2" destOrd="0" parTransId="{823728FD-6E28-5646-BC11-B3DAA85F79B5}" sibTransId="{DFF750EB-6917-7640-AD66-20BAD3DADD94}"/>
    <dgm:cxn modelId="{8B99BF4C-2F64-DE47-8FB4-49E67FBB8A39}" srcId="{ADBDA77C-FC6D-3E47-99F3-1C57C47BBD93}" destId="{08E16E68-40C5-3544-8F23-7471A3EFDD5F}" srcOrd="0" destOrd="0" parTransId="{2ED7C6ED-0825-2B40-B28C-A4CAE0EF6A8F}" sibTransId="{B86748B0-6EA6-C149-B40F-AF5F5516FEAA}"/>
    <dgm:cxn modelId="{B2506D6C-2C62-374E-AB00-5AE1EB386E7E}" srcId="{ADBDA77C-FC6D-3E47-99F3-1C57C47BBD93}" destId="{FB08A762-83D6-FB4B-A4E6-EB6075FB35E8}" srcOrd="3" destOrd="0" parTransId="{F5D206B1-1311-B04B-8AA6-12C7A37BE13A}" sibTransId="{38C5B2D1-ACBA-B648-96F8-CCBB4F08EF44}"/>
    <dgm:cxn modelId="{DE43766E-5F2D-AE40-BE4F-FD5A0E059562}" type="presOf" srcId="{7F7D6279-C61F-194A-B4B8-6BF425052E36}" destId="{9BF8B40A-F611-524B-B722-059C72865178}" srcOrd="0" destOrd="0" presId="urn:microsoft.com/office/officeart/2005/8/layout/hList6"/>
    <dgm:cxn modelId="{8DFCDC78-3610-5445-A71E-FC0EA105A33D}" type="presOf" srcId="{863C61E4-D883-2D4D-92AB-DD91DA489077}" destId="{A2DD8751-075A-2A43-B80B-DDA3F7949510}" srcOrd="0" destOrd="0" presId="urn:microsoft.com/office/officeart/2005/8/layout/hList6"/>
    <dgm:cxn modelId="{52D4347E-FA38-FB44-834C-6DBEA62B2A80}" type="presOf" srcId="{08E16E68-40C5-3544-8F23-7471A3EFDD5F}" destId="{89FFE912-5DF5-554F-B3BD-17C74DA58516}" srcOrd="0" destOrd="0" presId="urn:microsoft.com/office/officeart/2005/8/layout/hList6"/>
    <dgm:cxn modelId="{C8BE47B7-8F04-E645-BB8B-12AEFB98E635}" type="presOf" srcId="{FB08A762-83D6-FB4B-A4E6-EB6075FB35E8}" destId="{F12AF726-5DE1-1F44-B6C5-AEF86DA3C571}" srcOrd="0" destOrd="0" presId="urn:microsoft.com/office/officeart/2005/8/layout/hList6"/>
    <dgm:cxn modelId="{C958F4C5-60DC-C145-991D-0E7C9B78E1F3}" srcId="{ADBDA77C-FC6D-3E47-99F3-1C57C47BBD93}" destId="{863C61E4-D883-2D4D-92AB-DD91DA489077}" srcOrd="1" destOrd="0" parTransId="{86980745-AA70-A74D-8640-E72A9DACD548}" sibTransId="{52230A4F-78BE-7142-B362-77F2B8A62DD0}"/>
    <dgm:cxn modelId="{1D651FD5-5A3D-BD44-AF0D-B6377F9D26DA}" type="presParOf" srcId="{E17DB539-1ACE-5E47-AD6C-DA0A8FF80F42}" destId="{89FFE912-5DF5-554F-B3BD-17C74DA58516}" srcOrd="0" destOrd="0" presId="urn:microsoft.com/office/officeart/2005/8/layout/hList6"/>
    <dgm:cxn modelId="{1458DD6C-0BB5-D642-8A86-C15FCF239CC8}" type="presParOf" srcId="{E17DB539-1ACE-5E47-AD6C-DA0A8FF80F42}" destId="{41399763-380D-014C-994D-2C1BA21580E8}" srcOrd="1" destOrd="0" presId="urn:microsoft.com/office/officeart/2005/8/layout/hList6"/>
    <dgm:cxn modelId="{8C961EAC-A5C2-174E-8958-93442E41D23C}" type="presParOf" srcId="{E17DB539-1ACE-5E47-AD6C-DA0A8FF80F42}" destId="{A2DD8751-075A-2A43-B80B-DDA3F7949510}" srcOrd="2" destOrd="0" presId="urn:microsoft.com/office/officeart/2005/8/layout/hList6"/>
    <dgm:cxn modelId="{870A6006-644A-DD41-9C2C-3EFB95F7801C}" type="presParOf" srcId="{E17DB539-1ACE-5E47-AD6C-DA0A8FF80F42}" destId="{D837AB17-173D-4D4A-BB29-51243B341523}" srcOrd="3" destOrd="0" presId="urn:microsoft.com/office/officeart/2005/8/layout/hList6"/>
    <dgm:cxn modelId="{96106250-FE2D-FD43-9B5F-5818A37E89C0}" type="presParOf" srcId="{E17DB539-1ACE-5E47-AD6C-DA0A8FF80F42}" destId="{9BF8B40A-F611-524B-B722-059C72865178}" srcOrd="4" destOrd="0" presId="urn:microsoft.com/office/officeart/2005/8/layout/hList6"/>
    <dgm:cxn modelId="{149E80AF-627B-D34D-A69C-E7DDC8B14A9B}" type="presParOf" srcId="{E17DB539-1ACE-5E47-AD6C-DA0A8FF80F42}" destId="{09D781EF-5696-7C4F-9684-2CE9220F26E1}" srcOrd="5" destOrd="0" presId="urn:microsoft.com/office/officeart/2005/8/layout/hList6"/>
    <dgm:cxn modelId="{1E8EA714-EB75-E741-9F53-52D066010B21}" type="presParOf" srcId="{E17DB539-1ACE-5E47-AD6C-DA0A8FF80F42}" destId="{F12AF726-5DE1-1F44-B6C5-AEF86DA3C571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034264-0DD7-EB48-871E-8CF5ABF3264A}" type="doc">
      <dgm:prSet loTypeId="urn:microsoft.com/office/officeart/2005/8/layout/vList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9895393-BF42-1848-82C8-8C06391A3196}">
      <dgm:prSet phldrT="[Texte]"/>
      <dgm:spPr/>
      <dgm:t>
        <a:bodyPr/>
        <a:lstStyle/>
        <a:p>
          <a:r>
            <a:rPr lang="fr-FR"/>
            <a:t>Organisation</a:t>
          </a:r>
          <a:endParaRPr lang="fr-FR" dirty="0"/>
        </a:p>
      </dgm:t>
    </dgm:pt>
    <dgm:pt modelId="{469DB66B-3F48-8444-A23A-D1EC6559D001}" type="parTrans" cxnId="{396C35F3-E97A-D344-BD21-8B6B46773506}">
      <dgm:prSet/>
      <dgm:spPr/>
      <dgm:t>
        <a:bodyPr/>
        <a:lstStyle/>
        <a:p>
          <a:endParaRPr lang="fr-FR"/>
        </a:p>
      </dgm:t>
    </dgm:pt>
    <dgm:pt modelId="{DB3BB49B-F7F6-7A40-96BC-07AA7EE9591C}" type="sibTrans" cxnId="{396C35F3-E97A-D344-BD21-8B6B46773506}">
      <dgm:prSet/>
      <dgm:spPr/>
      <dgm:t>
        <a:bodyPr/>
        <a:lstStyle/>
        <a:p>
          <a:endParaRPr lang="fr-FR"/>
        </a:p>
      </dgm:t>
    </dgm:pt>
    <dgm:pt modelId="{BEF07897-A95D-2B43-9D1A-2814C4FF02AC}">
      <dgm:prSet phldrT="[Texte]"/>
      <dgm:spPr/>
      <dgm:t>
        <a:bodyPr/>
        <a:lstStyle/>
        <a:p>
          <a:r>
            <a:rPr lang="fr-FR" dirty="0"/>
            <a:t>Cibler les promotions sur les magasins identifiés</a:t>
          </a:r>
        </a:p>
      </dgm:t>
    </dgm:pt>
    <dgm:pt modelId="{28C04DB2-5E00-4349-A187-3E8A177A2BE2}" type="parTrans" cxnId="{DC226459-3664-1740-87A3-D6D71B175C2A}">
      <dgm:prSet/>
      <dgm:spPr/>
      <dgm:t>
        <a:bodyPr/>
        <a:lstStyle/>
        <a:p>
          <a:endParaRPr lang="fr-FR"/>
        </a:p>
      </dgm:t>
    </dgm:pt>
    <dgm:pt modelId="{B033BCCA-E36F-814C-9395-5CFA8992D34F}" type="sibTrans" cxnId="{DC226459-3664-1740-87A3-D6D71B175C2A}">
      <dgm:prSet/>
      <dgm:spPr/>
      <dgm:t>
        <a:bodyPr/>
        <a:lstStyle/>
        <a:p>
          <a:endParaRPr lang="fr-FR"/>
        </a:p>
      </dgm:t>
    </dgm:pt>
    <dgm:pt modelId="{220CC722-E267-0E4D-8923-8AF5A22A6266}">
      <dgm:prSet phldrT="[Texte]"/>
      <dgm:spPr/>
      <dgm:t>
        <a:bodyPr/>
        <a:lstStyle/>
        <a:p>
          <a:r>
            <a:rPr lang="fr-FR" dirty="0"/>
            <a:t>Privilégier les ouvertures de magasins près des concurrents</a:t>
          </a:r>
        </a:p>
      </dgm:t>
    </dgm:pt>
    <dgm:pt modelId="{347481B0-F241-7241-8962-3079B78CE45D}" type="parTrans" cxnId="{A7BD4E46-E406-0747-862C-6EB1B245E16C}">
      <dgm:prSet/>
      <dgm:spPr/>
      <dgm:t>
        <a:bodyPr/>
        <a:lstStyle/>
        <a:p>
          <a:endParaRPr lang="fr-FR"/>
        </a:p>
      </dgm:t>
    </dgm:pt>
    <dgm:pt modelId="{8E39B69B-DAEA-134A-9A32-EFD657EF8521}" type="sibTrans" cxnId="{A7BD4E46-E406-0747-862C-6EB1B245E16C}">
      <dgm:prSet/>
      <dgm:spPr/>
      <dgm:t>
        <a:bodyPr/>
        <a:lstStyle/>
        <a:p>
          <a:endParaRPr lang="fr-FR"/>
        </a:p>
      </dgm:t>
    </dgm:pt>
    <dgm:pt modelId="{3D327251-E148-7545-AEA2-53E6540CC6C4}">
      <dgm:prSet phldrT="[Texte]"/>
      <dgm:spPr/>
      <dgm:t>
        <a:bodyPr/>
        <a:lstStyle/>
        <a:p>
          <a:r>
            <a:rPr lang="fr-FR" dirty="0"/>
            <a:t>Business</a:t>
          </a:r>
        </a:p>
      </dgm:t>
    </dgm:pt>
    <dgm:pt modelId="{42614ACB-D68E-7A46-8BA8-B1DDB2AF2D78}" type="parTrans" cxnId="{6CCECE7E-F18A-9C43-9557-D180AC679F3A}">
      <dgm:prSet/>
      <dgm:spPr/>
      <dgm:t>
        <a:bodyPr/>
        <a:lstStyle/>
        <a:p>
          <a:endParaRPr lang="fr-FR"/>
        </a:p>
      </dgm:t>
    </dgm:pt>
    <dgm:pt modelId="{0D6A641A-626B-B746-B798-46DF9ADAF32A}" type="sibTrans" cxnId="{6CCECE7E-F18A-9C43-9557-D180AC679F3A}">
      <dgm:prSet/>
      <dgm:spPr/>
      <dgm:t>
        <a:bodyPr/>
        <a:lstStyle/>
        <a:p>
          <a:endParaRPr lang="fr-FR"/>
        </a:p>
      </dgm:t>
    </dgm:pt>
    <dgm:pt modelId="{72FE18C9-4A3F-8147-A94F-AD96C7CF283D}">
      <dgm:prSet phldrT="[Texte]"/>
      <dgm:spPr/>
      <dgm:t>
        <a:bodyPr/>
        <a:lstStyle/>
        <a:p>
          <a:r>
            <a:rPr lang="fr-FR" dirty="0"/>
            <a:t>Communiquer les analyses avec les équipes marketing et logistique</a:t>
          </a:r>
        </a:p>
      </dgm:t>
    </dgm:pt>
    <dgm:pt modelId="{8694EEB7-4B34-C343-81E9-DCEB9446D349}" type="parTrans" cxnId="{C872515D-F122-B247-8FB0-EB95628D6A00}">
      <dgm:prSet/>
      <dgm:spPr/>
      <dgm:t>
        <a:bodyPr/>
        <a:lstStyle/>
        <a:p>
          <a:endParaRPr lang="fr-FR"/>
        </a:p>
      </dgm:t>
    </dgm:pt>
    <dgm:pt modelId="{815F14F4-0AD1-DB49-A1B3-B2F33936361B}" type="sibTrans" cxnId="{C872515D-F122-B247-8FB0-EB95628D6A00}">
      <dgm:prSet/>
      <dgm:spPr/>
      <dgm:t>
        <a:bodyPr/>
        <a:lstStyle/>
        <a:p>
          <a:endParaRPr lang="fr-FR"/>
        </a:p>
      </dgm:t>
    </dgm:pt>
    <dgm:pt modelId="{7BE94281-8205-E34A-8086-8B97DD651782}">
      <dgm:prSet phldrT="[Texte]"/>
      <dgm:spPr/>
      <dgm:t>
        <a:bodyPr/>
        <a:lstStyle/>
        <a:p>
          <a:r>
            <a:rPr lang="fr-FR" dirty="0"/>
            <a:t>Privilégier les produits à forte marge au cluster 0</a:t>
          </a:r>
        </a:p>
      </dgm:t>
    </dgm:pt>
    <dgm:pt modelId="{9683DD5F-098D-6E4D-9200-167617DD06CC}" type="parTrans" cxnId="{373EFF1B-31EE-CE42-8515-E8359C01ADC9}">
      <dgm:prSet/>
      <dgm:spPr/>
      <dgm:t>
        <a:bodyPr/>
        <a:lstStyle/>
        <a:p>
          <a:endParaRPr lang="fr-FR"/>
        </a:p>
      </dgm:t>
    </dgm:pt>
    <dgm:pt modelId="{DAEBC84D-2D42-7C4D-8AA4-B3A2C659FF0C}" type="sibTrans" cxnId="{373EFF1B-31EE-CE42-8515-E8359C01ADC9}">
      <dgm:prSet/>
      <dgm:spPr/>
      <dgm:t>
        <a:bodyPr/>
        <a:lstStyle/>
        <a:p>
          <a:endParaRPr lang="fr-FR"/>
        </a:p>
      </dgm:t>
    </dgm:pt>
    <dgm:pt modelId="{327054D1-BCB8-784B-971A-884601BB3583}">
      <dgm:prSet phldrT="[Texte]"/>
      <dgm:spPr/>
      <dgm:t>
        <a:bodyPr/>
        <a:lstStyle/>
        <a:p>
          <a:r>
            <a:rPr lang="fr-FR" dirty="0"/>
            <a:t>Prévoir des ouvertures de magasins de type B</a:t>
          </a:r>
        </a:p>
      </dgm:t>
    </dgm:pt>
    <dgm:pt modelId="{4AF082D4-3C72-F64F-A50F-8CF96ABC5F96}" type="parTrans" cxnId="{64EE4455-D010-EA46-9C5B-11CA0366D59A}">
      <dgm:prSet/>
      <dgm:spPr/>
      <dgm:t>
        <a:bodyPr/>
        <a:lstStyle/>
        <a:p>
          <a:endParaRPr lang="fr-FR"/>
        </a:p>
      </dgm:t>
    </dgm:pt>
    <dgm:pt modelId="{06FF5376-07E1-9546-B70E-61AB83AF7647}" type="sibTrans" cxnId="{64EE4455-D010-EA46-9C5B-11CA0366D59A}">
      <dgm:prSet/>
      <dgm:spPr/>
      <dgm:t>
        <a:bodyPr/>
        <a:lstStyle/>
        <a:p>
          <a:endParaRPr lang="fr-FR"/>
        </a:p>
      </dgm:t>
    </dgm:pt>
    <dgm:pt modelId="{AC36DFAD-F5BB-B743-9323-3739795A6071}">
      <dgm:prSet phldrT="[Texte]"/>
      <dgm:spPr/>
      <dgm:t>
        <a:bodyPr/>
        <a:lstStyle/>
        <a:p>
          <a:r>
            <a:rPr lang="fr-FR" dirty="0"/>
            <a:t>Accentuer les promotions pendant les périodes faibles </a:t>
          </a:r>
        </a:p>
      </dgm:t>
    </dgm:pt>
    <dgm:pt modelId="{B5663217-BD4F-864E-9913-234656AF4E2D}" type="parTrans" cxnId="{45721BAA-189E-B34F-83D1-85D5105AE00F}">
      <dgm:prSet/>
      <dgm:spPr/>
      <dgm:t>
        <a:bodyPr/>
        <a:lstStyle/>
        <a:p>
          <a:endParaRPr lang="fr-FR"/>
        </a:p>
      </dgm:t>
    </dgm:pt>
    <dgm:pt modelId="{498C9FA7-90FF-ED43-B525-CF45B0145A49}" type="sibTrans" cxnId="{45721BAA-189E-B34F-83D1-85D5105AE00F}">
      <dgm:prSet/>
      <dgm:spPr/>
      <dgm:t>
        <a:bodyPr/>
        <a:lstStyle/>
        <a:p>
          <a:endParaRPr lang="fr-FR"/>
        </a:p>
      </dgm:t>
    </dgm:pt>
    <dgm:pt modelId="{A9A57EC5-E124-F546-B72E-781BEAC2E6E5}">
      <dgm:prSet phldrT="[Texte]"/>
      <dgm:spPr/>
      <dgm:t>
        <a:bodyPr/>
        <a:lstStyle/>
        <a:p>
          <a:r>
            <a:rPr lang="fr-FR" dirty="0"/>
            <a:t>Communiquer les analyses avec la logistique</a:t>
          </a:r>
        </a:p>
      </dgm:t>
    </dgm:pt>
    <dgm:pt modelId="{193D6D43-4471-0B43-B250-79C0CE710471}" type="parTrans" cxnId="{5B4864BF-4CD3-7249-B7BA-F5E99243744F}">
      <dgm:prSet/>
      <dgm:spPr/>
      <dgm:t>
        <a:bodyPr/>
        <a:lstStyle/>
        <a:p>
          <a:endParaRPr lang="fr-FR"/>
        </a:p>
      </dgm:t>
    </dgm:pt>
    <dgm:pt modelId="{71557169-291E-2840-B3E4-7744687FCE0B}" type="sibTrans" cxnId="{5B4864BF-4CD3-7249-B7BA-F5E99243744F}">
      <dgm:prSet/>
      <dgm:spPr/>
      <dgm:t>
        <a:bodyPr/>
        <a:lstStyle/>
        <a:p>
          <a:endParaRPr lang="fr-FR"/>
        </a:p>
      </dgm:t>
    </dgm:pt>
    <dgm:pt modelId="{62950C64-DC5B-5B42-87E4-C1788B4B8B7B}" type="pres">
      <dgm:prSet presAssocID="{B0034264-0DD7-EB48-871E-8CF5ABF3264A}" presName="Name0" presStyleCnt="0">
        <dgm:presLayoutVars>
          <dgm:dir/>
          <dgm:animLvl val="lvl"/>
          <dgm:resizeHandles/>
        </dgm:presLayoutVars>
      </dgm:prSet>
      <dgm:spPr/>
    </dgm:pt>
    <dgm:pt modelId="{B880A361-9A7C-3047-8CEB-5B20131C67B1}" type="pres">
      <dgm:prSet presAssocID="{C9895393-BF42-1848-82C8-8C06391A3196}" presName="linNode" presStyleCnt="0"/>
      <dgm:spPr/>
    </dgm:pt>
    <dgm:pt modelId="{1261A70D-7AF5-C24D-8394-F501397FC29E}" type="pres">
      <dgm:prSet presAssocID="{C9895393-BF42-1848-82C8-8C06391A3196}" presName="parentShp" presStyleLbl="node1" presStyleIdx="0" presStyleCnt="2">
        <dgm:presLayoutVars>
          <dgm:bulletEnabled val="1"/>
        </dgm:presLayoutVars>
      </dgm:prSet>
      <dgm:spPr/>
    </dgm:pt>
    <dgm:pt modelId="{C699BA1E-BDDC-EF4F-81C9-7142E59EA1CB}" type="pres">
      <dgm:prSet presAssocID="{C9895393-BF42-1848-82C8-8C06391A3196}" presName="childShp" presStyleLbl="bgAccFollowNode1" presStyleIdx="0" presStyleCnt="2">
        <dgm:presLayoutVars>
          <dgm:bulletEnabled val="1"/>
        </dgm:presLayoutVars>
      </dgm:prSet>
      <dgm:spPr/>
    </dgm:pt>
    <dgm:pt modelId="{57FEDBCD-ED05-0A49-808D-B0B28DC4AE7F}" type="pres">
      <dgm:prSet presAssocID="{DB3BB49B-F7F6-7A40-96BC-07AA7EE9591C}" presName="spacing" presStyleCnt="0"/>
      <dgm:spPr/>
    </dgm:pt>
    <dgm:pt modelId="{66583564-86B9-9D43-8B50-654232A1E157}" type="pres">
      <dgm:prSet presAssocID="{3D327251-E148-7545-AEA2-53E6540CC6C4}" presName="linNode" presStyleCnt="0"/>
      <dgm:spPr/>
    </dgm:pt>
    <dgm:pt modelId="{C8CBA361-3345-B24A-AE0A-F703B86C4D0C}" type="pres">
      <dgm:prSet presAssocID="{3D327251-E148-7545-AEA2-53E6540CC6C4}" presName="parentShp" presStyleLbl="node1" presStyleIdx="1" presStyleCnt="2">
        <dgm:presLayoutVars>
          <dgm:bulletEnabled val="1"/>
        </dgm:presLayoutVars>
      </dgm:prSet>
      <dgm:spPr/>
    </dgm:pt>
    <dgm:pt modelId="{ECAF040D-9D73-F842-8B99-9368ABD917D6}" type="pres">
      <dgm:prSet presAssocID="{3D327251-E148-7545-AEA2-53E6540CC6C4}" presName="childShp" presStyleLbl="bgAccFollowNode1" presStyleIdx="1" presStyleCnt="2">
        <dgm:presLayoutVars>
          <dgm:bulletEnabled val="1"/>
        </dgm:presLayoutVars>
      </dgm:prSet>
      <dgm:spPr/>
    </dgm:pt>
  </dgm:ptLst>
  <dgm:cxnLst>
    <dgm:cxn modelId="{A3F4DF0B-E383-4747-BF93-1B967AC60987}" type="presOf" srcId="{7BE94281-8205-E34A-8086-8B97DD651782}" destId="{ECAF040D-9D73-F842-8B99-9368ABD917D6}" srcOrd="0" destOrd="1" presId="urn:microsoft.com/office/officeart/2005/8/layout/vList6"/>
    <dgm:cxn modelId="{EBAAB60E-CFE6-D24E-970B-D031F8721C59}" type="presOf" srcId="{A9A57EC5-E124-F546-B72E-781BEAC2E6E5}" destId="{C699BA1E-BDDC-EF4F-81C9-7142E59EA1CB}" srcOrd="0" destOrd="3" presId="urn:microsoft.com/office/officeart/2005/8/layout/vList6"/>
    <dgm:cxn modelId="{144F9A13-8D25-9449-BEAC-3E1D85682121}" type="presOf" srcId="{3D327251-E148-7545-AEA2-53E6540CC6C4}" destId="{C8CBA361-3345-B24A-AE0A-F703B86C4D0C}" srcOrd="0" destOrd="0" presId="urn:microsoft.com/office/officeart/2005/8/layout/vList6"/>
    <dgm:cxn modelId="{373EFF1B-31EE-CE42-8515-E8359C01ADC9}" srcId="{3D327251-E148-7545-AEA2-53E6540CC6C4}" destId="{7BE94281-8205-E34A-8086-8B97DD651782}" srcOrd="1" destOrd="0" parTransId="{9683DD5F-098D-6E4D-9200-167617DD06CC}" sibTransId="{DAEBC84D-2D42-7C4D-8AA4-B3A2C659FF0C}"/>
    <dgm:cxn modelId="{1002E039-B6C1-9D44-8511-633A73E0A119}" type="presOf" srcId="{72FE18C9-4A3F-8147-A94F-AD96C7CF283D}" destId="{ECAF040D-9D73-F842-8B99-9368ABD917D6}" srcOrd="0" destOrd="0" presId="urn:microsoft.com/office/officeart/2005/8/layout/vList6"/>
    <dgm:cxn modelId="{C4AB6F42-28B9-224D-9643-C3315CB78593}" type="presOf" srcId="{220CC722-E267-0E4D-8923-8AF5A22A6266}" destId="{C699BA1E-BDDC-EF4F-81C9-7142E59EA1CB}" srcOrd="0" destOrd="1" presId="urn:microsoft.com/office/officeart/2005/8/layout/vList6"/>
    <dgm:cxn modelId="{A7BD4E46-E406-0747-862C-6EB1B245E16C}" srcId="{C9895393-BF42-1848-82C8-8C06391A3196}" destId="{220CC722-E267-0E4D-8923-8AF5A22A6266}" srcOrd="1" destOrd="0" parTransId="{347481B0-F241-7241-8962-3079B78CE45D}" sibTransId="{8E39B69B-DAEA-134A-9A32-EFD657EF8521}"/>
    <dgm:cxn modelId="{F68A8C54-1A10-6C4F-B0EB-88ECF9016032}" type="presOf" srcId="{AC36DFAD-F5BB-B743-9323-3739795A6071}" destId="{ECAF040D-9D73-F842-8B99-9368ABD917D6}" srcOrd="0" destOrd="2" presId="urn:microsoft.com/office/officeart/2005/8/layout/vList6"/>
    <dgm:cxn modelId="{64EE4455-D010-EA46-9C5B-11CA0366D59A}" srcId="{C9895393-BF42-1848-82C8-8C06391A3196}" destId="{327054D1-BCB8-784B-971A-884601BB3583}" srcOrd="2" destOrd="0" parTransId="{4AF082D4-3C72-F64F-A50F-8CF96ABC5F96}" sibTransId="{06FF5376-07E1-9546-B70E-61AB83AF7647}"/>
    <dgm:cxn modelId="{DC226459-3664-1740-87A3-D6D71B175C2A}" srcId="{C9895393-BF42-1848-82C8-8C06391A3196}" destId="{BEF07897-A95D-2B43-9D1A-2814C4FF02AC}" srcOrd="0" destOrd="0" parTransId="{28C04DB2-5E00-4349-A187-3E8A177A2BE2}" sibTransId="{B033BCCA-E36F-814C-9395-5CFA8992D34F}"/>
    <dgm:cxn modelId="{C872515D-F122-B247-8FB0-EB95628D6A00}" srcId="{3D327251-E148-7545-AEA2-53E6540CC6C4}" destId="{72FE18C9-4A3F-8147-A94F-AD96C7CF283D}" srcOrd="0" destOrd="0" parTransId="{8694EEB7-4B34-C343-81E9-DCEB9446D349}" sibTransId="{815F14F4-0AD1-DB49-A1B3-B2F33936361B}"/>
    <dgm:cxn modelId="{6CCECE7E-F18A-9C43-9557-D180AC679F3A}" srcId="{B0034264-0DD7-EB48-871E-8CF5ABF3264A}" destId="{3D327251-E148-7545-AEA2-53E6540CC6C4}" srcOrd="1" destOrd="0" parTransId="{42614ACB-D68E-7A46-8BA8-B1DDB2AF2D78}" sibTransId="{0D6A641A-626B-B746-B798-46DF9ADAF32A}"/>
    <dgm:cxn modelId="{219F03A6-FE6D-364A-8B4E-BB341576BE09}" type="presOf" srcId="{C9895393-BF42-1848-82C8-8C06391A3196}" destId="{1261A70D-7AF5-C24D-8394-F501397FC29E}" srcOrd="0" destOrd="0" presId="urn:microsoft.com/office/officeart/2005/8/layout/vList6"/>
    <dgm:cxn modelId="{45721BAA-189E-B34F-83D1-85D5105AE00F}" srcId="{3D327251-E148-7545-AEA2-53E6540CC6C4}" destId="{AC36DFAD-F5BB-B743-9323-3739795A6071}" srcOrd="2" destOrd="0" parTransId="{B5663217-BD4F-864E-9913-234656AF4E2D}" sibTransId="{498C9FA7-90FF-ED43-B525-CF45B0145A49}"/>
    <dgm:cxn modelId="{E2FBD7AF-7AC6-9544-B5AE-7294AD4D2737}" type="presOf" srcId="{327054D1-BCB8-784B-971A-884601BB3583}" destId="{C699BA1E-BDDC-EF4F-81C9-7142E59EA1CB}" srcOrd="0" destOrd="2" presId="urn:microsoft.com/office/officeart/2005/8/layout/vList6"/>
    <dgm:cxn modelId="{5B4864BF-4CD3-7249-B7BA-F5E99243744F}" srcId="{C9895393-BF42-1848-82C8-8C06391A3196}" destId="{A9A57EC5-E124-F546-B72E-781BEAC2E6E5}" srcOrd="3" destOrd="0" parTransId="{193D6D43-4471-0B43-B250-79C0CE710471}" sibTransId="{71557169-291E-2840-B3E4-7744687FCE0B}"/>
    <dgm:cxn modelId="{BED42BC8-2687-A84B-9C35-657B6CDB3737}" type="presOf" srcId="{BEF07897-A95D-2B43-9D1A-2814C4FF02AC}" destId="{C699BA1E-BDDC-EF4F-81C9-7142E59EA1CB}" srcOrd="0" destOrd="0" presId="urn:microsoft.com/office/officeart/2005/8/layout/vList6"/>
    <dgm:cxn modelId="{C0ED75E8-F851-294E-A594-6BA1EAFA3BE3}" type="presOf" srcId="{B0034264-0DD7-EB48-871E-8CF5ABF3264A}" destId="{62950C64-DC5B-5B42-87E4-C1788B4B8B7B}" srcOrd="0" destOrd="0" presId="urn:microsoft.com/office/officeart/2005/8/layout/vList6"/>
    <dgm:cxn modelId="{396C35F3-E97A-D344-BD21-8B6B46773506}" srcId="{B0034264-0DD7-EB48-871E-8CF5ABF3264A}" destId="{C9895393-BF42-1848-82C8-8C06391A3196}" srcOrd="0" destOrd="0" parTransId="{469DB66B-3F48-8444-A23A-D1EC6559D001}" sibTransId="{DB3BB49B-F7F6-7A40-96BC-07AA7EE9591C}"/>
    <dgm:cxn modelId="{77BAF47B-F15F-AE40-AE6F-4DA897D3774A}" type="presParOf" srcId="{62950C64-DC5B-5B42-87E4-C1788B4B8B7B}" destId="{B880A361-9A7C-3047-8CEB-5B20131C67B1}" srcOrd="0" destOrd="0" presId="urn:microsoft.com/office/officeart/2005/8/layout/vList6"/>
    <dgm:cxn modelId="{B634543F-5675-0245-9FC9-647128518FC6}" type="presParOf" srcId="{B880A361-9A7C-3047-8CEB-5B20131C67B1}" destId="{1261A70D-7AF5-C24D-8394-F501397FC29E}" srcOrd="0" destOrd="0" presId="urn:microsoft.com/office/officeart/2005/8/layout/vList6"/>
    <dgm:cxn modelId="{2C25CCF7-5DA3-864F-B513-1D18BDFC8065}" type="presParOf" srcId="{B880A361-9A7C-3047-8CEB-5B20131C67B1}" destId="{C699BA1E-BDDC-EF4F-81C9-7142E59EA1CB}" srcOrd="1" destOrd="0" presId="urn:microsoft.com/office/officeart/2005/8/layout/vList6"/>
    <dgm:cxn modelId="{9EB47F02-8A81-5A43-9C60-1D185BF3A199}" type="presParOf" srcId="{62950C64-DC5B-5B42-87E4-C1788B4B8B7B}" destId="{57FEDBCD-ED05-0A49-808D-B0B28DC4AE7F}" srcOrd="1" destOrd="0" presId="urn:microsoft.com/office/officeart/2005/8/layout/vList6"/>
    <dgm:cxn modelId="{876D9168-E510-BF4A-AF0E-9D40CC839372}" type="presParOf" srcId="{62950C64-DC5B-5B42-87E4-C1788B4B8B7B}" destId="{66583564-86B9-9D43-8B50-654232A1E157}" srcOrd="2" destOrd="0" presId="urn:microsoft.com/office/officeart/2005/8/layout/vList6"/>
    <dgm:cxn modelId="{F0D0C903-E4E7-E641-9996-31BB66DF9A95}" type="presParOf" srcId="{66583564-86B9-9D43-8B50-654232A1E157}" destId="{C8CBA361-3345-B24A-AE0A-F703B86C4D0C}" srcOrd="0" destOrd="0" presId="urn:microsoft.com/office/officeart/2005/8/layout/vList6"/>
    <dgm:cxn modelId="{DBAEF715-D904-4649-8788-85901351DCDB}" type="presParOf" srcId="{66583564-86B9-9D43-8B50-654232A1E157}" destId="{ECAF040D-9D73-F842-8B99-9368ABD917D6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B028BD-892D-BC40-A47E-4B247C2B41C4}">
      <dsp:nvSpPr>
        <dsp:cNvPr id="0" name=""/>
        <dsp:cNvSpPr/>
      </dsp:nvSpPr>
      <dsp:spPr>
        <a:xfrm>
          <a:off x="7308" y="1052827"/>
          <a:ext cx="2184574" cy="13107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0" i="0" kern="1200" dirty="0"/>
            <a:t>Charger et préparer le jeu de données</a:t>
          </a:r>
          <a:endParaRPr lang="fr-FR" sz="2000" kern="1200" dirty="0"/>
        </a:p>
      </dsp:txBody>
      <dsp:txXfrm>
        <a:off x="45698" y="1091217"/>
        <a:ext cx="2107794" cy="1233964"/>
      </dsp:txXfrm>
    </dsp:sp>
    <dsp:sp modelId="{07103423-B970-F94C-86D9-0876B8580744}">
      <dsp:nvSpPr>
        <dsp:cNvPr id="0" name=""/>
        <dsp:cNvSpPr/>
      </dsp:nvSpPr>
      <dsp:spPr>
        <a:xfrm>
          <a:off x="2410340" y="1437312"/>
          <a:ext cx="463129" cy="5417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2410340" y="1545667"/>
        <a:ext cx="324190" cy="325064"/>
      </dsp:txXfrm>
    </dsp:sp>
    <dsp:sp modelId="{A2D4F2F1-2C41-FA45-8C4E-D178452AB3D1}">
      <dsp:nvSpPr>
        <dsp:cNvPr id="0" name=""/>
        <dsp:cNvSpPr/>
      </dsp:nvSpPr>
      <dsp:spPr>
        <a:xfrm>
          <a:off x="3065712" y="1052827"/>
          <a:ext cx="2184574" cy="13107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0" i="0" kern="1200"/>
            <a:t>Caractériser les différentes typologies de magasin</a:t>
          </a:r>
          <a:endParaRPr lang="fr-FR" sz="2000" kern="1200"/>
        </a:p>
      </dsp:txBody>
      <dsp:txXfrm>
        <a:off x="3104102" y="1091217"/>
        <a:ext cx="2107794" cy="1233964"/>
      </dsp:txXfrm>
    </dsp:sp>
    <dsp:sp modelId="{9CAB2F22-DA68-E742-B9B8-1672391D5C29}">
      <dsp:nvSpPr>
        <dsp:cNvPr id="0" name=""/>
        <dsp:cNvSpPr/>
      </dsp:nvSpPr>
      <dsp:spPr>
        <a:xfrm>
          <a:off x="5468744" y="1437312"/>
          <a:ext cx="463129" cy="5417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5468744" y="1545667"/>
        <a:ext cx="324190" cy="325064"/>
      </dsp:txXfrm>
    </dsp:sp>
    <dsp:sp modelId="{F6AF56D4-D098-0A43-B629-F14DB98EA893}">
      <dsp:nvSpPr>
        <dsp:cNvPr id="0" name=""/>
        <dsp:cNvSpPr/>
      </dsp:nvSpPr>
      <dsp:spPr>
        <a:xfrm>
          <a:off x="6124116" y="1052827"/>
          <a:ext cx="2184574" cy="13107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0" i="0" kern="1200" dirty="0"/>
            <a:t>Comparaisons de moyennes mobiles vs SARIMA</a:t>
          </a:r>
          <a:endParaRPr lang="fr-FR" sz="2000" kern="1200" dirty="0"/>
        </a:p>
      </dsp:txBody>
      <dsp:txXfrm>
        <a:off x="6162506" y="1091217"/>
        <a:ext cx="2107794" cy="12339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FFE912-5DF5-554F-B3BD-17C74DA58516}">
      <dsp:nvSpPr>
        <dsp:cNvPr id="0" name=""/>
        <dsp:cNvSpPr/>
      </dsp:nvSpPr>
      <dsp:spPr>
        <a:xfrm rot="16200000">
          <a:off x="-1327169" y="1328114"/>
          <a:ext cx="3583217" cy="926987"/>
        </a:xfrm>
        <a:prstGeom prst="flowChartManualOperation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616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Train</a:t>
          </a:r>
        </a:p>
      </dsp:txBody>
      <dsp:txXfrm rot="5400000">
        <a:off x="946" y="716642"/>
        <a:ext cx="926987" cy="2149931"/>
      </dsp:txXfrm>
    </dsp:sp>
    <dsp:sp modelId="{A2DD8751-075A-2A43-B80B-DDA3F7949510}">
      <dsp:nvSpPr>
        <dsp:cNvPr id="0" name=""/>
        <dsp:cNvSpPr/>
      </dsp:nvSpPr>
      <dsp:spPr>
        <a:xfrm rot="16200000">
          <a:off x="-330657" y="1328114"/>
          <a:ext cx="3583217" cy="926987"/>
        </a:xfrm>
        <a:prstGeom prst="flowChartManualOperation">
          <a:avLst/>
        </a:prstGeom>
        <a:solidFill>
          <a:schemeClr val="accent1">
            <a:shade val="80000"/>
            <a:hueOff val="130100"/>
            <a:satOff val="5002"/>
            <a:lumOff val="81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616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Store</a:t>
          </a:r>
        </a:p>
      </dsp:txBody>
      <dsp:txXfrm rot="5400000">
        <a:off x="997458" y="716642"/>
        <a:ext cx="926987" cy="2149931"/>
      </dsp:txXfrm>
    </dsp:sp>
    <dsp:sp modelId="{9BF8B40A-F611-524B-B722-059C72865178}">
      <dsp:nvSpPr>
        <dsp:cNvPr id="0" name=""/>
        <dsp:cNvSpPr/>
      </dsp:nvSpPr>
      <dsp:spPr>
        <a:xfrm rot="16200000">
          <a:off x="665853" y="1328114"/>
          <a:ext cx="3583217" cy="926987"/>
        </a:xfrm>
        <a:prstGeom prst="flowChartManualOperation">
          <a:avLst/>
        </a:prstGeom>
        <a:solidFill>
          <a:schemeClr val="accent1">
            <a:shade val="80000"/>
            <a:hueOff val="260200"/>
            <a:satOff val="10003"/>
            <a:lumOff val="162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616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Test</a:t>
          </a:r>
        </a:p>
      </dsp:txBody>
      <dsp:txXfrm rot="5400000">
        <a:off x="1993968" y="716642"/>
        <a:ext cx="926987" cy="2149931"/>
      </dsp:txXfrm>
    </dsp:sp>
    <dsp:sp modelId="{F12AF726-5DE1-1F44-B6C5-AEF86DA3C571}">
      <dsp:nvSpPr>
        <dsp:cNvPr id="0" name=""/>
        <dsp:cNvSpPr/>
      </dsp:nvSpPr>
      <dsp:spPr>
        <a:xfrm rot="16200000">
          <a:off x="1662365" y="1328114"/>
          <a:ext cx="3583217" cy="926987"/>
        </a:xfrm>
        <a:prstGeom prst="flowChartManualOperation">
          <a:avLst/>
        </a:prstGeom>
        <a:solidFill>
          <a:schemeClr val="accent1">
            <a:shade val="80000"/>
            <a:hueOff val="390300"/>
            <a:satOff val="15005"/>
            <a:lumOff val="244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616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Simple submission</a:t>
          </a:r>
        </a:p>
      </dsp:txBody>
      <dsp:txXfrm rot="5400000">
        <a:off x="2990480" y="716642"/>
        <a:ext cx="926987" cy="21499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99BA1E-BDDC-EF4F-81C9-7142E59EA1CB}">
      <dsp:nvSpPr>
        <dsp:cNvPr id="0" name=""/>
        <dsp:cNvSpPr/>
      </dsp:nvSpPr>
      <dsp:spPr>
        <a:xfrm>
          <a:off x="3489710" y="375"/>
          <a:ext cx="5234565" cy="146573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Cibler les promotions sur les magasins identifiés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Privilégier les ouvertures de magasins près des concurrents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Prévoir des ouvertures de magasins de type B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Communiquer les analyses avec la logistique</a:t>
          </a:r>
        </a:p>
      </dsp:txBody>
      <dsp:txXfrm>
        <a:off x="3489710" y="183592"/>
        <a:ext cx="4684914" cy="1099303"/>
      </dsp:txXfrm>
    </dsp:sp>
    <dsp:sp modelId="{1261A70D-7AF5-C24D-8394-F501397FC29E}">
      <dsp:nvSpPr>
        <dsp:cNvPr id="0" name=""/>
        <dsp:cNvSpPr/>
      </dsp:nvSpPr>
      <dsp:spPr>
        <a:xfrm>
          <a:off x="0" y="375"/>
          <a:ext cx="3489710" cy="14657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kern="1200"/>
            <a:t>Organisation</a:t>
          </a:r>
          <a:endParaRPr lang="fr-FR" sz="4000" kern="1200" dirty="0"/>
        </a:p>
      </dsp:txBody>
      <dsp:txXfrm>
        <a:off x="71551" y="71926"/>
        <a:ext cx="3346608" cy="1322635"/>
      </dsp:txXfrm>
    </dsp:sp>
    <dsp:sp modelId="{ECAF040D-9D73-F842-8B99-9368ABD917D6}">
      <dsp:nvSpPr>
        <dsp:cNvPr id="0" name=""/>
        <dsp:cNvSpPr/>
      </dsp:nvSpPr>
      <dsp:spPr>
        <a:xfrm>
          <a:off x="3489710" y="1612686"/>
          <a:ext cx="5234565" cy="146573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Communiquer les analyses avec les équipes marketing et logistique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Privilégier les produits à forte marge au cluster 0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Accentuer les promotions pendant les périodes faibles </a:t>
          </a:r>
        </a:p>
      </dsp:txBody>
      <dsp:txXfrm>
        <a:off x="3489710" y="1795903"/>
        <a:ext cx="4684914" cy="1099303"/>
      </dsp:txXfrm>
    </dsp:sp>
    <dsp:sp modelId="{C8CBA361-3345-B24A-AE0A-F703B86C4D0C}">
      <dsp:nvSpPr>
        <dsp:cNvPr id="0" name=""/>
        <dsp:cNvSpPr/>
      </dsp:nvSpPr>
      <dsp:spPr>
        <a:xfrm>
          <a:off x="0" y="1612686"/>
          <a:ext cx="3489710" cy="14657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kern="1200" dirty="0"/>
            <a:t>Business</a:t>
          </a:r>
        </a:p>
      </dsp:txBody>
      <dsp:txXfrm>
        <a:off x="71551" y="1684237"/>
        <a:ext cx="3346608" cy="13226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4364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7713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1117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9314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0127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3412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82615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01237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0611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dirty="0"/>
              <a:t>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6377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96306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4573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12965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265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52150" y="1851250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52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Toutparapharma</a:t>
            </a:r>
            <a:endParaRPr sz="52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JEAN-PHILIPPE Bénédy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Supply Chain Analyst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[</a:t>
            </a:r>
            <a:r>
              <a:rPr lang="fr" sz="2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24 décembre</a:t>
            </a:r>
            <a:r>
              <a:rPr lang="fr" sz="20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2024</a:t>
            </a: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Sommaire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Contexte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Objectif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Méthodologies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Différentes analyses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Moyennes mobiles vs SARIMA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Recommandations</a:t>
            </a:r>
          </a:p>
          <a:p>
            <a:pPr marL="285750" indent="-285750"/>
            <a:endParaRPr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29E9E34-7265-FF5E-B903-EFA2CB5C3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777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Contexte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Entreprise possédant + de 1500 pharmacies et parapharmacies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Différents groupes de magasins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29E9E34-7265-FF5E-B903-EFA2CB5C3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1141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Objectifs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Comprendre les différentes typologies de magasin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Construire un modèle de prévision des ventes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Amélioration des ventes du réseau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29E9E34-7265-FF5E-B903-EFA2CB5C3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6501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Méthodologies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832C3DB7-79BD-4BD1-A1E6-9402E7BBF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847512"/>
              </p:ext>
            </p:extLst>
          </p:nvPr>
        </p:nvGraphicFramePr>
        <p:xfrm>
          <a:off x="521415" y="1443617"/>
          <a:ext cx="8316000" cy="34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29E9E34-7265-FF5E-B903-EFA2CB5C3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431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BB028BD-892D-BC40-A47E-4B247C2B41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0BB028BD-892D-BC40-A47E-4B247C2B41C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7103423-B970-F94C-86D9-0876B85807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07103423-B970-F94C-86D9-0876B85807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2D4F2F1-2C41-FA45-8C4E-D178452AB3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dgm id="{A2D4F2F1-2C41-FA45-8C4E-D178452AB3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CAB2F22-DA68-E742-B9B8-1672391D5C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graphicEl>
                                              <a:dgm id="{9CAB2F22-DA68-E742-B9B8-1672391D5C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6AF56D4-D098-0A43-B629-F14DB98EA8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graphicEl>
                                              <a:dgm id="{F6AF56D4-D098-0A43-B629-F14DB98EA8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1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Le jeu de données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29E9E34-7265-FF5E-B903-EFA2CB5C3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7E55DE0D-30BB-525F-47D7-1F958A8D32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1137244"/>
              </p:ext>
            </p:extLst>
          </p:nvPr>
        </p:nvGraphicFramePr>
        <p:xfrm>
          <a:off x="653587" y="1473599"/>
          <a:ext cx="3918413" cy="3583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571AD4E8-D0A4-D33C-2A00-BF592532B205}"/>
              </a:ext>
            </a:extLst>
          </p:cNvPr>
          <p:cNvSpPr txBox="1"/>
          <p:nvPr/>
        </p:nvSpPr>
        <p:spPr>
          <a:xfrm>
            <a:off x="5008526" y="2895875"/>
            <a:ext cx="37382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Chargement des fichiers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Afficher les dimensions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Afficher les informations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Changement des colonnes</a:t>
            </a:r>
          </a:p>
        </p:txBody>
      </p:sp>
    </p:spTree>
    <p:extLst>
      <p:ext uri="{BB962C8B-B14F-4D97-AF65-F5344CB8AC3E}">
        <p14:creationId xmlns:p14="http://schemas.microsoft.com/office/powerpoint/2010/main" val="230320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9FFE912-5DF5-554F-B3BD-17C74DA585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89FFE912-5DF5-554F-B3BD-17C74DA585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2DD8751-075A-2A43-B80B-DDA3F79495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A2DD8751-075A-2A43-B80B-DDA3F79495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BF8B40A-F611-524B-B722-059C72865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9BF8B40A-F611-524B-B722-059C72865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12AF726-5DE1-1F44-B6C5-AEF86DA3C5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dgm id="{F12AF726-5DE1-1F44-B6C5-AEF86DA3C57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Analyse du CA par année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29E9E34-7265-FF5E-B903-EFA2CB5C3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877C1C7-4167-C0EC-FC56-62BC2986F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200"/>
            <a:ext cx="9021158" cy="217712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C1D2169-F09C-DF7B-3810-4F6EA4F05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42" y="3408701"/>
            <a:ext cx="8653605" cy="173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141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Analyse du CA par mois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29E9E34-7265-FF5E-B903-EFA2CB5C3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8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0B1FC81-83F3-D25B-8060-864CEF529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390199"/>
            <a:ext cx="9122451" cy="189984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E1B0E3B-D533-FD5E-E1E5-16F8FBAC9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965" y="3139618"/>
            <a:ext cx="8794377" cy="200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620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Analyse clients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29E9E34-7265-FF5E-B903-EFA2CB5C3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9</a:t>
            </a:fld>
            <a:endParaRPr lang="fr-FR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32745729-08E0-E7ED-C9C1-4B409D2DE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656038"/>
              </p:ext>
            </p:extLst>
          </p:nvPr>
        </p:nvGraphicFramePr>
        <p:xfrm>
          <a:off x="466165" y="2307989"/>
          <a:ext cx="8364072" cy="1706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024">
                  <a:extLst>
                    <a:ext uri="{9D8B030D-6E8A-4147-A177-3AD203B41FA5}">
                      <a16:colId xmlns:a16="http://schemas.microsoft.com/office/drawing/2014/main" val="2417410396"/>
                    </a:ext>
                  </a:extLst>
                </a:gridCol>
                <a:gridCol w="2788024">
                  <a:extLst>
                    <a:ext uri="{9D8B030D-6E8A-4147-A177-3AD203B41FA5}">
                      <a16:colId xmlns:a16="http://schemas.microsoft.com/office/drawing/2014/main" val="3467717446"/>
                    </a:ext>
                  </a:extLst>
                </a:gridCol>
                <a:gridCol w="2788024">
                  <a:extLst>
                    <a:ext uri="{9D8B030D-6E8A-4147-A177-3AD203B41FA5}">
                      <a16:colId xmlns:a16="http://schemas.microsoft.com/office/drawing/2014/main" val="627865541"/>
                    </a:ext>
                  </a:extLst>
                </a:gridCol>
              </a:tblGrid>
              <a:tr h="34122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Type de magasins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Nombre de clients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341724"/>
                  </a:ext>
                </a:extLst>
              </a:tr>
              <a:tr h="34122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367613"/>
                  </a:ext>
                </a:extLst>
              </a:tr>
              <a:tr h="34122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892297"/>
                  </a:ext>
                </a:extLst>
              </a:tr>
              <a:tr h="34122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512910"/>
                  </a:ext>
                </a:extLst>
              </a:tr>
              <a:tr h="34122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553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931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Répartition par types de magasins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29E9E34-7265-FF5E-B903-EFA2CB5C3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F4D86C8-A375-B166-8DEA-9FDDFE4E0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390200"/>
            <a:ext cx="2994212" cy="37533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F6D15DB-C007-FE73-4227-0F20DF9522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4214" y="1388764"/>
            <a:ext cx="3155576" cy="375617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B9D6740-7DB2-51A8-820C-023D19A6F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9790" y="1431438"/>
            <a:ext cx="2626657" cy="371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097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Matrice de corrélation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29E9E34-7265-FF5E-B903-EFA2CB5C3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E7D6726-AA40-D953-2F80-EFCDFF06B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916" y="1398591"/>
            <a:ext cx="5156168" cy="374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150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Détermination du nombre de clusters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29E9E34-7265-FF5E-B903-EFA2CB5C3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12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EE22381-9C4B-9E64-5928-2D04FA96D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3843"/>
            <a:ext cx="4572000" cy="361965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ABE2525-58AD-6C2A-D8D6-C0925B5B375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9"/>
          <a:stretch/>
        </p:blipFill>
        <p:spPr>
          <a:xfrm>
            <a:off x="4571999" y="1593282"/>
            <a:ext cx="4127619" cy="34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696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Moyenne mobile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29E9E34-7265-FF5E-B903-EFA2CB5C3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13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070BA4D-F7F2-2C4C-BC57-050B534CE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390200"/>
            <a:ext cx="9143999" cy="205375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55269DF-A559-82B3-9A7F-4B2760551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43955"/>
            <a:ext cx="9143998" cy="169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405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Moyenne mobile vs SARIMA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29E9E34-7265-FF5E-B903-EFA2CB5C3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14</a:t>
            </a:fld>
            <a:endParaRPr lang="fr-FR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9143644A-A0F7-60E3-CE57-8D1BDD48C3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408448"/>
              </p:ext>
            </p:extLst>
          </p:nvPr>
        </p:nvGraphicFramePr>
        <p:xfrm>
          <a:off x="122842" y="1463392"/>
          <a:ext cx="8636598" cy="35992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866">
                  <a:extLst>
                    <a:ext uri="{9D8B030D-6E8A-4147-A177-3AD203B41FA5}">
                      <a16:colId xmlns:a16="http://schemas.microsoft.com/office/drawing/2014/main" val="2313302078"/>
                    </a:ext>
                  </a:extLst>
                </a:gridCol>
                <a:gridCol w="2878866">
                  <a:extLst>
                    <a:ext uri="{9D8B030D-6E8A-4147-A177-3AD203B41FA5}">
                      <a16:colId xmlns:a16="http://schemas.microsoft.com/office/drawing/2014/main" val="3190617024"/>
                    </a:ext>
                  </a:extLst>
                </a:gridCol>
                <a:gridCol w="2878866">
                  <a:extLst>
                    <a:ext uri="{9D8B030D-6E8A-4147-A177-3AD203B41FA5}">
                      <a16:colId xmlns:a16="http://schemas.microsoft.com/office/drawing/2014/main" val="820308229"/>
                    </a:ext>
                  </a:extLst>
                </a:gridCol>
              </a:tblGrid>
              <a:tr h="30527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Critères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Moyenne Mobile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SARIMA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6775308"/>
                  </a:ext>
                </a:extLst>
              </a:tr>
              <a:tr h="69144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Principe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Lissage des données sur une </a:t>
                      </a:r>
                      <a:r>
                        <a:rPr lang="fr-FR" b="0" u="none" dirty="0"/>
                        <a:t>période donnée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Modélisation des relations entre données </a:t>
                      </a:r>
                      <a:r>
                        <a:rPr lang="fr-FR" b="1" u="sng" dirty="0"/>
                        <a:t>passées, tendances et saisonnalité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72264"/>
                  </a:ext>
                </a:extLst>
              </a:tr>
              <a:tr h="489774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Saisonnalité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Ignoré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Intègre les effets </a:t>
                      </a:r>
                      <a:r>
                        <a:rPr lang="fr-FR" b="1" u="sng" dirty="0"/>
                        <a:t>saisonniers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394564"/>
                  </a:ext>
                </a:extLst>
              </a:tr>
              <a:tr h="489774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Complexité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Simple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Avancé (</a:t>
                      </a:r>
                      <a:r>
                        <a:rPr lang="fr-FR" b="1" u="sng" dirty="0"/>
                        <a:t>nécessitant des paramétrages</a:t>
                      </a:r>
                      <a:r>
                        <a:rPr lang="fr-FR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6514"/>
                  </a:ext>
                </a:extLst>
              </a:tr>
              <a:tr h="489774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Prévisions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Pas directement adapté pour prévoir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Prédictions robustes pour des séries temporelles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181808"/>
                  </a:ext>
                </a:extLst>
              </a:tr>
              <a:tr h="489774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Adaptation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Peu adapté aux données complexes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Convient aux séries temporelles avec </a:t>
                      </a:r>
                      <a:r>
                        <a:rPr lang="fr-FR" b="1" u="sng" dirty="0"/>
                        <a:t>tendances et saisonnalités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740809"/>
                  </a:ext>
                </a:extLst>
              </a:tr>
              <a:tr h="30527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Exemple d’usage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Détecter des tendances à court terme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Prédictions de ventes ou de production saisonnière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538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430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SARIMA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29E9E34-7265-FF5E-B903-EFA2CB5C3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15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B1726EA-CC1C-5FC3-0D9A-DD6FD0449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523" y="1604158"/>
            <a:ext cx="5165311" cy="325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096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Recommandations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29E9E34-7265-FF5E-B903-EFA2CB5C3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16</a:t>
            </a:fld>
            <a:endParaRPr lang="fr-FR"/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D1C7D2BD-5A7C-A96A-30E0-F1BE75DA30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2860896"/>
              </p:ext>
            </p:extLst>
          </p:nvPr>
        </p:nvGraphicFramePr>
        <p:xfrm>
          <a:off x="122842" y="1727450"/>
          <a:ext cx="8724275" cy="307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1261A70D-7AF5-C24D-8394-F501397FC2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graphicEl>
                                              <a:dgm id="{1261A70D-7AF5-C24D-8394-F501397FC2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699BA1E-BDDC-EF4F-81C9-7142E59EA1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graphicEl>
                                              <a:dgm id="{C699BA1E-BDDC-EF4F-81C9-7142E59EA1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8CBA361-3345-B24A-AE0A-F703B86C4D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graphicEl>
                                              <a:dgm id="{C8CBA361-3345-B24A-AE0A-F703B86C4D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CAF040D-9D73-F842-8B99-9368ABD917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graphicEl>
                                              <a:dgm id="{ECAF040D-9D73-F842-8B99-9368ABD917D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15315</TotalTime>
  <Words>296</Words>
  <Application>Microsoft Macintosh PowerPoint</Application>
  <PresentationFormat>Affichage à l'écran (16:9)</PresentationFormat>
  <Paragraphs>102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Wingdings</vt:lpstr>
      <vt:lpstr>Montserrat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JEAN PHILIPPE Benedy</cp:lastModifiedBy>
  <cp:revision>43</cp:revision>
  <dcterms:modified xsi:type="dcterms:W3CDTF">2025-01-05T13:16:25Z</dcterms:modified>
</cp:coreProperties>
</file>