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7" r:id="rId5"/>
    <p:sldId id="271" r:id="rId6"/>
    <p:sldId id="258" r:id="rId7"/>
    <p:sldId id="266" r:id="rId8"/>
    <p:sldId id="259" r:id="rId9"/>
    <p:sldId id="260" r:id="rId10"/>
    <p:sldId id="268" r:id="rId11"/>
    <p:sldId id="269" r:id="rId12"/>
    <p:sldId id="270" r:id="rId13"/>
    <p:sldId id="26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rzrqtyc6NFMljW0vJjHtN/3s2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B276D6-7DA8-486D-9897-4FA2B4CCD1D1}">
  <a:tblStyle styleId="{D8B276D6-7DA8-486D-9897-4FA2B4CCD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1"/>
    <p:restoredTop sz="94768"/>
  </p:normalViewPr>
  <p:slideViewPr>
    <p:cSldViewPr snapToGrid="0">
      <p:cViewPr>
        <p:scale>
          <a:sx n="154" d="100"/>
          <a:sy n="154" d="100"/>
        </p:scale>
        <p:origin x="528" y="14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ben/Desktop/Data/OC/Projet%203/Projet%20livrable/Final/Jean-Philippe_Be&#769;ne&#769;dy_2_Tableau_de_bord_Re&#769;partition_H-F_06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ben/Desktop/Data/OC/Projet%203/Projet%20livrable/Final/Jean-Philippe_Be&#769;ne&#769;dy_2_Tableau_de_bord_Re&#769;partition_H-F_06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ben/Desktop/Data/OC/Projet%203/Projet%20livrable/Final/Jean-Philippe_Be&#769;ne&#769;dy_4_Tableau_bord_indicateurs_transport_06202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ben/Desktop/Data/OC/Projet%203/Projet%20livrable/Final/Jean-Philippe_Be&#769;ne&#769;dy_4_Tableau_bord_indicateurs_transport_06202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ben/Desktop/Data/OC/Projet%203/Projet%20livrable/Final/Jean-Philippe_Be&#769;ne&#769;dy_4_Tableau_bord_indicateurs_transport_06202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Répartition</a:t>
            </a:r>
            <a:r>
              <a:rPr lang="en-US" baseline="0"/>
              <a:t> hommes femmes</a:t>
            </a: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Homme_Femmes!$A$31</c:f>
              <c:strCache>
                <c:ptCount val="1"/>
                <c:pt idx="0">
                  <c:v>Total 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28-5E4F-92B3-E52E341B0702}"/>
              </c:ext>
            </c:extLst>
          </c:dPt>
          <c:dPt>
            <c:idx val="1"/>
            <c:bubble3D val="0"/>
            <c:spPr>
              <a:solidFill>
                <a:srgbClr val="FF4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28-5E4F-92B3-E52E341B070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Homme_Femmes!$B$30:$C$30</c:f>
              <c:strCache>
                <c:ptCount val="2"/>
                <c:pt idx="0">
                  <c:v>Hommes</c:v>
                </c:pt>
                <c:pt idx="1">
                  <c:v>Femmes</c:v>
                </c:pt>
              </c:strCache>
            </c:strRef>
          </c:cat>
          <c:val>
            <c:numRef>
              <c:f>Homme_Femmes!$B$31:$C$31</c:f>
              <c:numCache>
                <c:formatCode>General</c:formatCode>
                <c:ptCount val="2"/>
                <c:pt idx="0">
                  <c:v>28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28-5E4F-92B3-E52E341B07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Répartition</a:t>
            </a:r>
            <a:r>
              <a:rPr lang="fr-FR" baseline="0"/>
              <a:t> hommes femmes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Homme_Femmes!$F$3</c:f>
              <c:strCache>
                <c:ptCount val="1"/>
                <c:pt idx="0">
                  <c:v>Homme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Homme_Femmes!$E$4:$E$10</c:f>
              <c:strCache>
                <c:ptCount val="7"/>
                <c:pt idx="0">
                  <c:v>1960-1965</c:v>
                </c:pt>
                <c:pt idx="1">
                  <c:v>1966-1971</c:v>
                </c:pt>
                <c:pt idx="2">
                  <c:v>1972-1977</c:v>
                </c:pt>
                <c:pt idx="3">
                  <c:v>1978-1983</c:v>
                </c:pt>
                <c:pt idx="4">
                  <c:v>1984-1989</c:v>
                </c:pt>
                <c:pt idx="5">
                  <c:v>1990-1995</c:v>
                </c:pt>
                <c:pt idx="6">
                  <c:v>1996-2001</c:v>
                </c:pt>
              </c:strCache>
            </c:strRef>
          </c:cat>
          <c:val>
            <c:numRef>
              <c:f>Homme_Femmes!$F$4:$F$10</c:f>
              <c:numCache>
                <c:formatCode>General</c:formatCode>
                <c:ptCount val="7"/>
                <c:pt idx="0">
                  <c:v>1</c:v>
                </c:pt>
                <c:pt idx="1">
                  <c:v>6</c:v>
                </c:pt>
                <c:pt idx="2">
                  <c:v>6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E5-734E-9FA5-48F7BCBF3475}"/>
            </c:ext>
          </c:extLst>
        </c:ser>
        <c:ser>
          <c:idx val="1"/>
          <c:order val="1"/>
          <c:tx>
            <c:strRef>
              <c:f>Homme_Femmes!$G$3</c:f>
              <c:strCache>
                <c:ptCount val="1"/>
                <c:pt idx="0">
                  <c:v>Femme</c:v>
                </c:pt>
              </c:strCache>
            </c:strRef>
          </c:tx>
          <c:spPr>
            <a:solidFill>
              <a:srgbClr val="FF40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Homme_Femmes!$E$4:$E$10</c:f>
              <c:strCache>
                <c:ptCount val="7"/>
                <c:pt idx="0">
                  <c:v>1960-1965</c:v>
                </c:pt>
                <c:pt idx="1">
                  <c:v>1966-1971</c:v>
                </c:pt>
                <c:pt idx="2">
                  <c:v>1972-1977</c:v>
                </c:pt>
                <c:pt idx="3">
                  <c:v>1978-1983</c:v>
                </c:pt>
                <c:pt idx="4">
                  <c:v>1984-1989</c:v>
                </c:pt>
                <c:pt idx="5">
                  <c:v>1990-1995</c:v>
                </c:pt>
                <c:pt idx="6">
                  <c:v>1996-2001</c:v>
                </c:pt>
              </c:strCache>
            </c:strRef>
          </c:cat>
          <c:val>
            <c:numRef>
              <c:f>Homme_Femmes!$G$4:$G$10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5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E5-734E-9FA5-48F7BCBF3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23727327"/>
        <c:axId val="1574741119"/>
      </c:barChart>
      <c:catAx>
        <c:axId val="15237273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574741119"/>
        <c:crosses val="autoZero"/>
        <c:auto val="1"/>
        <c:lblAlgn val="ctr"/>
        <c:lblOffset val="100"/>
        <c:noMultiLvlLbl val="0"/>
      </c:catAx>
      <c:valAx>
        <c:axId val="1574741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Nombre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523727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Poids</a:t>
            </a:r>
            <a:r>
              <a:rPr lang="fr-FR" baseline="0"/>
              <a:t> moyen (Kg/OT)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'Indicateurs transport'!$O$5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'Indicateurs transport'!$N$6:$N$14</c:f>
              <c:strCache>
                <c:ptCount val="9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aout</c:v>
                </c:pt>
                <c:pt idx="8">
                  <c:v>septembre</c:v>
                </c:pt>
              </c:strCache>
            </c:strRef>
          </c:cat>
          <c:val>
            <c:numRef>
              <c:f>'Indicateurs transport'!$O$6:$O$14</c:f>
              <c:numCache>
                <c:formatCode>#,##0</c:formatCode>
                <c:ptCount val="9"/>
                <c:pt idx="0">
                  <c:v>582.35483870967744</c:v>
                </c:pt>
                <c:pt idx="1">
                  <c:v>290.42857142857144</c:v>
                </c:pt>
                <c:pt idx="2">
                  <c:v>278.125</c:v>
                </c:pt>
                <c:pt idx="3">
                  <c:v>285.67307692307691</c:v>
                </c:pt>
                <c:pt idx="4">
                  <c:v>278.7962962962963</c:v>
                </c:pt>
                <c:pt idx="5">
                  <c:v>325.08474576271186</c:v>
                </c:pt>
                <c:pt idx="6">
                  <c:v>296.8</c:v>
                </c:pt>
                <c:pt idx="7">
                  <c:v>367.81818181818181</c:v>
                </c:pt>
                <c:pt idx="8">
                  <c:v>381.77083333333331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FE-7F45-9CAB-44D2EE8FA2E3}"/>
            </c:ext>
          </c:extLst>
        </c:ser>
        <c:ser>
          <c:idx val="1"/>
          <c:order val="1"/>
          <c:tx>
            <c:strRef>
              <c:f>'Indicateurs transport'!$P$5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'Indicateurs transport'!$N$6:$N$14</c:f>
              <c:strCache>
                <c:ptCount val="9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aout</c:v>
                </c:pt>
                <c:pt idx="8">
                  <c:v>septembre</c:v>
                </c:pt>
              </c:strCache>
            </c:strRef>
          </c:cat>
          <c:val>
            <c:numRef>
              <c:f>'Indicateurs transport'!$P$6:$P$14</c:f>
              <c:numCache>
                <c:formatCode>#,##0</c:formatCode>
                <c:ptCount val="9"/>
                <c:pt idx="0">
                  <c:v>328.65625</c:v>
                </c:pt>
                <c:pt idx="1">
                  <c:v>258.04347826086956</c:v>
                </c:pt>
                <c:pt idx="2">
                  <c:v>280.98581560283685</c:v>
                </c:pt>
                <c:pt idx="3">
                  <c:v>358.5078125</c:v>
                </c:pt>
                <c:pt idx="4">
                  <c:v>327.18620689655171</c:v>
                </c:pt>
                <c:pt idx="5">
                  <c:v>329.03592814371257</c:v>
                </c:pt>
                <c:pt idx="6">
                  <c:v>294.70338983050846</c:v>
                </c:pt>
                <c:pt idx="7">
                  <c:v>362.1</c:v>
                </c:pt>
                <c:pt idx="8">
                  <c:v>369.84905660377359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FE-7F45-9CAB-44D2EE8FA2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0195167"/>
        <c:axId val="1516323615"/>
      </c:barChart>
      <c:catAx>
        <c:axId val="6601951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Mois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516323615"/>
        <c:crosses val="autoZero"/>
        <c:auto val="1"/>
        <c:lblAlgn val="ctr"/>
        <c:lblOffset val="100"/>
        <c:noMultiLvlLbl val="0"/>
      </c:catAx>
      <c:valAx>
        <c:axId val="1516323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Poids</a:t>
                </a:r>
                <a:r>
                  <a:rPr lang="fr-FR" baseline="0"/>
                  <a:t> moyen (€)</a:t>
                </a:r>
                <a:endParaRPr lang="fr-F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60195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KM</a:t>
            </a:r>
            <a:r>
              <a:rPr lang="fr-FR" baseline="0"/>
              <a:t> moyen (Km/OT)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'Indicateurs transport'!$Y$5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'Indicateurs transport'!$X$6:$X$14</c:f>
              <c:strCache>
                <c:ptCount val="9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aout</c:v>
                </c:pt>
                <c:pt idx="8">
                  <c:v>septembre</c:v>
                </c:pt>
              </c:strCache>
            </c:strRef>
          </c:cat>
          <c:val>
            <c:numRef>
              <c:f>'Indicateurs transport'!$Y$6:$Y$14</c:f>
              <c:numCache>
                <c:formatCode>#,##0</c:formatCode>
                <c:ptCount val="9"/>
                <c:pt idx="0">
                  <c:v>404.80596774193549</c:v>
                </c:pt>
                <c:pt idx="1">
                  <c:v>385.51316666666673</c:v>
                </c:pt>
                <c:pt idx="2">
                  <c:v>312.532359375</c:v>
                </c:pt>
                <c:pt idx="3">
                  <c:v>339.20201923076934</c:v>
                </c:pt>
                <c:pt idx="4">
                  <c:v>303.06572222222218</c:v>
                </c:pt>
                <c:pt idx="5">
                  <c:v>295.78247457627106</c:v>
                </c:pt>
                <c:pt idx="6">
                  <c:v>340.72581999999983</c:v>
                </c:pt>
                <c:pt idx="7">
                  <c:v>333.19687272727276</c:v>
                </c:pt>
                <c:pt idx="8">
                  <c:v>303.73462499999988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C-494C-BC8F-BACE0C4EFBA7}"/>
            </c:ext>
          </c:extLst>
        </c:ser>
        <c:ser>
          <c:idx val="1"/>
          <c:order val="1"/>
          <c:tx>
            <c:strRef>
              <c:f>'Indicateurs transport'!$Z$5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'Indicateurs transport'!$X$6:$X$14</c:f>
              <c:strCache>
                <c:ptCount val="9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aout</c:v>
                </c:pt>
                <c:pt idx="8">
                  <c:v>septembre</c:v>
                </c:pt>
              </c:strCache>
            </c:strRef>
          </c:cat>
          <c:val>
            <c:numRef>
              <c:f>'Indicateurs transport'!$Z$6:$Z$14</c:f>
              <c:numCache>
                <c:formatCode>#,##0</c:formatCode>
                <c:ptCount val="9"/>
                <c:pt idx="0">
                  <c:v>360.0684374999999</c:v>
                </c:pt>
                <c:pt idx="1">
                  <c:v>370.23679710144927</c:v>
                </c:pt>
                <c:pt idx="2">
                  <c:v>362.80092198581565</c:v>
                </c:pt>
                <c:pt idx="3">
                  <c:v>341.74646874999985</c:v>
                </c:pt>
                <c:pt idx="4">
                  <c:v>347.74674482758627</c:v>
                </c:pt>
                <c:pt idx="5">
                  <c:v>366.62477844311377</c:v>
                </c:pt>
                <c:pt idx="6">
                  <c:v>382.82677966101704</c:v>
                </c:pt>
                <c:pt idx="7">
                  <c:v>382.6907916666666</c:v>
                </c:pt>
                <c:pt idx="8">
                  <c:v>370.35888679245272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C-494C-BC8F-BACE0C4EF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1086831"/>
        <c:axId val="661111695"/>
      </c:barChart>
      <c:catAx>
        <c:axId val="6610868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Mois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61111695"/>
        <c:crosses val="autoZero"/>
        <c:auto val="1"/>
        <c:lblAlgn val="ctr"/>
        <c:lblOffset val="100"/>
        <c:noMultiLvlLbl val="0"/>
      </c:catAx>
      <c:valAx>
        <c:axId val="661111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Km moyen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6108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Prix</a:t>
            </a:r>
            <a:r>
              <a:rPr lang="fr-FR" baseline="0"/>
              <a:t> moyen transport (€/OT)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'Indicateurs transport'!$J$23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'Indicateurs transport'!$I$24:$I$32</c:f>
              <c:strCache>
                <c:ptCount val="9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aout</c:v>
                </c:pt>
                <c:pt idx="8">
                  <c:v>septembre</c:v>
                </c:pt>
              </c:strCache>
            </c:strRef>
          </c:cat>
          <c:val>
            <c:numRef>
              <c:f>'Indicateurs transport'!$J$24:$J$32</c:f>
              <c:numCache>
                <c:formatCode>#,##0</c:formatCode>
                <c:ptCount val="9"/>
                <c:pt idx="0">
                  <c:v>284.64516129032256</c:v>
                </c:pt>
                <c:pt idx="1">
                  <c:v>152.82142857142858</c:v>
                </c:pt>
                <c:pt idx="2">
                  <c:v>146.75328124999999</c:v>
                </c:pt>
                <c:pt idx="3">
                  <c:v>158.06807692307694</c:v>
                </c:pt>
                <c:pt idx="4">
                  <c:v>161.8772222222222</c:v>
                </c:pt>
                <c:pt idx="5">
                  <c:v>170.16305084745761</c:v>
                </c:pt>
                <c:pt idx="6">
                  <c:v>158</c:v>
                </c:pt>
                <c:pt idx="7">
                  <c:v>154.44945454545456</c:v>
                </c:pt>
                <c:pt idx="8">
                  <c:v>160.20833333333334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71-C240-87F3-83B36637380A}"/>
            </c:ext>
          </c:extLst>
        </c:ser>
        <c:ser>
          <c:idx val="1"/>
          <c:order val="1"/>
          <c:tx>
            <c:strRef>
              <c:f>'Indicateurs transport'!$K$23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'Indicateurs transport'!$I$24:$I$32</c:f>
              <c:strCache>
                <c:ptCount val="9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aout</c:v>
                </c:pt>
                <c:pt idx="8">
                  <c:v>septembre</c:v>
                </c:pt>
              </c:strCache>
            </c:strRef>
          </c:cat>
          <c:val>
            <c:numRef>
              <c:f>'Indicateurs transport'!$K$24:$K$32</c:f>
              <c:numCache>
                <c:formatCode>#,##0</c:formatCode>
                <c:ptCount val="9"/>
                <c:pt idx="0">
                  <c:v>157.71875</c:v>
                </c:pt>
                <c:pt idx="1">
                  <c:v>163.14492753623188</c:v>
                </c:pt>
                <c:pt idx="2">
                  <c:v>179.70709219858153</c:v>
                </c:pt>
                <c:pt idx="3">
                  <c:v>187.38749999999999</c:v>
                </c:pt>
                <c:pt idx="4">
                  <c:v>195.17655172413791</c:v>
                </c:pt>
                <c:pt idx="5">
                  <c:v>220.47065868263473</c:v>
                </c:pt>
                <c:pt idx="6">
                  <c:v>225.99067796610169</c:v>
                </c:pt>
                <c:pt idx="7">
                  <c:v>216.18333333333334</c:v>
                </c:pt>
                <c:pt idx="8">
                  <c:v>211.98113207547169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71-C240-87F3-83B366373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7550399"/>
        <c:axId val="647633359"/>
      </c:barChart>
      <c:catAx>
        <c:axId val="6475503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Mois</a:t>
                </a:r>
              </a:p>
            </c:rich>
          </c:tx>
          <c:layout>
            <c:manualLayout>
              <c:xMode val="edge"/>
              <c:yMode val="edge"/>
              <c:x val="0.51145527809506464"/>
              <c:y val="0.844816193875538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47633359"/>
        <c:crosses val="autoZero"/>
        <c:auto val="1"/>
        <c:lblAlgn val="ctr"/>
        <c:lblOffset val="100"/>
        <c:noMultiLvlLbl val="0"/>
      </c:catAx>
      <c:valAx>
        <c:axId val="647633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Prix</a:t>
                </a:r>
                <a:r>
                  <a:rPr lang="fr-FR" baseline="0"/>
                  <a:t> moyen (€)</a:t>
                </a:r>
                <a:endParaRPr lang="fr-FR"/>
              </a:p>
            </c:rich>
          </c:tx>
          <c:layout>
            <c:manualLayout>
              <c:xMode val="edge"/>
              <c:yMode val="edge"/>
              <c:x val="1.5752800114486886E-2"/>
              <c:y val="0.349352170154735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47550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6479598030713937"/>
          <c:y val="0.9215872864957555"/>
          <c:w val="0.13735743987229068"/>
          <c:h val="5.69782530239607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Introduction-sommaire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3790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7644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1365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116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Construction du </a:t>
            </a:r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pdf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 avec les 3 points importants + un rappel sur le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Lire les chiffre pour « augmentation conséquente de l’activité » (+ 571 OT, +223k km parcourus, coût transport +171%)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5219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9374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4006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644a70ef9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644a70ef9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Parité non respecté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« </a:t>
            </a:r>
            <a:r>
              <a:rPr lang="fr-FR" b="0" i="0" u="none" strike="noStrike" dirty="0">
                <a:solidFill>
                  <a:srgbClr val="271A38"/>
                </a:solidFill>
                <a:effectLst/>
                <a:latin typeface="Inter"/>
              </a:rPr>
              <a:t>L’entreprise souhaite également optimiser les coûts de transport pour fournir des produits à un prix plus compétitif et son empreinte carbone pour répondre aux critères de responsabilité sociale et environnementale 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4751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11/06/2024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Bénédy</a:t>
            </a:r>
            <a:r>
              <a:rPr lang="fr" sz="28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JEAN-PHILIPPE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B800C7-350D-39D4-FAB8-61B0A30D4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595745"/>
            <a:ext cx="8520600" cy="2052600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Les couturiers inclusifs</a:t>
            </a:r>
            <a:b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>
              <a:effectLst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00000000-0008-0000-0000-000002000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07711" y="4513110"/>
            <a:ext cx="842963" cy="6303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Sommaire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Jeu de données et son traitement</a:t>
            </a:r>
          </a:p>
          <a:p>
            <a:pPr>
              <a:buFont typeface="Wingdings" pitchFamily="2" charset="2"/>
              <a:buChar char="Ø"/>
            </a:pPr>
            <a:r>
              <a:rPr lang="fr-FR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 de bord RH et ses graphiques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P</a:t>
            </a:r>
            <a:r>
              <a:rPr lang="fr-FR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rocédure de bonnes pratiques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transports et ses graphiques</a:t>
            </a:r>
          </a:p>
          <a:p>
            <a:pPr>
              <a:buFont typeface="Wingdings" pitchFamily="2" charset="2"/>
              <a:buChar char="Ø"/>
            </a:pPr>
            <a:r>
              <a:rPr lang="fr-FR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Jeu de données brut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A95F48-2D4E-92E5-7223-15D7EC12F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2" y="1528600"/>
            <a:ext cx="5782492" cy="341640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FD93E476-5B3B-D5B7-897A-4D680DE77198}"/>
              </a:ext>
            </a:extLst>
          </p:cNvPr>
          <p:cNvSpPr txBox="1"/>
          <p:nvPr/>
        </p:nvSpPr>
        <p:spPr>
          <a:xfrm>
            <a:off x="6261463" y="1689463"/>
            <a:ext cx="23252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fr-FR" dirty="0"/>
              <a:t>Cellules vides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fr-FR" dirty="0"/>
              <a:t>Format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fr-FR" dirty="0"/>
              <a:t>Données personnelles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fr-FR" dirty="0"/>
              <a:t>Numéro de téléphone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fr-FR" dirty="0"/>
              <a:t>Date de saisie (2020)</a:t>
            </a:r>
          </a:p>
        </p:txBody>
      </p:sp>
    </p:spTree>
    <p:extLst>
      <p:ext uri="{BB962C8B-B14F-4D97-AF65-F5344CB8AC3E}">
        <p14:creationId xmlns:p14="http://schemas.microsoft.com/office/powerpoint/2010/main" val="98404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Jeu de données nettoyé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AC5DBE-EBB7-397A-8D93-C778376C1332}"/>
              </a:ext>
            </a:extLst>
          </p:cNvPr>
          <p:cNvSpPr txBox="1"/>
          <p:nvPr/>
        </p:nvSpPr>
        <p:spPr>
          <a:xfrm>
            <a:off x="7123611" y="1715129"/>
            <a:ext cx="2020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fr-FR" dirty="0"/>
              <a:t>Suppression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/>
              <a:t>Modification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104729-1F2B-9FEF-87B4-126D3DC97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3004"/>
            <a:ext cx="7123611" cy="318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4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Tableau de bord RH (1)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3C73D4-DB5E-D254-8FA0-E11669415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0" y="1624395"/>
            <a:ext cx="5956300" cy="25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7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66F111-EBAD-6319-606B-F7C37B46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91" y="4458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RH (2)</a:t>
            </a:r>
            <a:endParaRPr lang="fr-FR" dirty="0">
              <a:effectLst/>
            </a:endParaRPr>
          </a:p>
          <a:p>
            <a:endParaRPr lang="fr-FR" dirty="0"/>
          </a:p>
        </p:txBody>
      </p:sp>
      <p:graphicFrame>
        <p:nvGraphicFramePr>
          <p:cNvPr id="8" name="Graphique 7" descr="Graphique en camembert/secteur qui montre la répartition entre les hommes et les femmes entre 1964 et 1999. Il y a 46% de femmes (24) pour 54% d'hommes (28)">
            <a:extLst>
              <a:ext uri="{FF2B5EF4-FFF2-40B4-BE49-F238E27FC236}">
                <a16:creationId xmlns:a16="http://schemas.microsoft.com/office/drawing/2014/main" id="{52A40016-222B-D71B-082B-982F4B365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0924446"/>
              </p:ext>
            </p:extLst>
          </p:nvPr>
        </p:nvGraphicFramePr>
        <p:xfrm>
          <a:off x="1929797" y="1464400"/>
          <a:ext cx="5284405" cy="3614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66F111-EBAD-6319-606B-F7C37B46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91" y="4458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RH (3) </a:t>
            </a:r>
            <a:endParaRPr lang="fr-FR" dirty="0">
              <a:effectLst/>
            </a:endParaRPr>
          </a:p>
          <a:p>
            <a:endParaRPr lang="fr-FR" dirty="0"/>
          </a:p>
        </p:txBody>
      </p:sp>
      <p:graphicFrame>
        <p:nvGraphicFramePr>
          <p:cNvPr id="3" name="Graphique 2" descr="Histogramme montrant la répartition entre les hommes et les femmes par tranche de 5 années. Les seules tranches où il y a eu plus de femmes que d'hommes sont les tranches (1978-1983 et 1996-2001)">
            <a:extLst>
              <a:ext uri="{FF2B5EF4-FFF2-40B4-BE49-F238E27FC236}">
                <a16:creationId xmlns:a16="http://schemas.microsoft.com/office/drawing/2014/main" id="{C490FC4D-D113-392B-3020-25CCE67B0E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4874216"/>
              </p:ext>
            </p:extLst>
          </p:nvPr>
        </p:nvGraphicFramePr>
        <p:xfrm>
          <a:off x="97902" y="1836050"/>
          <a:ext cx="8689047" cy="2711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6644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BBBF91-FF9E-793B-53A7-9C1101E83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4458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Procédure de bonnes pratiques</a:t>
            </a:r>
            <a:endParaRPr lang="fr-FR" dirty="0">
              <a:effectLst/>
            </a:endParaRPr>
          </a:p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A4946FA-58F5-3549-769F-ECA675EB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488" y="1390200"/>
            <a:ext cx="8520600" cy="3416400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1) Le processus de collecte de données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	a. RGPD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	b. Les objectifs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c. La préparation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d. La méthode de collecte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	e. Documentation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2)  L’exploration des données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a. Préparation à l’exploration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	b. Outils d’analyse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3)  Le nettoyage des données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a. Identification des anomalies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b. Corriger les anomalies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c. Standardiser le processus de nettoyage 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	d. Validation des données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	e. Documentation </a:t>
            </a:r>
          </a:p>
          <a:p>
            <a:pPr>
              <a:buFont typeface="+mj-lt"/>
              <a:buAutoNum type="arabicPeriod"/>
            </a:pP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ECFB98-3030-466E-451A-33A62F27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83" y="4710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</a:t>
            </a:r>
            <a:endParaRPr lang="fr-FR" dirty="0">
              <a:effectLst/>
            </a:endParaRPr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035A0AB-66A3-CF53-6DF4-69ECA040B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32" y="1736453"/>
            <a:ext cx="8622925" cy="25568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ECFB98-3030-466E-451A-33A62F27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83" y="4710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– Poids moyen</a:t>
            </a:r>
            <a:endParaRPr lang="fr-FR" dirty="0">
              <a:effectLst/>
            </a:endParaRPr>
          </a:p>
          <a:p>
            <a:endParaRPr lang="fr-FR" dirty="0"/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40D21E20-BBDC-DE4A-97B6-5CCFAA5319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334538"/>
              </p:ext>
            </p:extLst>
          </p:nvPr>
        </p:nvGraphicFramePr>
        <p:xfrm>
          <a:off x="0" y="1724298"/>
          <a:ext cx="6585599" cy="2782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10C10B1D-1656-B432-C3C5-0CDA617B7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99" y="1861249"/>
            <a:ext cx="969970" cy="239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9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ECFB98-3030-466E-451A-33A62F27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83" y="4710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– KM moyen</a:t>
            </a:r>
            <a:endParaRPr lang="fr-FR" dirty="0">
              <a:effectLst/>
            </a:endParaRPr>
          </a:p>
          <a:p>
            <a:endParaRPr lang="fr-FR" dirty="0"/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8AAB2DE0-509E-ED47-8BD3-A5E91A3664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355259"/>
              </p:ext>
            </p:extLst>
          </p:nvPr>
        </p:nvGraphicFramePr>
        <p:xfrm>
          <a:off x="461555" y="1514800"/>
          <a:ext cx="5748042" cy="3371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73D292B9-3C9C-E005-AB72-B67360307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96" y="1861250"/>
            <a:ext cx="1172495" cy="234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ECFB98-3030-466E-451A-33A62F27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83" y="471050"/>
            <a:ext cx="8520600" cy="572700"/>
          </a:xfrm>
        </p:spPr>
        <p:txBody>
          <a:bodyPr/>
          <a:lstStyle/>
          <a:p>
            <a:pPr rtl="0"/>
            <a:r>
              <a:rPr lang="fr-FR" sz="25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Tableau de bord – Prix moyen</a:t>
            </a:r>
            <a:endParaRPr lang="fr-FR" dirty="0">
              <a:effectLst/>
            </a:endParaRPr>
          </a:p>
          <a:p>
            <a:endParaRPr lang="fr-FR" dirty="0"/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1BF9C3EA-D1B3-B74D-8E11-D5850B3AD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219689"/>
              </p:ext>
            </p:extLst>
          </p:nvPr>
        </p:nvGraphicFramePr>
        <p:xfrm>
          <a:off x="350323" y="1566050"/>
          <a:ext cx="6285608" cy="3308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0AEFD266-D575-BB00-885B-6E4BA3D90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97" y="1739900"/>
            <a:ext cx="1223756" cy="24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7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644a70ef9a_0_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1644a70ef9a_0_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6CF902-42D4-C0C4-28A3-396D6ED6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423" y="471050"/>
            <a:ext cx="8520600" cy="572700"/>
          </a:xfrm>
        </p:spPr>
        <p:txBody>
          <a:bodyPr>
            <a:normAutofit/>
          </a:bodyPr>
          <a:lstStyle/>
          <a:p>
            <a:pPr rtl="0"/>
            <a:r>
              <a:rPr lang="fr-FR" sz="2400" b="0" i="0" dirty="0">
                <a:solidFill>
                  <a:srgbClr val="F3F3F3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Conclusion </a:t>
            </a:r>
            <a:endParaRPr lang="fr-FR" sz="2400" dirty="0">
              <a:effectLst/>
            </a:endParaRP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1DA3572-721D-1807-CC90-34A95BD81AD8}"/>
              </a:ext>
            </a:extLst>
          </p:cNvPr>
          <p:cNvSpPr txBox="1"/>
          <p:nvPr/>
        </p:nvSpPr>
        <p:spPr>
          <a:xfrm>
            <a:off x="652072" y="1753849"/>
            <a:ext cx="79747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endParaRPr lang="fr-FR" dirty="0"/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Répartition </a:t>
            </a:r>
            <a:r>
              <a:rPr lang="fr-FR" u="sng" dirty="0"/>
              <a:t>inégale</a:t>
            </a:r>
            <a:r>
              <a:rPr lang="fr-FR" dirty="0"/>
              <a:t> hommes-femmes 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u="sng" dirty="0"/>
              <a:t>Mise en place</a:t>
            </a:r>
            <a:r>
              <a:rPr lang="fr-FR" dirty="0"/>
              <a:t> d’une procédure de bonnes pratiques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u="sng" dirty="0"/>
              <a:t>Augmentation conséquente </a:t>
            </a:r>
            <a:r>
              <a:rPr lang="fr-FR" dirty="0"/>
              <a:t>de l’activité (tableau de bord)</a:t>
            </a:r>
          </a:p>
          <a:p>
            <a:pPr marL="285750" indent="-285750">
              <a:buFont typeface="Wingdings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57265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{0631A71B-156B-9245-844E-44C6FE7D33C1}tf16401378</Template>
  <TotalTime>28787</TotalTime>
  <Words>338</Words>
  <Application>Microsoft Macintosh PowerPoint</Application>
  <PresentationFormat>Affichage à l'écran (16:9)</PresentationFormat>
  <Paragraphs>57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Wingdings</vt:lpstr>
      <vt:lpstr>Arial</vt:lpstr>
      <vt:lpstr>Inter</vt:lpstr>
      <vt:lpstr>Simple Light</vt:lpstr>
      <vt:lpstr>Les couturiers inclusifs </vt:lpstr>
      <vt:lpstr>Sommaire </vt:lpstr>
      <vt:lpstr>Jeu de données brut </vt:lpstr>
      <vt:lpstr>Jeu de données nettoyé </vt:lpstr>
      <vt:lpstr>Tableau de bord RH (1) </vt:lpstr>
      <vt:lpstr>Tableau de bord RH (2) </vt:lpstr>
      <vt:lpstr>Tableau de bord RH (3)  </vt:lpstr>
      <vt:lpstr>Procédure de bonnes pratiques </vt:lpstr>
      <vt:lpstr>Tableau de bord  </vt:lpstr>
      <vt:lpstr>Tableau de bord – Poids moyen </vt:lpstr>
      <vt:lpstr>Tableau de bord – KM moyen </vt:lpstr>
      <vt:lpstr>Tableau de bord – Prix moyen </vt:lpstr>
      <vt:lpstr>Conclusion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87</cp:revision>
  <dcterms:modified xsi:type="dcterms:W3CDTF">2024-06-11T14:03:52Z</dcterms:modified>
</cp:coreProperties>
</file>